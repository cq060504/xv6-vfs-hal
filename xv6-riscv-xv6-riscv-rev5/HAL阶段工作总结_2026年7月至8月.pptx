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15"/>
    <p:sldId id="257" r:id="rId14"/>
    <p:sldId id="258" r:id="rId13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5"/>
    <p:sldId id="267" r:id="rId3"/>
  </p:sldIdLst>
  <p:sldSz cx="16256000" cy="9144000"/>
  <p:notesSz cx="9144000" cy="16256000"/>
  <p:embeddedFontLst>
    <p:embeddedFont>
      <p:font typeface="微软雅黑" panose="020B0503020204020204" charset="-122"/>
      <p:regular r:id="rId19"/>
    </p:embeddedFont>
    <p:embeddedFont>
      <p:font typeface="MiSans" pitchFamily="34" charset="-122"/>
      <p:regular r:id="rId20"/>
    </p:embeddedFont>
    <p:embeddedFont>
      <p:font typeface="MiSans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等线" panose="02010600030101010101" charset="-122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3.xml"/><Relationship Id="rId14" Type="http://schemas.openxmlformats.org/officeDocument/2006/relationships/slide" Target="slides/slide2.xml"/><Relationship Id="rId15" Type="http://schemas.openxmlformats.org/officeDocument/2006/relationships/slide" Target="slides/slid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2331720"/>
            <a:ext cx="2542032" cy="36576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761488"/>
            <a:ext cx="1397203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3A3A"/>
                </a:solidFill>
                <a:latin typeface="MiSans"/>
                <a:ea typeface="MiSans"/>
              </a:rPr>
              <a:t>xv6 双架构 HAL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84448"/>
            <a:ext cx="139720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B85450"/>
                </a:solidFill>
                <a:latin typeface="MiSans"/>
                <a:ea typeface="MiSans"/>
              </a:rPr>
              <a:t>2026年7月至8月阶段工作总结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4370832"/>
            <a:ext cx="2542032" cy="36576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297680" y="4956048"/>
            <a:ext cx="7662672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5257800"/>
            <a:ext cx="126004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A8B8B"/>
                </a:solidFill>
                <a:latin typeface="MiSans"/>
                <a:ea typeface="MiSans"/>
              </a:rPr>
              <a:t>LoongArch存储适配  ·  内存保护  ·  HAL边界收敛  ·  稳定性优化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6864" y="6108192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61081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功能补齐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5744" y="6108192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95744" y="61081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运行稳定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4624" y="6108192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61081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结构收敛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156448"/>
            <a:ext cx="139720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047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阶段目标与完成结果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2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691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90195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4A7C59"/>
                </a:solidFill>
                <a:latin typeface="MiSans"/>
                <a:ea typeface="Mi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6517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独立文件系统设备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3392" y="3310128"/>
            <a:ext cx="914400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1691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190195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A6B8C"/>
                </a:solidFill>
                <a:latin typeface="MiSans"/>
                <a:ea typeface="Mi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6517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类底层稳定性修复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7" y="3310128"/>
            <a:ext cx="914400" cy="36576"/>
          </a:xfrm>
          <a:prstGeom prst="rect">
            <a:avLst/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21624" y="1691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4504" y="190195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B85450"/>
                </a:solidFill>
                <a:latin typeface="MiSans"/>
                <a:ea typeface="MiSan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6517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kernel架构条件块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56064" y="3310128"/>
            <a:ext cx="914400" cy="36576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252960" y="16916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0" y="190195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4903D"/>
                </a:solidFill>
                <a:latin typeface="MiSans"/>
                <a:ea typeface="MiSans"/>
              </a:rPr>
              <a:t>双架构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0" y="2651760"/>
            <a:ext cx="30175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完整回归验证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87400" y="3310128"/>
            <a:ext cx="914400" cy="36576"/>
          </a:xfrm>
          <a:prstGeom prst="rect">
            <a:avLst/>
          </a:prstGeom>
          <a:solidFill>
            <a:srgbClr val="C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" y="3977639"/>
            <a:ext cx="14730984" cy="3456432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279392"/>
            <a:ext cx="4754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3A3A"/>
                </a:solidFill>
                <a:latin typeface="MiSans"/>
                <a:ea typeface="MiSans"/>
              </a:rPr>
              <a:t>本阶段形成三条连续主线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25312" y="4251960"/>
            <a:ext cx="0" cy="2871216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78992" y="4956048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956048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01 设备能力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440680"/>
            <a:ext cx="43891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解除BIOS装载限制
三个镜像独立挂载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956048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956048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02 稳定性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40680"/>
            <a:ext cx="3977639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guard · TLB · PTE权限
UART状态轮询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33888" y="4956048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33888" y="4956048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03 HAL边界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3888" y="5440680"/>
            <a:ext cx="3977639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10个条件块收敛为
7项平台职责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6839712"/>
            <a:ext cx="13807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3A3A"/>
                </a:solidFill>
                <a:latin typeface="MiSans"/>
                <a:ea typeface="MiSans"/>
              </a:rPr>
              <a:t>目标：增加尽量少的机制，同时让失败可检测、平台差异可定位。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047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工作演进：功能可用 → 稳定运行 → 边界完整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3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600200"/>
            <a:ext cx="4498848" cy="5925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1600200"/>
            <a:ext cx="449884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1947672"/>
            <a:ext cx="39502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7C59"/>
                </a:solidFill>
                <a:latin typeface="MiSans"/>
                <a:ea typeface="MiSans"/>
              </a:rPr>
              <a:t>设备能力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2404872"/>
            <a:ext cx="39502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07.16—07.18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880360"/>
            <a:ext cx="3950209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3271" y="3218688"/>
            <a:ext cx="3950208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4A7C59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c7c4a1c  loader装载三镜像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4A7C59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abbdbb9  dev=1/2/3独立布局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6903720"/>
            <a:ext cx="395020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先确认平台行为，再提取稳定接口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1600200"/>
            <a:ext cx="4572000" cy="5925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9592" y="1600200"/>
            <a:ext cx="4572000" cy="109728"/>
          </a:xfrm>
          <a:prstGeom prst="rect">
            <a:avLst/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1947672"/>
            <a:ext cx="402336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A6B8C"/>
                </a:solidFill>
                <a:latin typeface="MiSans"/>
                <a:ea typeface="MiSans"/>
              </a:rPr>
              <a:t>稳定性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404872"/>
            <a:ext cx="4023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07.22—07.28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53912" y="2880360"/>
            <a:ext cx="4023360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53912" y="3218688"/>
            <a:ext cx="4023360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A6B8C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63bed2d  内核栈guard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A6B8C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0b463d3  删除手工TLB填充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A6B8C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c5cfd4b  NR/NX权限转换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3A6B8C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66acbd8  UART状态轮询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6903720"/>
            <a:ext cx="4023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先确认平台行为，再提取稳定接口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73384" y="1600200"/>
            <a:ext cx="4416552" cy="5925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73384" y="1600200"/>
            <a:ext cx="4416552" cy="109728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47704" y="1947672"/>
            <a:ext cx="386791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5450"/>
                </a:solidFill>
                <a:latin typeface="MiSans"/>
                <a:ea typeface="MiSans"/>
              </a:rPr>
              <a:t>边界收敛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47704" y="2404872"/>
            <a:ext cx="38679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07.22—08.02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347704" y="2880360"/>
            <a:ext cx="3867911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347704" y="3218688"/>
            <a:ext cx="3867912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7bb6704  去双包装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f08c90f / f731aed  HAL接口下沉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91cfd94  死代码与布局清理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47704" y="6903720"/>
            <a:ext cx="3867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先确认平台行为，再提取稳定接口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7818120"/>
            <a:ext cx="13880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3A3A"/>
                </a:solidFill>
                <a:latin typeface="MiSans"/>
                <a:ea typeface="MiSans"/>
              </a:rPr>
              <a:t>提交顺序体现了实现策略：先打通数据路径，再修复语义与保护，最后进行结构重构。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047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HAL设计：统一语义，平台实现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4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64208"/>
            <a:ext cx="6629400" cy="932688"/>
          </a:xfrm>
          <a:prstGeom prst="roundRect">
            <a:avLst>
              <a:gd name="adj" fmla="val 8000"/>
            </a:avLst>
          </a:prstGeom>
          <a:solidFill>
            <a:srgbClr val="2D3A3A"/>
          </a:solidFill>
          <a:ln w="12700">
            <a:solidFill>
              <a:srgbClr val="2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1810512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</a:rPr>
              <a:t>通用内核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783080"/>
            <a:ext cx="45720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Sans"/>
                <a:ea typeface="MiSans"/>
              </a:rPr>
              <a:t>VFS · buffer cache · proc · trap · 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026664"/>
            <a:ext cx="6629400" cy="932688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 w="1270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172968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</a:rPr>
              <a:t>HAL公共契约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145536"/>
            <a:ext cx="45720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Sans"/>
                <a:ea typeface="MiSans"/>
              </a:rPr>
              <a:t>hal_arch · hal_vm · hal_intr · hal_timer · hal_console · hal_ctx · hal_disk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599432"/>
            <a:ext cx="6629400" cy="932688"/>
          </a:xfrm>
          <a:prstGeom prst="roundRect">
            <a:avLst>
              <a:gd name="adj" fmla="val 8000"/>
            </a:avLst>
          </a:prstGeom>
          <a:solidFill>
            <a:srgbClr val="E4EBEF"/>
          </a:solidFill>
          <a:ln w="12700">
            <a:solidFill>
              <a:srgbClr val="E4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745736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A6B8C"/>
                </a:solidFill>
                <a:latin typeface="MiSans"/>
                <a:ea typeface="MiSans"/>
              </a:rPr>
              <a:t>RISC-V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718304"/>
            <a:ext cx="45720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6B8C"/>
                </a:solidFill>
                <a:latin typeface="MiSans"/>
                <a:ea typeface="MiSans"/>
              </a:rPr>
              <a:t>Sv39 · PLIC · virtio-mmio · 中断UART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843016"/>
            <a:ext cx="6629400" cy="93268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 w="12700">
            <a:solidFill>
              <a:srgbClr val="E5E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89320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A7C59"/>
                </a:solidFill>
                <a:latin typeface="MiSans"/>
                <a:ea typeface="MiSans"/>
              </a:rPr>
              <a:t>LoongArch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961888"/>
            <a:ext cx="45720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7C59"/>
                </a:solidFill>
                <a:latin typeface="MiSans"/>
                <a:ea typeface="MiSans"/>
              </a:rPr>
              <a:t>PGDL/PGDH · EIOINTC · RAM disk · 轮询UART</a:t>
            </a:r>
          </a:p>
        </p:txBody>
      </p:sp>
      <p:sp>
        <p:nvSpPr>
          <p:cNvPr id="26" name="Right Arrow 25"/>
          <p:cNvSpPr/>
          <p:nvPr/>
        </p:nvSpPr>
        <p:spPr>
          <a:xfrm rot="5400000">
            <a:off x="3950208" y="2633472"/>
            <a:ext cx="594360" cy="292608"/>
          </a:xfrm>
          <a:prstGeom prst="rightArrow">
            <a:avLst/>
          </a:prstGeom>
          <a:solidFill>
            <a:srgbClr val="7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 rot="5400000">
            <a:off x="3950208" y="4069080"/>
            <a:ext cx="594360" cy="292608"/>
          </a:xfrm>
          <a:prstGeom prst="rightArrow">
            <a:avLst/>
          </a:prstGeom>
          <a:solidFill>
            <a:srgbClr val="7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1664208"/>
            <a:ext cx="7214616" cy="5376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1956816"/>
            <a:ext cx="2194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D3A3A"/>
                </a:solidFill>
                <a:latin typeface="MiSans"/>
                <a:ea typeface="MiSans"/>
              </a:rPr>
              <a:t>设计判断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2615184"/>
            <a:ext cx="6309360" cy="3429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通用层描述目标，HAL封装寄存器和设备机制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统一调用路径允许空操作、同步操作与异步操作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页表与TLB、console与UART各自保持单一事实来源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固定内存布局通过构建期和运行期检查固化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22792" y="6153912"/>
            <a:ext cx="6309360" cy="50292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6227064"/>
            <a:ext cx="6035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3A3A"/>
                </a:solidFill>
                <a:latin typeface="MiSans"/>
                <a:ea typeface="MiSans"/>
              </a:rPr>
              <a:t>接口按行为职责划分，不按CSR数量拆分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接口：hal/hal_*.h    实现：hal/riscv/ + hal/loongarch/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503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LoongArch三镜像：内核与数据分离装载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5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54480"/>
            <a:ext cx="6537960" cy="1920240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" y="1810512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1810512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原布局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2377440"/>
            <a:ext cx="1097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3A3A"/>
                </a:solidFill>
                <a:latin typeface="MiSans"/>
                <a:ea typeface="MiSans"/>
              </a:rPr>
              <a:t>-bios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67712" y="2359152"/>
            <a:ext cx="566928" cy="365760"/>
          </a:xfrm>
          <a:prstGeom prst="rightArrow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240280"/>
            <a:ext cx="32461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1E1E"/>
                </a:solidFill>
                <a:latin typeface="MiSans"/>
                <a:ea typeface="MiSans"/>
              </a:rPr>
              <a:t>kernel + fs + ext2 + fat32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962656"/>
            <a:ext cx="5897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450"/>
                </a:solidFill>
                <a:latin typeface="MiSans"/>
                <a:ea typeface="MiSans"/>
              </a:rPr>
              <a:t>超过QEMU BIOS/ROM约4 MiB上限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3822191"/>
            <a:ext cx="6537960" cy="3611880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 w="12700">
            <a:solidFill>
              <a:srgbClr val="C9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4128" y="4078224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078224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当前布局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773168"/>
            <a:ext cx="1645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3A3A"/>
                </a:solidFill>
                <a:latin typeface="MiSans"/>
                <a:ea typeface="MiSans"/>
              </a:rPr>
              <a:t>kernel.bin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16352" y="4754880"/>
            <a:ext cx="640080" cy="384048"/>
          </a:xfrm>
          <a:prstGeom prst="rightArrow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4700016"/>
            <a:ext cx="2423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-bios 约120 KiB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687568"/>
            <a:ext cx="1645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3A3A"/>
                </a:solidFill>
                <a:latin typeface="MiSans"/>
                <a:ea typeface="MiSans"/>
              </a:rPr>
              <a:t>3幅镜像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816352" y="5669280"/>
            <a:ext cx="640080" cy="384048"/>
          </a:xfrm>
          <a:prstGeom prst="rightArrow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5614416"/>
            <a:ext cx="2423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QEMU loader → 保留RAM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6720840"/>
            <a:ext cx="5897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E1E"/>
                </a:solidFill>
                <a:latin typeface="MiSans"/>
                <a:ea typeface="MiSans"/>
              </a:rPr>
              <a:t>DMW0使PLV0可直接访问低物理地址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1554480"/>
            <a:ext cx="7790688" cy="5879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1828800"/>
            <a:ext cx="71323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3A3A"/>
                </a:solidFill>
                <a:latin typeface="MiSans"/>
                <a:ea typeface="MiSans"/>
              </a:rPr>
              <a:t>设备与RAM窗口一一对应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8431" y="2468880"/>
            <a:ext cx="1417320" cy="530352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2468880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设备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2468880"/>
            <a:ext cx="1600200" cy="530352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2468880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镜像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10544" y="2468880"/>
            <a:ext cx="2103120" cy="530352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10544" y="2468880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装载地址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423392" y="2468880"/>
            <a:ext cx="1417320" cy="530352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423392" y="2468880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用途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28431" y="3044952"/>
            <a:ext cx="14173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8431" y="3044952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dev=1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28048" y="3044952"/>
            <a:ext cx="160020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8" y="3044952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fs.img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10544" y="3044952"/>
            <a:ext cx="21031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10544" y="3044952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0x09000000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423392" y="3044952"/>
            <a:ext cx="14173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23392" y="3044952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xv6fs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28431" y="3703320"/>
            <a:ext cx="1417320" cy="603504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1" y="3703320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E1E"/>
                </a:solidFill>
                <a:latin typeface="MiSans"/>
                <a:ea typeface="MiSans"/>
              </a:rPr>
              <a:t>dev=2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28048" y="3703320"/>
            <a:ext cx="1600200" cy="603504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28048" y="3703320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E1E"/>
                </a:solidFill>
                <a:latin typeface="MiSans"/>
                <a:ea typeface="MiSans"/>
              </a:rPr>
              <a:t>ext2.img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10544" y="3703320"/>
            <a:ext cx="2103120" cy="603504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10544" y="3703320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E1E"/>
                </a:solidFill>
                <a:latin typeface="MiSans"/>
                <a:ea typeface="MiSans"/>
              </a:rPr>
              <a:t>0x0a000000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423392" y="3703320"/>
            <a:ext cx="1417320" cy="603504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423392" y="3703320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E1E"/>
                </a:solidFill>
                <a:latin typeface="MiSans"/>
                <a:ea typeface="MiSans"/>
              </a:rPr>
              <a:t>独立ext2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28431" y="4361688"/>
            <a:ext cx="14173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28431" y="4361688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dev=3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8048" y="4361688"/>
            <a:ext cx="160020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28048" y="4361688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fat32.img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210544" y="4361688"/>
            <a:ext cx="21031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210544" y="4361688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0x0b000000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423392" y="4361688"/>
            <a:ext cx="1417320" cy="603504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423392" y="4361688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E1E"/>
                </a:solidFill>
                <a:latin typeface="MiSans"/>
                <a:ea typeface="MiSans"/>
              </a:rPr>
              <a:t>FAT32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5285232"/>
            <a:ext cx="690372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A7C59"/>
                </a:solidFill>
                <a:latin typeface="MiSans"/>
                <a:ea typeface="MiSans"/>
              </a:rPr>
              <a:t>● </a:t>
            </a:r>
            <a:r>
              <a:rPr sz="1550" b="0">
                <a:solidFill>
                  <a:srgbClr val="1C1E1E"/>
                </a:solidFill>
                <a:latin typeface="MiSans"/>
                <a:ea typeface="MiSans"/>
              </a:rPr>
              <a:t>统一16 MiB窗口与构建期容量检查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A7C59"/>
                </a:solidFill>
                <a:latin typeface="MiSans"/>
                <a:ea typeface="MiSans"/>
              </a:rPr>
              <a:t>● </a:t>
            </a:r>
            <a:r>
              <a:rPr sz="1550" b="0">
                <a:solidFill>
                  <a:srgbClr val="1C1E1E"/>
                </a:solidFill>
                <a:latin typeface="MiSans"/>
                <a:ea typeface="MiSans"/>
              </a:rPr>
              <a:t>每设备独立锁；块号越界立即停止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A7C59"/>
                </a:solidFill>
                <a:latin typeface="MiSans"/>
                <a:ea typeface="MiSans"/>
              </a:rPr>
              <a:t>● </a:t>
            </a:r>
            <a:r>
              <a:rPr sz="1550" b="0">
                <a:solidFill>
                  <a:srgbClr val="1C1E1E"/>
                </a:solidFill>
                <a:latin typeface="MiSans"/>
                <a:ea typeface="MiSans"/>
              </a:rPr>
              <a:t>同步memmove完成I/O，无伪造virtio中断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28431" y="6885432"/>
            <a:ext cx="7086600" cy="338328"/>
          </a:xfrm>
          <a:prstGeom prst="roundRect">
            <a:avLst>
              <a:gd name="adj" fmla="val 8000"/>
            </a:avLst>
          </a:prstGeom>
          <a:solidFill>
            <a:srgbClr val="F1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28431" y="6885432"/>
            <a:ext cx="7086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903D"/>
                </a:solidFill>
                <a:latin typeface="MiSans"/>
                <a:ea typeface="MiSans"/>
              </a:rPr>
              <a:t>运行效果由配套演示视频展示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代码：Makefile:280-326 · hal/loongarch/hal_ramdisk.c · memlayout.h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959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LoongArch内核栈：让guard真正参与地址转换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6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72768"/>
            <a:ext cx="4434840" cy="5806440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1856231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450"/>
                </a:solidFill>
                <a:latin typeface="MiSans"/>
                <a:ea typeface="MiSans"/>
              </a:rPr>
              <a:t>原有隐患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532888"/>
            <a:ext cx="1920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3A3A"/>
                </a:solidFill>
                <a:latin typeface="MiSans"/>
                <a:ea typeface="MiSans"/>
              </a:rPr>
              <a:t>低地址内核栈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27248" y="2551176"/>
            <a:ext cx="594360" cy="365760"/>
          </a:xfrm>
          <a:prstGeom prst="rightArrow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7" y="2468880"/>
            <a:ext cx="114300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DMW0恒等映射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" y="3273552"/>
            <a:ext cx="3749040" cy="0"/>
          </a:xfrm>
          <a:prstGeom prst="line">
            <a:avLst/>
          </a:prstGeom>
          <a:ln w="12700">
            <a:solidFill>
              <a:srgbClr val="DFC4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9848" y="3584448"/>
            <a:ext cx="3794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5450"/>
                </a:solidFill>
                <a:latin typeface="MiSans"/>
                <a:ea typeface="MiSans"/>
              </a:rPr>
              <a:t>CPU绕过页表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187952"/>
            <a:ext cx="3794760" cy="9875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“guard无PTE”不会触发异常
栈越界可能覆盖相邻进程数据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9848" y="5751576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5879592"/>
            <a:ext cx="3538728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物理间隔只能延缓破坏
无法提供强制检测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609344"/>
            <a:ext cx="28346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3A3A"/>
                </a:solidFill>
                <a:latin typeface="MiSans"/>
                <a:ea typeface="MiSans"/>
              </a:rPr>
              <a:t>高地址栈布局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148840"/>
            <a:ext cx="3154680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148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栈第2页  ← 初始sp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999232"/>
            <a:ext cx="3154680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999232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栈第1页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849624"/>
            <a:ext cx="3154680" cy="658368"/>
          </a:xfrm>
          <a:prstGeom prst="rect">
            <a:avLst/>
          </a:prstGeom>
          <a:solidFill>
            <a:srgbClr val="F1E5E3"/>
          </a:solidFill>
          <a:ln w="1270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849624"/>
            <a:ext cx="3154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450"/>
                </a:solidFill>
                <a:latin typeface="MiSans"/>
                <a:ea typeface="MiSans"/>
              </a:rPr>
              <a:t>未映射 guard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4535424"/>
            <a:ext cx="3154680" cy="822960"/>
          </a:xfrm>
          <a:prstGeom prst="rect">
            <a:avLst/>
          </a:prstGeom>
          <a:solidFill>
            <a:srgbClr val="3A6B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535424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下一进程：栈第2页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5385816"/>
            <a:ext cx="3154680" cy="822960"/>
          </a:xfrm>
          <a:prstGeom prst="rect">
            <a:avLst/>
          </a:prstGeom>
          <a:solidFill>
            <a:srgbClr val="3A6B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5385816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下一进程：栈第1页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6236208"/>
            <a:ext cx="3154680" cy="658368"/>
          </a:xfrm>
          <a:prstGeom prst="rect">
            <a:avLst/>
          </a:prstGeom>
          <a:solidFill>
            <a:srgbClr val="F1E5E3"/>
          </a:solidFill>
          <a:ln w="1270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6236208"/>
            <a:ext cx="3154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450"/>
                </a:solidFill>
                <a:latin typeface="MiSans"/>
                <a:ea typeface="MiSans"/>
              </a:rPr>
              <a:t>未映射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1901952"/>
            <a:ext cx="3154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KSTACK_TOP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4040" y="1572768"/>
            <a:ext cx="6025896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2368" y="1856231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A7C59"/>
                </a:solidFill>
                <a:latin typeface="MiSans"/>
                <a:ea typeface="MiSans"/>
              </a:rPr>
              <a:t>修复路径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11512" y="251460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2" y="25146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7312" y="2496312"/>
            <a:ext cx="4498848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内核栈移入DMW0之外的高地址区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11512" y="344728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2" y="34472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7312" y="3429000"/>
            <a:ext cx="4498848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两页栈由固定PGDH映射，guard不建PTE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11512" y="437997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1512" y="437997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7312" y="4361688"/>
            <a:ext cx="4498848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TLB refill按故障地址选择PGDL/PGDH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11512" y="531266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11512" y="531266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2" y="5294376"/>
            <a:ext cx="4498848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E1E"/>
                </a:solidFill>
                <a:latin typeface="MiSans"/>
                <a:ea typeface="MiSans"/>
              </a:rPr>
              <a:t>溢出时切换每CPU紧急栈并稳定诊断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11512" y="6446520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0384" y="6537960"/>
            <a:ext cx="497433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7C59"/>
                </a:solidFill>
                <a:latin typeface="MiSans"/>
                <a:ea typeface="MiSans"/>
              </a:rPr>
              <a:t>局部引入PGDH，保留现有DMW0数据路径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代码：memlayout.h · hal_vm.c · hal_tlbrefill.S · hal_kvec.S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959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页表正确性：单一TLB入口 + 原生权限转换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7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54480"/>
            <a:ext cx="7086600" cy="5870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" y="184708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1847088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TLB职责分离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523744"/>
            <a:ext cx="11887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旧路径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926080"/>
            <a:ext cx="2578608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vmfault()建立PTE
并由C函数手工写TLB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03904" y="3200400"/>
            <a:ext cx="658368" cy="384048"/>
          </a:xfrm>
          <a:prstGeom prst="rightArrow">
            <a:avLst/>
          </a:prstGeom>
          <a:solidFill>
            <a:srgbClr val="7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926080"/>
            <a:ext cx="2560320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偶/奇页写入同一lo
存在别名风险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4224528"/>
            <a:ext cx="6446520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78992" y="4517136"/>
            <a:ext cx="11887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当前路径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9848" y="4956048"/>
            <a:ext cx="2542032" cy="786384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956048"/>
            <a:ext cx="25420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vmfault()
只检查并建立PTE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7328" y="5157216"/>
            <a:ext cx="658368" cy="384048"/>
          </a:xfrm>
          <a:prstGeom prst="rightArrow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90288" y="4956048"/>
            <a:ext cx="2560320" cy="786384"/>
          </a:xfrm>
          <a:prstGeom prst="roundRect">
            <a:avLst>
              <a:gd name="adj" fmla="val 8000"/>
            </a:avLst>
          </a:prstGeom>
          <a:solidFill>
            <a:srgbClr val="E4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956048"/>
            <a:ext cx="25603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A6B8C"/>
                </a:solidFill>
                <a:latin typeface="MiSans"/>
                <a:ea typeface="MiSans"/>
              </a:rPr>
              <a:t>hal_tlbrefill.S
唯一装入TLB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6245352"/>
            <a:ext cx="60624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D3A3A"/>
                </a:solidFill>
                <a:latin typeface="MiSans"/>
                <a:ea typeface="MiSans"/>
              </a:rPr>
              <a:t>删除旧函数约30行 · 消除双重状态维护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1554480"/>
            <a:ext cx="7232904" cy="5870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67928" y="184708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1847088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PTE权限语义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2542032"/>
            <a:ext cx="15727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A8B8B"/>
                </a:solidFill>
                <a:latin typeface="MiSans"/>
                <a:ea typeface="MiSans"/>
              </a:rPr>
              <a:t>通用内核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67928" y="2953512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7928" y="2953512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3A3A"/>
                </a:solidFill>
                <a:latin typeface="MiSans"/>
                <a:ea typeface="MiSans"/>
              </a:rPr>
              <a:t>R / W / X / U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771632" y="3090672"/>
            <a:ext cx="667512" cy="384048"/>
          </a:xfrm>
          <a:prstGeom prst="rightArrow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612880" y="2953512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12880" y="29535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hal_pte_encode_perm()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297680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A6B8C"/>
                </a:solidFill>
                <a:latin typeface="MiSans"/>
                <a:ea typeface="MiSans"/>
              </a:rPr>
              <a:t>RISC-V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6688" y="4270248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权限位原样编码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010912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LoongArch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498348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缺少R/X → 原生NR/NX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67928" y="5815584"/>
            <a:ext cx="6364224" cy="786384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5815584"/>
            <a:ext cx="636422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数据页与用户栈可表达NX
执行页可表达完整读/执行组合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7928" y="6858000"/>
            <a:ext cx="63642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8B8B"/>
                </a:solidFill>
                <a:latin typeface="MiSans"/>
                <a:ea typeface="MiSans"/>
              </a:rPr>
              <a:t>公共mappages()只增加一个HAL转换调用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代码：kernel/vm.c:151 · hal/loongarch/arch.h:375-428 · hal_tlbrefill.S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415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LoongArch UART：由时间猜测改为设备状态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8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72768"/>
            <a:ext cx="4617720" cy="5833872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865376"/>
            <a:ext cx="2926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450"/>
                </a:solidFill>
                <a:latin typeface="MiSans"/>
                <a:ea typeface="MiSans"/>
              </a:rPr>
              <a:t>QEMU 8.2.2实测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" y="2514600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514600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16550 IIR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569464"/>
            <a:ext cx="20574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中断待处理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099816"/>
            <a:ext cx="0" cy="274320"/>
          </a:xfrm>
          <a:prstGeom prst="line">
            <a:avLst/>
          </a:prstGeom>
          <a:ln w="12700">
            <a:solidFill>
              <a:srgbClr val="7A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78992" y="344728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447288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PCH-PIC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3502152"/>
            <a:ext cx="20574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7C59"/>
                </a:solidFill>
                <a:latin typeface="MiSans"/>
                <a:ea typeface="MiSans"/>
              </a:rPr>
              <a:t>已解除屏蔽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4032504"/>
            <a:ext cx="0" cy="274320"/>
          </a:xfrm>
          <a:prstGeom prst="line">
            <a:avLst/>
          </a:prstGeom>
          <a:ln w="12700">
            <a:solidFill>
              <a:srgbClr val="7A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8992" y="4379976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379976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EIOINTC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912" y="4434840"/>
            <a:ext cx="20574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COREISR不置位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80" y="4965192"/>
            <a:ext cx="0" cy="274320"/>
          </a:xfrm>
          <a:prstGeom prst="line">
            <a:avLst/>
          </a:prstGeom>
          <a:ln w="12700">
            <a:solidFill>
              <a:srgbClr val="7A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78992" y="5312664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312664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5367528"/>
            <a:ext cx="20574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未收到UART中断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6547104"/>
            <a:ext cx="3977639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450"/>
                </a:solidFill>
                <a:latin typeface="MiSans"/>
                <a:ea typeface="MiSans"/>
              </a:rPr>
              <a:t>结论：LSR状态有效，外部中断路由链存在限制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1572768"/>
            <a:ext cx="9683496" cy="5833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865376"/>
            <a:ext cx="2377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D3A3A"/>
                </a:solidFill>
                <a:latin typeface="MiSans"/>
                <a:ea typeface="MiSans"/>
              </a:rPr>
              <a:t>当前收发路径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578608"/>
            <a:ext cx="777240" cy="347472"/>
          </a:xfrm>
          <a:prstGeom prst="roundRect">
            <a:avLst>
              <a:gd name="adj" fmla="val 8000"/>
            </a:avLst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2578608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TX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523744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4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2523744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A6B8C"/>
                </a:solidFill>
                <a:latin typeface="MiSans"/>
                <a:ea typeface="MiSans"/>
              </a:rPr>
              <a:t>consolewrite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079992" y="2670048"/>
            <a:ext cx="530352" cy="329184"/>
          </a:xfrm>
          <a:prstGeom prst="rightArrow">
            <a:avLst/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72600" y="2523744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4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2523744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A6B8C"/>
                </a:solidFill>
                <a:latin typeface="MiSans"/>
                <a:ea typeface="MiSans"/>
              </a:rPr>
              <a:t>hal_console_write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1731752" y="2670048"/>
            <a:ext cx="530352" cy="329184"/>
          </a:xfrm>
          <a:prstGeom prst="rightArrow">
            <a:avLst/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051792" y="2523744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4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51792" y="2523744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A6B8C"/>
                </a:solidFill>
                <a:latin typeface="MiSans"/>
                <a:ea typeface="MiSans"/>
              </a:rPr>
              <a:t>LSR[5] → THR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3803904"/>
            <a:ext cx="777240" cy="34747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380390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RX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78040" y="3749039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3749039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7C59"/>
                </a:solidFill>
                <a:latin typeface="MiSans"/>
                <a:ea typeface="MiSans"/>
              </a:rPr>
              <a:t>timer tick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079992" y="3895344"/>
            <a:ext cx="530352" cy="329184"/>
          </a:xfrm>
          <a:prstGeom prst="rightArrow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72600" y="3749039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749039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7C59"/>
                </a:solidFill>
                <a:latin typeface="MiSans"/>
                <a:ea typeface="MiSans"/>
              </a:rPr>
              <a:t>hal_console_poll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1731752" y="3895344"/>
            <a:ext cx="530352" cy="329184"/>
          </a:xfrm>
          <a:prstGeom prst="rightArrow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2051792" y="3749039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051792" y="3749039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7C59"/>
                </a:solidFill>
                <a:latin typeface="MiSans"/>
                <a:ea typeface="MiSans"/>
              </a:rPr>
              <a:t>LSR[0] → RHR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144768" y="4882896"/>
            <a:ext cx="8897112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44768" y="5230368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3A3A"/>
                </a:solidFill>
                <a:latin typeface="MiSans"/>
                <a:ea typeface="MiSans"/>
              </a:rPr>
              <a:t>完整16550初始化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5202936"/>
            <a:ext cx="63093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关闭中断 · 设置波特率 · 8N1 · 启用并清空FIFO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6016752"/>
            <a:ext cx="2788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固定约50000次循环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070848" y="6016752"/>
            <a:ext cx="658368" cy="347472"/>
          </a:xfrm>
          <a:prstGeom prst="rightArrow">
            <a:avLst/>
          </a:prstGeom>
          <a:solidFill>
            <a:srgbClr val="7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3808" y="5989320"/>
            <a:ext cx="297180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7C59"/>
                </a:solidFill>
                <a:latin typeface="MiSans"/>
                <a:ea typeface="MiSans"/>
              </a:rPr>
              <a:t>轮询LSR_TX_IDLE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4768" y="6739128"/>
            <a:ext cx="8595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不再依赖QEMU执行速度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代码：hal/loongarch/hal_uart.c · kernel/trap.c:181-192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871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HAL边界收敛：通用内核不再判断架构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9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81912"/>
            <a:ext cx="4709160" cy="5760720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856231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450"/>
                </a:solidFill>
                <a:latin typeface="MiSans"/>
                <a:ea typeface="MiSans"/>
              </a:rPr>
              <a:t>修改前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05456"/>
            <a:ext cx="3566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A8B8B"/>
                </a:solidFill>
                <a:latin typeface="MiSans"/>
                <a:ea typeface="MiSans"/>
              </a:rPr>
              <a:t>架构条件块散布在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301752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017520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exec.c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1" y="301752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1" y="3017520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proc.c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38862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886200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trap.c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53511" y="38862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1" y="3886200"/>
            <a:ext cx="15727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5450"/>
                </a:solidFill>
                <a:latin typeface="MiSans"/>
                <a:ea typeface="MiSans"/>
              </a:rPr>
              <a:t>vm.c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010912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450"/>
                </a:solidFill>
                <a:latin typeface="MiSans"/>
                <a:ea typeface="MiSans"/>
              </a:rPr>
              <a:t>#ifdef ARCH_loongarch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660136"/>
            <a:ext cx="3794760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通用控制流依赖平台寄存器、
地址布局和设备行为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50992" y="4178808"/>
            <a:ext cx="658368" cy="438912"/>
          </a:xfrm>
          <a:prstGeom prst="rightArrow">
            <a:avLst/>
          </a:prstGeom>
          <a:solidFill>
            <a:srgbClr val="7A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37960" y="1581912"/>
            <a:ext cx="8951976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856231"/>
            <a:ext cx="3840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A7C59"/>
                </a:solidFill>
                <a:latin typeface="MiSans"/>
                <a:ea typeface="MiSans"/>
              </a:rPr>
              <a:t>修改后：7项平台职责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6288" y="2532888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6016" y="2615184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内核映射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596896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hal_vm_map_kernel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45367" y="2532888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55095" y="2615184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启用MMU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34088" y="2596896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hal_vm_enable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76288" y="3319272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86016" y="3401568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用户跳板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3383279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map/unmap_trampoline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45367" y="3319272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55095" y="3401568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低页保留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34088" y="3383279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reserve_user_low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76288" y="4105656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6016" y="4187952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叶PTE判断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4169664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hal_pte_is_leaf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45367" y="4105656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55095" y="4187952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绑定trapframe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34088" y="4169664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bind_user_frame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76288" y="4892040"/>
            <a:ext cx="3730752" cy="594360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86016" y="4974336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8B8B"/>
                </a:solidFill>
                <a:latin typeface="MiSans"/>
                <a:ea typeface="MiSans"/>
              </a:rPr>
              <a:t>控制台轮询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4956048"/>
            <a:ext cx="24231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3A3A"/>
                </a:solidFill>
                <a:latin typeface="MiSans"/>
                <a:ea typeface="MiSans"/>
              </a:rPr>
              <a:t>hal_console_poll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76288" y="6016752"/>
            <a:ext cx="8202168" cy="822960"/>
          </a:xfrm>
          <a:prstGeom prst="roundRect">
            <a:avLst>
              <a:gd name="adj" fmla="val 8000"/>
            </a:avLst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6288" y="6016752"/>
            <a:ext cx="8202168" cy="8229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  <a:ea typeface="MiSans"/>
              </a:rPr>
              <a:t>10个条件块</a:t>
            </a:r>
            <a:r>
              <a:rPr sz="2000" b="1">
                <a:solidFill>
                  <a:srgbClr val="B85450"/>
                </a:solidFill>
                <a:latin typeface="MiSans"/>
                <a:ea typeface="MiSans"/>
              </a:rPr>
              <a:t>  →  </a:t>
            </a:r>
            <a:r>
              <a:rPr sz="2000" b="1">
                <a:solidFill>
                  <a:srgbClr val="FFFFFF"/>
                </a:solidFill>
                <a:latin typeface="MiSans"/>
                <a:ea typeface="MiSans"/>
              </a:rPr>
              <a:t>7项职责</a:t>
            </a:r>
            <a:r>
              <a:rPr sz="2000" b="1">
                <a:solidFill>
                  <a:srgbClr val="B85450"/>
                </a:solidFill>
                <a:latin typeface="MiSans"/>
                <a:ea typeface="MiSans"/>
              </a:rPr>
              <a:t>  →  </a:t>
            </a:r>
            <a:r>
              <a:rPr sz="2000" b="1">
                <a:solidFill>
                  <a:srgbClr val="FFFFFF"/>
                </a:solidFill>
                <a:latin typeface="MiSans"/>
                <a:ea typeface="MiSans"/>
              </a:rPr>
              <a:t>kernel匹配数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288" y="6931152"/>
            <a:ext cx="8202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空操作也是明确的平台策略：LoongArch无需用户trampoline映射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接口：hal/hal_vm.h · hal/hal_arch.h · hal/hal_console.h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871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精简实现与防御性约束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10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72768"/>
            <a:ext cx="7059168" cy="5833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" y="1856231"/>
            <a:ext cx="1600200" cy="347472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做减法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514600"/>
            <a:ext cx="20574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85450"/>
                </a:solidFill>
                <a:latin typeface="MiSans"/>
                <a:ea typeface="MiSans"/>
              </a:rPr>
              <a:t>-168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80"/>
            <a:ext cx="3886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8B8B"/>
                </a:solidFill>
                <a:latin typeface="MiSans"/>
                <a:ea typeface="MiSans"/>
              </a:rPr>
              <a:t>行（3项清理提交净变化）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493008"/>
            <a:ext cx="6236208" cy="2514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PLIC、UART平台文件直接导出hal_*接口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删除旧swtch标签、未使用UART状态和寄存器访问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console通过handler回调接收字符，HAL不反向依赖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85450"/>
                </a:solidFill>
                <a:latin typeface="MiSans"/>
                <a:ea typeface="MiSans"/>
              </a:rPr>
              <a:t>● </a:t>
            </a: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hal_virtio.c更名为hal_ramdisk.c，名称对应机制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8" y="6318504"/>
            <a:ext cx="6236208" cy="621792"/>
          </a:xfrm>
          <a:prstGeom prst="roundRect">
            <a:avLst>
              <a:gd name="adj" fmla="val 8000"/>
            </a:avLst>
          </a:prstGeom>
          <a:solidFill>
            <a:srgbClr val="F1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6437376"/>
            <a:ext cx="6035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5450"/>
                </a:solidFill>
                <a:latin typeface="MiSans"/>
                <a:ea typeface="MiSans"/>
              </a:rPr>
              <a:t>保留RISC-V异步TX状态：它仍承担阻塞写语义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1572768"/>
            <a:ext cx="7242048" cy="5833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67928" y="1856231"/>
            <a:ext cx="1600200" cy="347472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加约束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7072" y="2578608"/>
            <a:ext cx="1298448" cy="548640"/>
          </a:xfrm>
          <a:prstGeom prst="roundRect">
            <a:avLst>
              <a:gd name="adj" fmla="val 8000"/>
            </a:avLst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25786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链接期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596896"/>
            <a:ext cx="48920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E1E"/>
                </a:solidFill>
                <a:latin typeface="MiSans"/>
                <a:ea typeface="MiSans"/>
              </a:rPr>
              <a:t>.text.boot不得覆盖TLB refill入口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072" y="3538728"/>
            <a:ext cx="1298448" cy="54864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353872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编译期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3557016"/>
            <a:ext cx="48920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E1E"/>
                </a:solidFill>
                <a:latin typeface="MiSans"/>
                <a:ea typeface="MiSans"/>
              </a:rPr>
              <a:t>NPROC=64对应192页内核栈窗口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7072" y="4498848"/>
            <a:ext cx="1298448" cy="548640"/>
          </a:xfrm>
          <a:prstGeom prst="roundRect">
            <a:avLst>
              <a:gd name="adj" fmla="val 8000"/>
            </a:avLst>
          </a:prstGeom>
          <a:solidFill>
            <a:srgbClr val="C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449884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构建期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4517136"/>
            <a:ext cx="48920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三幅镜像分别不得超过16 MiB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7072" y="5458968"/>
            <a:ext cx="1298448" cy="548640"/>
          </a:xfrm>
          <a:prstGeom prst="roundRect">
            <a:avLst>
              <a:gd name="adj" fmla="val 8000"/>
            </a:avLst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54589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</a:rPr>
              <a:t>运行期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1552" y="5477256"/>
            <a:ext cx="48920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E1E"/>
                </a:solidFill>
                <a:latin typeface="MiSans"/>
                <a:ea typeface="MiSans"/>
              </a:rPr>
              <a:t>设备号与块号执行边界检查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77072" y="6556248"/>
            <a:ext cx="6464808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77072" y="6766560"/>
            <a:ext cx="6446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8B8B"/>
                </a:solidFill>
                <a:latin typeface="MiSans"/>
                <a:ea typeface="MiSans"/>
              </a:rPr>
              <a:t>当前HAL：公共接口200行 · RISC-V 1526行 · LoongArch 1673行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8375904"/>
            <a:ext cx="1444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B8B"/>
                </a:solidFill>
                <a:latin typeface="MiSans"/>
                <a:ea typeface="MiSans"/>
              </a:rPr>
              <a:t>提交：0b463d3 · 7bb6704 · 91cfd94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阶段目标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设备适配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内存保护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I/O稳定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8C8"/>
                </a:solidFill>
                <a:latin typeface="MiSans"/>
                <a:ea typeface="MiSans"/>
              </a:rPr>
              <a:t>HAL边界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2920" y="27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</a:rPr>
              <a:t>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63272" y="429768"/>
            <a:ext cx="1133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40080"/>
            <a:ext cx="144475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3A3A"/>
                </a:solidFill>
                <a:latin typeface="MiSans"/>
                <a:ea typeface="MiSans"/>
              </a:rPr>
              <a:t>验证结果与当前设计边界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170432"/>
            <a:ext cx="1024128" cy="320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8705088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B8B"/>
                </a:solidFill>
                <a:latin typeface="MiSans"/>
                <a:ea typeface="MiSans"/>
              </a:rPr>
              <a:t>全国大学生计算机系统能力大赛 · 操作系统功能挑战赛道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11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572768"/>
            <a:ext cx="7315200" cy="5833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856231"/>
            <a:ext cx="2377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A7C59"/>
                </a:solidFill>
                <a:latin typeface="MiSans"/>
                <a:ea typeface="MiSans"/>
              </a:rPr>
              <a:t>双架构回归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542032"/>
            <a:ext cx="2834640" cy="621792"/>
          </a:xfrm>
          <a:prstGeom prst="rect">
            <a:avLst/>
          </a:prstGeom>
          <a:solidFill>
            <a:srgbClr val="2D3A3A"/>
          </a:solidFill>
          <a:ln w="12700">
            <a:solidFill>
              <a:srgbClr val="2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542032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MiSans"/>
                <a:ea typeface="MiSans"/>
              </a:rPr>
              <a:t>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9936" y="2542032"/>
            <a:ext cx="1664208" cy="621792"/>
          </a:xfrm>
          <a:prstGeom prst="rect">
            <a:avLst/>
          </a:prstGeom>
          <a:solidFill>
            <a:srgbClr val="2D3A3A"/>
          </a:solidFill>
          <a:ln w="12700">
            <a:solidFill>
              <a:srgbClr val="2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9936" y="2542032"/>
            <a:ext cx="166420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MiSans"/>
                <a:ea typeface="MiSans"/>
              </a:rPr>
              <a:t>RISC-V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3016" y="2542032"/>
            <a:ext cx="1783080" cy="621792"/>
          </a:xfrm>
          <a:prstGeom prst="rect">
            <a:avLst/>
          </a:prstGeom>
          <a:solidFill>
            <a:srgbClr val="2D3A3A"/>
          </a:solidFill>
          <a:ln w="12700">
            <a:solidFill>
              <a:srgbClr val="2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43016" y="2542032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MiSans"/>
                <a:ea typeface="MiSans"/>
              </a:rPr>
              <a:t>LoongArch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3236976"/>
            <a:ext cx="2834640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236976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1E1E"/>
                </a:solidFill>
                <a:latin typeface="MiSans"/>
                <a:ea typeface="MiSans"/>
              </a:rPr>
              <a:t>usertests -q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9936" y="3236976"/>
            <a:ext cx="1664208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9936" y="3236976"/>
            <a:ext cx="166420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ALL PASSED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3016" y="3236976"/>
            <a:ext cx="1783080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3016" y="3236976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ALL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" y="3931920"/>
            <a:ext cx="2834640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931920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1E1E"/>
                </a:solidFill>
                <a:latin typeface="MiSans"/>
                <a:ea typeface="MiSans"/>
              </a:rPr>
              <a:t>forktest / grind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59936" y="3931920"/>
            <a:ext cx="1664208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59936" y="3931920"/>
            <a:ext cx="166420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3016" y="3931920"/>
            <a:ext cx="1783080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3016" y="3931920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8992" y="4626864"/>
            <a:ext cx="2834640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626864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1E1E"/>
                </a:solidFill>
                <a:latin typeface="MiSans"/>
                <a:ea typeface="MiSans"/>
              </a:rPr>
              <a:t>ext2综合测试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9936" y="4626864"/>
            <a:ext cx="1664208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9936" y="4626864"/>
            <a:ext cx="166420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15 / 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3016" y="4626864"/>
            <a:ext cx="1783080" cy="621792"/>
          </a:xfrm>
          <a:prstGeom prst="rect">
            <a:avLst/>
          </a:prstGeom>
          <a:solidFill>
            <a:srgbClr val="EDECE8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3016" y="4626864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15 / 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8992" y="5321808"/>
            <a:ext cx="2834640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5321808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1E1E"/>
                </a:solidFill>
                <a:latin typeface="MiSans"/>
                <a:ea typeface="MiSans"/>
              </a:rPr>
              <a:t>FAT32测试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9936" y="5321808"/>
            <a:ext cx="1664208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59936" y="5321808"/>
            <a:ext cx="166420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42 / 42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3016" y="5321808"/>
            <a:ext cx="1783080" cy="621792"/>
          </a:xfrm>
          <a:prstGeom prst="rect">
            <a:avLst/>
          </a:prstGeom>
          <a:solidFill>
            <a:srgbClr val="F5F3F0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43016" y="5321808"/>
            <a:ext cx="1783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7C59"/>
                </a:solidFill>
                <a:latin typeface="MiSans"/>
                <a:ea typeface="MiSans"/>
              </a:rPr>
              <a:t>42 / 42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8992" y="6355080"/>
            <a:ext cx="6583680" cy="658368"/>
          </a:xfrm>
          <a:prstGeom prst="roundRect">
            <a:avLst>
              <a:gd name="adj" fmla="val 8000"/>
            </a:avLst>
          </a:prstGeom>
          <a:solidFill>
            <a:srgbClr val="E5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6483096"/>
            <a:ext cx="6364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7C59"/>
                </a:solidFill>
                <a:latin typeface="MiSans"/>
                <a:ea typeface="MiSans"/>
              </a:rPr>
              <a:t>验证重点：HAL重构未改变通用内核与文件系统语义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1572768"/>
            <a:ext cx="6986016" cy="5833872"/>
          </a:xfrm>
          <a:prstGeom prst="roundRect">
            <a:avLst>
              <a:gd name="adj" fmla="val 8000"/>
            </a:avLst>
          </a:prstGeom>
          <a:solidFill>
            <a:srgbClr val="ED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1856231"/>
            <a:ext cx="2194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D3A3A"/>
                </a:solidFill>
                <a:latin typeface="MiSans"/>
                <a:ea typeface="MiSans"/>
              </a:rPr>
              <a:t>当前边界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551176"/>
            <a:ext cx="598932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4903D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RAM disk写入不跨QEMU重启持久化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4903D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每个LoongArch设备窗口固定为16 MiB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4903D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UART接收延迟受定时器tick约束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4903D"/>
                </a:solidFill>
                <a:latin typeface="MiSans"/>
                <a:ea typeface="MiSans"/>
              </a:rPr>
              <a:t>● </a:t>
            </a: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ext2当前针对8 MiB单块组镜像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23960" y="5532120"/>
            <a:ext cx="6172199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823960" y="5861304"/>
            <a:ext cx="5989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3A3A"/>
                </a:solidFill>
                <a:latin typeface="MiSans"/>
                <a:ea typeface="MiSans"/>
              </a:rPr>
              <a:t>接口为后续替换真实块设备保留扩展点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6547104"/>
            <a:ext cx="5989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8B8B"/>
                </a:solidFill>
                <a:latin typeface="MiSans"/>
                <a:ea typeface="MiSans"/>
              </a:rPr>
              <a:t>三文件系统完整运行效果见配套演示视频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58368"/>
            <a:ext cx="7772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D3A3A"/>
                </a:solidFill>
                <a:latin typeface="MiSans"/>
                <a:ea typeface="MiSans"/>
              </a:rPr>
              <a:t>阶段总结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261872"/>
            <a:ext cx="1024128" cy="36576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847088"/>
            <a:ext cx="437083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847088"/>
            <a:ext cx="4370832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76856"/>
            <a:ext cx="3785615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A7C59"/>
                </a:solidFill>
                <a:latin typeface="MiSans"/>
                <a:ea typeface="MiSans"/>
              </a:rPr>
              <a:t>功能完整性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54096"/>
            <a:ext cx="378561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D3A3A"/>
                </a:solidFill>
                <a:latin typeface="MiSans"/>
                <a:ea typeface="MiSans"/>
              </a:rPr>
              <a:t>三个独立设备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37943" y="3840480"/>
            <a:ext cx="2212848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8992" y="4279392"/>
            <a:ext cx="3730752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LoongArch同时承载
xv6fs · ext2 · FAT32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847088"/>
            <a:ext cx="437083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1847088"/>
            <a:ext cx="4370832" cy="109728"/>
          </a:xfrm>
          <a:prstGeom prst="rect">
            <a:avLst/>
          </a:prstGeom>
          <a:solidFill>
            <a:srgbClr val="3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2276856"/>
            <a:ext cx="3785615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A6B8C"/>
                </a:solidFill>
                <a:latin typeface="MiSans"/>
                <a:ea typeface="MiSans"/>
              </a:rPr>
              <a:t>运行稳定性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3054096"/>
            <a:ext cx="378561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D3A3A"/>
                </a:solidFill>
                <a:latin typeface="MiSans"/>
                <a:ea typeface="MiSans"/>
              </a:rPr>
              <a:t>四项关键修复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56831" y="3840480"/>
            <a:ext cx="2212849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7879" y="4279392"/>
            <a:ext cx="3730752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guard · TLB · PTE权限
UART状态轮询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96728" y="1847088"/>
            <a:ext cx="437083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6728" y="1847088"/>
            <a:ext cx="4370832" cy="109728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9336" y="2276856"/>
            <a:ext cx="3785615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450"/>
                </a:solidFill>
                <a:latin typeface="MiSans"/>
                <a:ea typeface="MiSans"/>
              </a:rPr>
              <a:t>结构完整性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9336" y="3054096"/>
            <a:ext cx="3785615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D3A3A"/>
                </a:solidFill>
                <a:latin typeface="MiSans"/>
                <a:ea typeface="MiSans"/>
              </a:rPr>
              <a:t>kernel条件块清零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75719" y="3840480"/>
            <a:ext cx="2212848" cy="0"/>
          </a:xfrm>
          <a:prstGeom prst="line">
            <a:avLst/>
          </a:prstGeom>
          <a:ln w="12700">
            <a:solidFill>
              <a:srgbClr val="D4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16767" y="4279392"/>
            <a:ext cx="3730752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1E1E"/>
                </a:solidFill>
                <a:latin typeface="MiSans"/>
                <a:ea typeface="MiSans"/>
              </a:rPr>
              <a:t>平台差异集中在HAL
通用控制流保持一致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6739128"/>
            <a:ext cx="11503152" cy="841248"/>
          </a:xfrm>
          <a:prstGeom prst="roundRect">
            <a:avLst>
              <a:gd name="adj" fmla="val 8000"/>
            </a:avLst>
          </a:prstGeom>
          <a:solidFill>
            <a:srgbClr val="2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6739128"/>
            <a:ext cx="11228832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</a:rPr>
              <a:t>以语义划分HAL · 以单一实现路径控制复杂度 · 以自动检查固化关键布局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8275320"/>
            <a:ext cx="3657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8B8B"/>
                </a:solidFill>
                <a:latin typeface="MiSans"/>
                <a:ea typeface="MiSans"/>
              </a:rPr>
              <a:t>2026年7月至8月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0" y="8229600"/>
            <a:ext cx="2697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450"/>
                </a:solidFill>
                <a:latin typeface="MiSans"/>
                <a:ea typeface="MiSans"/>
              </a:rPr>
              <a:t>谢谢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44600" y="8705088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8B8B"/>
                </a:solidFill>
                <a:latin typeface="MiSans"/>
                <a:ea typeface="MiSan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3932</Words>
  <Application>WPS 演示</Application>
  <PresentationFormat>On-screen Show (16:9)</PresentationFormat>
  <Paragraphs>400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Quattrocento Sans</vt:lpstr>
      <vt:lpstr>Segoe Print</vt:lpstr>
      <vt:lpstr>Quattrocento Sans</vt:lpstr>
      <vt:lpstr>Quattrocento Sans</vt:lpstr>
      <vt:lpstr>MiSans</vt:lpstr>
      <vt:lpstr>MiSans</vt:lpstr>
      <vt:lpstr>Liter</vt:lpstr>
      <vt:lpstr>Liter</vt:lpstr>
      <vt:lpstr>Liter</vt:lpstr>
      <vt:lpstr>MingLiU-ExtB</vt:lpstr>
      <vt:lpstr>Calibri</vt:lpstr>
      <vt:lpstr>Arial Unicode MS</vt:lpstr>
      <vt:lpstr>等线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xv6双架构HAL阶段工作总结</dc:title>
  <dc:creator>杨子游</dc:creator>
  <dc:subject>2026年7月至8月阶段汇报</dc:subject>
  <cp:lastModifiedBy>杨子游</cp:lastModifiedBy>
  <cp:revision>5</cp:revision>
  <dcterms:created xsi:type="dcterms:W3CDTF">2026-06-26T18:31:00Z</dcterms:created>
  <dcterms:modified xsi:type="dcterms:W3CDTF">2026-06-29T12:50:26Z</dcterms:modified>
  <dc:description>基于阶段报告模板和HAL阶段汇报文案生成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{"Label":"xv6 多文件系统支持 —— VFS + HAL 架构","ContentProducer":"001191110108MACG2KBH8F10000","ProduceID":"19f05331-73d2-8255-8000-0000e5aa1bf2","ReservedCode1":"","ContentPropagator":"001191110108MACG2KBH8F20000","PropagateID":"19f05272-9372-8f02-8000-09730828c452","ReservedCode2":""}</vt:lpwstr>
  </property>
  <property fmtid="{D5CDD505-2E9C-101B-9397-08002B2CF9AE}" pid="3" name="KSOProductBuildVer">
    <vt:lpwstr>2052-12.1.0.20305</vt:lpwstr>
  </property>
  <property fmtid="{D5CDD505-2E9C-101B-9397-08002B2CF9AE}" pid="4" name="ICV">
    <vt:lpwstr>5CEC2F96BC33436CA853A6BBAB65BBA6_12</vt:lpwstr>
  </property>
</Properties>
</file>