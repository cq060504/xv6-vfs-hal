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2" r:id="rId18"/>
  </p:sldIdLst>
  <p:sldSz cx="12192000" cy="6858000"/>
  <p:notesSz cx="12192000" cy="6858000"/>
  <p:embeddedFontLst>
    <p:embeddedFont>
      <p:font typeface="MiSans" charset="-122"/>
      <p:regular r:id="rId22"/>
    </p:embeddedFont>
    <p:embeddedFont>
      <p:font typeface="Consolas" panose="020B0609020204030204"/>
      <p:regular r:id="rId23"/>
      <p:bold r:id="rId24"/>
      <p:italic r:id="rId25"/>
      <p:boldItalic r:id="rId26"/>
    </p:embeddedFont>
    <p:embeddedFont>
      <p:font typeface="仿宋" panose="02010609060101010101" charset="-122"/>
      <p:regular r:id="rId27"/>
    </p:embeddedFont>
    <p:embeddedFont>
      <p:font typeface="微软雅黑" panose="020B0503020204020204" charset="-122"/>
      <p:regular r:id="rId28"/>
      <p:bold r:id="rId2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font" Target="fonts/font8.fntdata"/><Relationship Id="rId28" Type="http://schemas.openxmlformats.org/officeDocument/2006/relationships/font" Target="fonts/font7.fntdata"/><Relationship Id="rId27" Type="http://schemas.openxmlformats.org/officeDocument/2006/relationships/font" Target="fonts/font6.fntdata"/><Relationship Id="rId26" Type="http://schemas.openxmlformats.org/officeDocument/2006/relationships/font" Target="fonts/font5.fntdata"/><Relationship Id="rId25" Type="http://schemas.openxmlformats.org/officeDocument/2006/relationships/font" Target="fonts/font4.fntdata"/><Relationship Id="rId24" Type="http://schemas.openxmlformats.org/officeDocument/2006/relationships/font" Target="fonts/font3.fntdata"/><Relationship Id="rId23" Type="http://schemas.openxmlformats.org/officeDocument/2006/relationships/font" Target="fonts/font2.fntdata"/><Relationship Id="rId22" Type="http://schemas.openxmlformats.org/officeDocument/2006/relationships/font" Target="fonts/font1.fntdata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3" name="title"/>
          <p:cNvSpPr txBox="1"/>
          <p:nvPr/>
        </p:nvSpPr>
        <p:spPr>
          <a:xfrm>
            <a:off x="762000" y="1752600"/>
            <a:ext cx="106680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4000" b="1" noProof="1">
                <a:solidFill>
                  <a:srgbClr val="1F4E79"/>
                </a:solidFill>
                <a:latin typeface="MiSans" charset="-122"/>
                <a:ea typeface="MiSans" charset="-122"/>
              </a:rPr>
              <a:t>xv6 虚拟文件系统与硬件抽象层的设计与实现</a:t>
            </a:r>
            <a:endParaRPr lang="en-US" sz="4000" noProof="1"/>
          </a:p>
        </p:txBody>
      </p:sp>
      <p:sp>
        <p:nvSpPr>
          <p:cNvPr id="4" name="title-accent"/>
          <p:cNvSpPr/>
          <p:nvPr/>
        </p:nvSpPr>
        <p:spPr>
          <a:xfrm>
            <a:off x="5461000" y="3048000"/>
            <a:ext cx="1270000" cy="38100"/>
          </a:xfrm>
          <a:prstGeom prst="rect">
            <a:avLst/>
          </a:prstGeom>
          <a:solidFill>
            <a:srgbClr val="E36C0A"/>
          </a:solidFill>
          <a:ln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5" name="subtitle"/>
          <p:cNvSpPr txBox="1"/>
          <p:nvPr/>
        </p:nvSpPr>
        <p:spPr>
          <a:xfrm>
            <a:off x="762000" y="3276600"/>
            <a:ext cx="10668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noProof="1">
                <a:solidFill>
                  <a:srgbClr val="808080"/>
                </a:solidFill>
                <a:latin typeface="MiSans" charset="-122"/>
                <a:ea typeface="MiSans" charset="-122"/>
              </a:rPr>
              <a:t>2026 年全国大学生计算机系统能力大赛 · 操作系统设计赛（全国）· OS 功能挑战赛道</a:t>
            </a:r>
            <a:endParaRPr lang="en-US" sz="1600" noProof="1"/>
          </a:p>
        </p:txBody>
      </p:sp>
      <p:sp>
        <p:nvSpPr>
          <p:cNvPr id="6" name="statement"/>
          <p:cNvSpPr txBox="1"/>
          <p:nvPr/>
        </p:nvSpPr>
        <p:spPr>
          <a:xfrm>
            <a:off x="1143000" y="3848100"/>
            <a:ext cx="9906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endParaRPr lang="en-US" sz="1600" noProof="1"/>
          </a:p>
        </p:txBody>
      </p:sp>
      <p:sp>
        <p:nvSpPr>
          <p:cNvPr id="7" name="author-left"/>
          <p:cNvSpPr txBox="1"/>
          <p:nvPr/>
        </p:nvSpPr>
        <p:spPr>
          <a:xfrm>
            <a:off x="2286000" y="5435600"/>
            <a:ext cx="3556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600" noProof="1"/>
          </a:p>
        </p:txBody>
      </p:sp>
      <p:sp>
        <p:nvSpPr>
          <p:cNvPr id="8" name="author-divider"/>
          <p:cNvSpPr/>
          <p:nvPr/>
        </p:nvSpPr>
        <p:spPr>
          <a:xfrm>
            <a:off x="6070600" y="5486400"/>
            <a:ext cx="12700" cy="177800"/>
          </a:xfrm>
          <a:prstGeom prst="rect">
            <a:avLst/>
          </a:prstGeom>
          <a:solidFill>
            <a:srgbClr val="DCE6F0"/>
          </a:solidFill>
          <a:ln>
            <a:noFill/>
          </a:ln>
        </p:spPr>
      </p:sp>
      <p:sp>
        <p:nvSpPr>
          <p:cNvPr id="9" name="author-right"/>
          <p:cNvSpPr txBox="1"/>
          <p:nvPr/>
        </p:nvSpPr>
        <p:spPr>
          <a:xfrm>
            <a:off x="6350000" y="5435600"/>
            <a:ext cx="3556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6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3" name="seclabel"/>
          <p:cNvSpPr txBox="1"/>
          <p:nvPr/>
        </p:nvSpPr>
        <p:spPr>
          <a:xfrm>
            <a:off x="584200" y="279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noProof="1">
                <a:solidFill>
                  <a:srgbClr val="E36C0A"/>
                </a:solidFill>
                <a:latin typeface="MiSans" charset="-122"/>
                <a:ea typeface="MiSans" charset="-122"/>
              </a:rPr>
              <a:t>▍</a:t>
            </a:r>
            <a:r>
              <a:rPr lang="en-US" sz="1100" noProof="1">
                <a:solidFill>
                  <a:srgbClr val="808080"/>
                </a:solidFill>
                <a:latin typeface="MiSans" charset="-122"/>
                <a:ea typeface="MiSans" charset="-122"/>
              </a:rPr>
              <a:t>背景 · 问题与需求</a:t>
            </a:r>
            <a:endParaRPr lang="en-US" sz="1600" noProof="1"/>
          </a:p>
        </p:txBody>
      </p:sp>
      <p:sp>
        <p:nvSpPr>
          <p:cNvPr id="4" name="title"/>
          <p:cNvSpPr txBox="1"/>
          <p:nvPr/>
        </p:nvSpPr>
        <p:spPr>
          <a:xfrm>
            <a:off x="584200" y="533400"/>
            <a:ext cx="10160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 noProof="1">
                <a:solidFill>
                  <a:srgbClr val="1F4E79"/>
                </a:solidFill>
                <a:latin typeface="MiSans" charset="-122"/>
                <a:ea typeface="MiSans" charset="-122"/>
              </a:rPr>
              <a:t>问题背景：教学内核的两大局限</a:t>
            </a:r>
            <a:endParaRPr lang="en-US" sz="2400" noProof="1"/>
          </a:p>
        </p:txBody>
      </p:sp>
      <p:sp>
        <p:nvSpPr>
          <p:cNvPr id="5" name="titleline"/>
          <p:cNvSpPr/>
          <p:nvPr/>
        </p:nvSpPr>
        <p:spPr>
          <a:xfrm>
            <a:off x="584200" y="1066800"/>
            <a:ext cx="11023600" cy="12700"/>
          </a:xfrm>
          <a:prstGeom prst="rect">
            <a:avLst/>
          </a:prstGeom>
          <a:solidFill>
            <a:srgbClr val="DCE6F0"/>
          </a:solidFill>
          <a:ln>
            <a:noFill/>
          </a:ln>
        </p:spPr>
      </p:sp>
      <p:sp>
        <p:nvSpPr>
          <p:cNvPr id="6" name="card-left"/>
          <p:cNvSpPr/>
          <p:nvPr/>
        </p:nvSpPr>
        <p:spPr>
          <a:xfrm>
            <a:off x="584200" y="1422400"/>
            <a:ext cx="5029200" cy="3759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7" name="card-left-title"/>
          <p:cNvSpPr txBox="1"/>
          <p:nvPr/>
        </p:nvSpPr>
        <p:spPr>
          <a:xfrm>
            <a:off x="914400" y="1676400"/>
            <a:ext cx="4368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 noProof="1">
                <a:solidFill>
                  <a:srgbClr val="333333"/>
                </a:solidFill>
                <a:latin typeface="MiSans" charset="-122"/>
                <a:ea typeface="MiSans" charset="-122"/>
              </a:rPr>
              <a:t>原版 xv6</a:t>
            </a:r>
            <a:endParaRPr lang="en-US" sz="2000" b="1" noProof="1">
              <a:solidFill>
                <a:srgbClr val="333333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8" name="card-left-body"/>
          <p:cNvSpPr txBox="1"/>
          <p:nvPr/>
        </p:nvSpPr>
        <p:spPr>
          <a:xfrm>
            <a:off x="914400" y="2159000"/>
            <a:ext cx="4368800" cy="274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250" noProof="1">
                <a:solidFill>
                  <a:srgbClr val="333333"/>
                </a:solidFill>
                <a:latin typeface="MiSans" charset="-122"/>
                <a:ea typeface="MiSans" charset="-122"/>
              </a:rPr>
              <a:t> </a:t>
            </a:r>
            <a:r>
              <a:rPr lang="en-US" sz="1600" b="1" noProof="1">
                <a:solidFill>
                  <a:srgbClr val="333333"/>
                </a:solidFill>
                <a:latin typeface="MiSans" charset="-122"/>
                <a:ea typeface="MiSans" charset="-122"/>
              </a:rPr>
              <a:t>单一文件系统</a:t>
            </a:r>
            <a:r>
              <a:rPr lang="en-US" sz="1600" noProof="1">
                <a:solidFill>
                  <a:srgbClr val="333333"/>
                </a:solidFill>
                <a:latin typeface="MiSans" charset="-122"/>
                <a:ea typeface="MiSans" charset="-122"/>
              </a:rPr>
              <a:t>：namei 内联调用 dirlookup，只认原生 inode，无法遍历 ext2 / FAT32 目录</a:t>
            </a:r>
            <a:endParaRPr lang="en-US" sz="1600" noProof="1"/>
          </a:p>
          <a:p>
            <a:pPr>
              <a:lnSpc>
                <a:spcPct val="160000"/>
              </a:lnSpc>
              <a:spcBef>
                <a:spcPts val="1800"/>
              </a:spcBef>
            </a:pPr>
            <a:r>
              <a:rPr lang="en-US" sz="1600" noProof="1">
                <a:solidFill>
                  <a:srgbClr val="333333"/>
                </a:solidFill>
                <a:latin typeface="MiSans" charset="-122"/>
                <a:ea typeface="MiSans" charset="-122"/>
              </a:rPr>
              <a:t> </a:t>
            </a:r>
            <a:r>
              <a:rPr lang="en-US" sz="1600" b="1" noProof="1">
                <a:solidFill>
                  <a:srgbClr val="333333"/>
                </a:solidFill>
                <a:latin typeface="MiSans" charset="-122"/>
                <a:ea typeface="MiSans" charset="-122"/>
              </a:rPr>
              <a:t>单一 CPU</a:t>
            </a:r>
            <a:r>
              <a:rPr lang="en-US" sz="1600" noProof="1">
                <a:solidFill>
                  <a:srgbClr val="333333"/>
                </a:solidFill>
                <a:latin typeface="MiSans" charset="-122"/>
                <a:ea typeface="MiSans" charset="-122"/>
              </a:rPr>
              <a:t>：内核与 RISC-V 架构强耦合</a:t>
            </a:r>
            <a:endParaRPr lang="en-US" sz="1600" noProof="1"/>
          </a:p>
        </p:txBody>
      </p:sp>
      <p:sp>
        <p:nvSpPr>
          <p:cNvPr id="9" name="arrow-mid"/>
          <p:cNvSpPr/>
          <p:nvPr/>
        </p:nvSpPr>
        <p:spPr>
          <a:xfrm>
            <a:off x="5740400" y="2946400"/>
            <a:ext cx="711200" cy="533400"/>
          </a:xfrm>
          <a:prstGeom prst="rightArrow">
            <a:avLst>
              <a:gd name="adj1" fmla="val 50000"/>
              <a:gd name="adj2" fmla="val 42000"/>
            </a:avLst>
          </a:prstGeom>
          <a:solidFill>
            <a:srgbClr val="E36C0A"/>
          </a:solidFill>
          <a:ln>
            <a:noFill/>
          </a:ln>
        </p:spPr>
      </p:sp>
      <p:sp>
        <p:nvSpPr>
          <p:cNvPr id="10" name="arrow-label"/>
          <p:cNvSpPr txBox="1"/>
          <p:nvPr/>
        </p:nvSpPr>
        <p:spPr>
          <a:xfrm>
            <a:off x="5613400" y="3581400"/>
            <a:ext cx="9652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E36C0A"/>
                </a:solidFill>
                <a:latin typeface="MiSans" charset="-122"/>
                <a:ea typeface="MiSans" charset="-122"/>
              </a:rPr>
              <a:t>扩充</a:t>
            </a:r>
            <a:endParaRPr lang="en-US" sz="1600" noProof="1"/>
          </a:p>
        </p:txBody>
      </p:sp>
      <p:sp>
        <p:nvSpPr>
          <p:cNvPr id="11" name="card-right"/>
          <p:cNvSpPr/>
          <p:nvPr/>
        </p:nvSpPr>
        <p:spPr>
          <a:xfrm>
            <a:off x="6578600" y="1422400"/>
            <a:ext cx="5029200" cy="3759200"/>
          </a:xfrm>
          <a:prstGeom prst="roundRect">
            <a:avLst>
              <a:gd name="adj" fmla="val 6000"/>
            </a:avLst>
          </a:prstGeom>
          <a:solidFill>
            <a:srgbClr val="EAF2FA"/>
          </a:solidFill>
          <a:ln>
            <a:noFill/>
          </a:ln>
        </p:spPr>
      </p:sp>
      <p:sp>
        <p:nvSpPr>
          <p:cNvPr id="12" name="card-right-title"/>
          <p:cNvSpPr txBox="1"/>
          <p:nvPr/>
        </p:nvSpPr>
        <p:spPr>
          <a:xfrm>
            <a:off x="6908800" y="1676400"/>
            <a:ext cx="4368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 noProof="1">
                <a:solidFill>
                  <a:srgbClr val="1F4E79"/>
                </a:solidFill>
                <a:latin typeface="MiSans" charset="-122"/>
                <a:ea typeface="MiSans" charset="-122"/>
              </a:rPr>
              <a:t>赛题要求</a:t>
            </a:r>
            <a:endParaRPr lang="en-US" sz="2000" b="1" noProof="1">
              <a:solidFill>
                <a:srgbClr val="1F4E79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13" name="card-right-body"/>
          <p:cNvSpPr txBox="1"/>
          <p:nvPr/>
        </p:nvSpPr>
        <p:spPr>
          <a:xfrm>
            <a:off x="6908800" y="2159000"/>
            <a:ext cx="4368800" cy="274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250" noProof="1">
                <a:solidFill>
                  <a:srgbClr val="333333"/>
                </a:solidFill>
                <a:latin typeface="MiSans" charset="-122"/>
                <a:ea typeface="MiSans" charset="-122"/>
              </a:rPr>
              <a:t> </a:t>
            </a:r>
            <a:r>
              <a:rPr lang="en-US" sz="1600" noProof="1">
                <a:solidFill>
                  <a:srgbClr val="333333"/>
                </a:solidFill>
                <a:latin typeface="MiSans" charset="-122"/>
                <a:ea typeface="MiSans" charset="-122"/>
              </a:rPr>
              <a:t>同时支持 </a:t>
            </a:r>
            <a:r>
              <a:rPr lang="en-US" sz="1600" b="1" noProof="1">
                <a:solidFill>
                  <a:srgbClr val="333333"/>
                </a:solidFill>
                <a:latin typeface="MiSans" charset="-122"/>
                <a:ea typeface="MiSans" charset="-122"/>
              </a:rPr>
              <a:t>xv6fs / ext2 / FAT32</a:t>
            </a:r>
            <a:r>
              <a:rPr lang="en-US" sz="1600" noProof="1">
                <a:solidFill>
                  <a:srgbClr val="333333"/>
                </a:solidFill>
                <a:latin typeface="MiSans" charset="-122"/>
                <a:ea typeface="MiSans" charset="-122"/>
              </a:rPr>
              <a:t> 三个文件系统</a:t>
            </a:r>
            <a:endParaRPr lang="en-US" sz="1600" noProof="1"/>
          </a:p>
          <a:p>
            <a:pPr>
              <a:lnSpc>
                <a:spcPct val="160000"/>
              </a:lnSpc>
              <a:spcBef>
                <a:spcPts val="1800"/>
              </a:spcBef>
            </a:pPr>
            <a:r>
              <a:rPr lang="en-US" sz="1600" noProof="1">
                <a:solidFill>
                  <a:srgbClr val="333333"/>
                </a:solidFill>
                <a:latin typeface="MiSans" charset="-122"/>
                <a:ea typeface="MiSans" charset="-122"/>
              </a:rPr>
              <a:t> 同时支持 </a:t>
            </a:r>
            <a:r>
              <a:rPr lang="en-US" sz="1600" b="1" noProof="1">
                <a:solidFill>
                  <a:srgbClr val="333333"/>
                </a:solidFill>
                <a:latin typeface="MiSans" charset="-122"/>
                <a:ea typeface="MiSans" charset="-122"/>
              </a:rPr>
              <a:t>RISC-V / LoongArch</a:t>
            </a:r>
            <a:r>
              <a:rPr lang="en-US" sz="1600" noProof="1">
                <a:solidFill>
                  <a:srgbClr val="333333"/>
                </a:solidFill>
                <a:latin typeface="MiSans" charset="-122"/>
                <a:ea typeface="MiSans" charset="-122"/>
              </a:rPr>
              <a:t> 双平台</a:t>
            </a:r>
            <a:endParaRPr lang="en-US" sz="1600" noProof="1"/>
          </a:p>
        </p:txBody>
      </p:sp>
      <p:sp>
        <p:nvSpPr>
          <p:cNvPr id="14" name="hl-line"/>
          <p:cNvSpPr/>
          <p:nvPr/>
        </p:nvSpPr>
        <p:spPr>
          <a:xfrm>
            <a:off x="584200" y="6223000"/>
            <a:ext cx="11023600" cy="25400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15" name="hl-text"/>
          <p:cNvSpPr txBox="1"/>
          <p:nvPr/>
        </p:nvSpPr>
        <p:spPr>
          <a:xfrm>
            <a:off x="2540000" y="6324600"/>
            <a:ext cx="9067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endParaRPr lang="en-US" sz="1600" noProof="1"/>
          </a:p>
        </p:txBody>
      </p:sp>
      <p:sp>
        <p:nvSpPr>
          <p:cNvPr id="16" name="pagenum"/>
          <p:cNvSpPr txBox="1"/>
          <p:nvPr/>
        </p:nvSpPr>
        <p:spPr>
          <a:xfrm>
            <a:off x="5588000" y="6426835"/>
            <a:ext cx="1016000" cy="3549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>
                <a:solidFill>
                  <a:srgbClr val="808080"/>
                </a:solidFill>
                <a:latin typeface="MiSans" charset="-122"/>
                <a:ea typeface="MiSans" charset="-122"/>
              </a:rPr>
              <a:t>02</a:t>
            </a:r>
            <a:endParaRPr lang="en-US" sz="12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3" name="seclabel"/>
          <p:cNvSpPr txBox="1"/>
          <p:nvPr/>
        </p:nvSpPr>
        <p:spPr>
          <a:xfrm>
            <a:off x="584200" y="279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noProof="1">
                <a:solidFill>
                  <a:srgbClr val="E36C0A"/>
                </a:solidFill>
                <a:latin typeface="MiSans" charset="-122"/>
                <a:ea typeface="MiSans" charset="-122"/>
              </a:rPr>
              <a:t>▍</a:t>
            </a:r>
            <a:r>
              <a:rPr lang="en-US" sz="1100" noProof="1">
                <a:solidFill>
                  <a:srgbClr val="808080"/>
                </a:solidFill>
                <a:latin typeface="MiSans" charset="-122"/>
                <a:ea typeface="MiSans" charset="-122"/>
              </a:rPr>
              <a:t>目标 · 功能清单</a:t>
            </a:r>
            <a:endParaRPr lang="en-US" sz="1600" noProof="1"/>
          </a:p>
        </p:txBody>
      </p:sp>
      <p:sp>
        <p:nvSpPr>
          <p:cNvPr id="4" name="title"/>
          <p:cNvSpPr txBox="1"/>
          <p:nvPr/>
        </p:nvSpPr>
        <p:spPr>
          <a:xfrm>
            <a:off x="584200" y="533400"/>
            <a:ext cx="10160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 noProof="1">
                <a:solidFill>
                  <a:srgbClr val="1F4E79"/>
                </a:solidFill>
                <a:latin typeface="MiSans" charset="-122"/>
                <a:ea typeface="MiSans" charset="-122"/>
              </a:rPr>
              <a:t>项目目标与功能矩阵</a:t>
            </a:r>
            <a:endParaRPr lang="en-US" sz="2400" noProof="1"/>
          </a:p>
        </p:txBody>
      </p:sp>
      <p:sp>
        <p:nvSpPr>
          <p:cNvPr id="5" name="titleline"/>
          <p:cNvSpPr/>
          <p:nvPr/>
        </p:nvSpPr>
        <p:spPr>
          <a:xfrm>
            <a:off x="584200" y="1066800"/>
            <a:ext cx="11023600" cy="12700"/>
          </a:xfrm>
          <a:prstGeom prst="rect">
            <a:avLst/>
          </a:prstGeom>
          <a:solidFill>
            <a:srgbClr val="DCE6F0"/>
          </a:solidFill>
          <a:ln>
            <a:noFill/>
          </a:ln>
        </p:spPr>
      </p:sp>
      <p:sp>
        <p:nvSpPr>
          <p:cNvPr id="6" name="goals-title"/>
          <p:cNvSpPr txBox="1"/>
          <p:nvPr/>
        </p:nvSpPr>
        <p:spPr>
          <a:xfrm>
            <a:off x="584200" y="12954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 noProof="1">
                <a:solidFill>
                  <a:srgbClr val="1F4E79"/>
                </a:solidFill>
                <a:latin typeface="MiSans" charset="-122"/>
                <a:ea typeface="MiSans" charset="-122"/>
              </a:rPr>
              <a:t>五大目标</a:t>
            </a:r>
            <a:endParaRPr lang="en-US" sz="2000" noProof="1"/>
          </a:p>
        </p:txBody>
      </p:sp>
      <p:sp>
        <p:nvSpPr>
          <p:cNvPr id="7" name="goals-body"/>
          <p:cNvSpPr txBox="1"/>
          <p:nvPr/>
        </p:nvSpPr>
        <p:spPr>
          <a:xfrm>
            <a:off x="584200" y="1676400"/>
            <a:ext cx="558800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225000"/>
              </a:lnSpc>
            </a:pPr>
            <a:r>
              <a:rPr lang="en-US" sz="1600" noProof="1">
                <a:solidFill>
                  <a:srgbClr val="333333"/>
                </a:solidFill>
                <a:latin typeface="MiSans" charset="-122"/>
                <a:ea typeface="MiSans" charset="-122"/>
              </a:rPr>
              <a:t> </a:t>
            </a:r>
            <a:r>
              <a:rPr lang="en-US" sz="1600" b="1" noProof="1">
                <a:solidFill>
                  <a:srgbClr val="333333"/>
                </a:solidFill>
                <a:latin typeface="MiSans" charset="-122"/>
                <a:ea typeface="MiSans" charset="-122"/>
              </a:rPr>
              <a:t>G1</a:t>
            </a:r>
            <a:r>
              <a:rPr lang="en-US" sz="1600" noProof="1">
                <a:solidFill>
                  <a:srgbClr val="333333"/>
                </a:solidFill>
                <a:latin typeface="MiSans" charset="-122"/>
                <a:ea typeface="MiSans" charset="-122"/>
              </a:rPr>
              <a:t>　同时支持 3 种文件系统（xv6fs / ext2 / FAT32）</a:t>
            </a:r>
            <a:endParaRPr lang="en-US" sz="1600" noProof="1"/>
          </a:p>
          <a:p>
            <a:pPr>
              <a:lnSpc>
                <a:spcPct val="225000"/>
              </a:lnSpc>
              <a:spcBef>
                <a:spcPts val="1400"/>
              </a:spcBef>
            </a:pPr>
            <a:r>
              <a:rPr lang="en-US" sz="1600" noProof="1">
                <a:solidFill>
                  <a:srgbClr val="333333"/>
                </a:solidFill>
                <a:latin typeface="MiSans" charset="-122"/>
                <a:ea typeface="MiSans" charset="-122"/>
              </a:rPr>
              <a:t> </a:t>
            </a:r>
            <a:r>
              <a:rPr lang="en-US" sz="1600" b="1" noProof="1">
                <a:solidFill>
                  <a:srgbClr val="333333"/>
                </a:solidFill>
                <a:latin typeface="MiSans" charset="-122"/>
                <a:ea typeface="MiSans" charset="-122"/>
              </a:rPr>
              <a:t>G2</a:t>
            </a:r>
            <a:r>
              <a:rPr lang="en-US" sz="1600" noProof="1">
                <a:solidFill>
                  <a:srgbClr val="333333"/>
                </a:solidFill>
                <a:latin typeface="MiSans" charset="-122"/>
                <a:ea typeface="MiSans" charset="-122"/>
              </a:rPr>
              <a:t>　同时支持 2 种 CPU 架构（RISC-V / LoongArch）</a:t>
            </a:r>
            <a:endParaRPr lang="en-US" sz="1600" noProof="1"/>
          </a:p>
          <a:p>
            <a:pPr>
              <a:lnSpc>
                <a:spcPct val="225000"/>
              </a:lnSpc>
              <a:spcBef>
                <a:spcPts val="1400"/>
              </a:spcBef>
            </a:pPr>
            <a:r>
              <a:rPr lang="en-US" sz="1600" noProof="1">
                <a:solidFill>
                  <a:srgbClr val="333333"/>
                </a:solidFill>
                <a:latin typeface="MiSans" charset="-122"/>
                <a:ea typeface="MiSans" charset="-122"/>
              </a:rPr>
              <a:t> </a:t>
            </a:r>
            <a:r>
              <a:rPr lang="en-US" sz="1600" b="1" noProof="1">
                <a:solidFill>
                  <a:srgbClr val="333333"/>
                </a:solidFill>
                <a:latin typeface="MiSans" charset="-122"/>
                <a:ea typeface="MiSans" charset="-122"/>
              </a:rPr>
              <a:t>G3</a:t>
            </a:r>
            <a:r>
              <a:rPr lang="en-US" sz="1600" noProof="1">
                <a:solidFill>
                  <a:srgbClr val="333333"/>
                </a:solidFill>
                <a:latin typeface="MiSans" charset="-122"/>
                <a:ea typeface="MiSans" charset="-122"/>
              </a:rPr>
              <a:t>　通过全部测例（usertests + 赛方测例 + 自定义综合测试）</a:t>
            </a:r>
            <a:endParaRPr lang="en-US" sz="1600" noProof="1"/>
          </a:p>
          <a:p>
            <a:pPr>
              <a:lnSpc>
                <a:spcPct val="225000"/>
              </a:lnSpc>
              <a:spcBef>
                <a:spcPts val="1400"/>
              </a:spcBef>
            </a:pPr>
            <a:r>
              <a:rPr lang="en-US" sz="1600" noProof="1">
                <a:solidFill>
                  <a:srgbClr val="333333"/>
                </a:solidFill>
                <a:latin typeface="MiSans" charset="-122"/>
                <a:ea typeface="MiSans" charset="-122"/>
              </a:rPr>
              <a:t> </a:t>
            </a:r>
            <a:r>
              <a:rPr lang="en-US" sz="1600" b="1" noProof="1">
                <a:solidFill>
                  <a:srgbClr val="333333"/>
                </a:solidFill>
                <a:latin typeface="MiSans" charset="-122"/>
                <a:ea typeface="MiSans" charset="-122"/>
              </a:rPr>
              <a:t>G4</a:t>
            </a:r>
            <a:r>
              <a:rPr lang="en-US" sz="1600" noProof="1">
                <a:solidFill>
                  <a:srgbClr val="333333"/>
                </a:solidFill>
                <a:latin typeface="MiSans" charset="-122"/>
                <a:ea typeface="MiSans" charset="-122"/>
              </a:rPr>
              <a:t>　代码尽量少（VFS 仅 695 行，复用 xv6 成熟路径）</a:t>
            </a:r>
            <a:endParaRPr lang="en-US" sz="1600" noProof="1"/>
          </a:p>
          <a:p>
            <a:pPr>
              <a:lnSpc>
                <a:spcPct val="225000"/>
              </a:lnSpc>
              <a:spcBef>
                <a:spcPts val="1400"/>
              </a:spcBef>
            </a:pPr>
            <a:r>
              <a:rPr lang="en-US" sz="1600" noProof="1">
                <a:solidFill>
                  <a:srgbClr val="333333"/>
                </a:solidFill>
                <a:latin typeface="MiSans" charset="-122"/>
                <a:ea typeface="MiSans" charset="-122"/>
              </a:rPr>
              <a:t> </a:t>
            </a:r>
            <a:r>
              <a:rPr lang="en-US" sz="1600" b="1" noProof="1">
                <a:solidFill>
                  <a:srgbClr val="333333"/>
                </a:solidFill>
                <a:latin typeface="MiSans" charset="-122"/>
                <a:ea typeface="MiSans" charset="-122"/>
              </a:rPr>
              <a:t>G5</a:t>
            </a:r>
            <a:r>
              <a:rPr lang="en-US" sz="1600" noProof="1">
                <a:solidFill>
                  <a:srgbClr val="333333"/>
                </a:solidFill>
                <a:latin typeface="MiSans" charset="-122"/>
                <a:ea typeface="MiSans" charset="-122"/>
              </a:rPr>
              <a:t>　运行稳定（无 panic、无泄漏、并发安全）</a:t>
            </a:r>
            <a:endParaRPr lang="en-US" sz="1600" noProof="1"/>
          </a:p>
        </p:txBody>
      </p:sp>
      <p:sp>
        <p:nvSpPr>
          <p:cNvPr id="8" name="matrix-title"/>
          <p:cNvSpPr txBox="1"/>
          <p:nvPr/>
        </p:nvSpPr>
        <p:spPr>
          <a:xfrm>
            <a:off x="6604000" y="1295400"/>
            <a:ext cx="50038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 noProof="1">
                <a:solidFill>
                  <a:srgbClr val="1F4E79"/>
                </a:solidFill>
                <a:latin typeface="MiSans" charset="-122"/>
                <a:ea typeface="MiSans" charset="-122"/>
              </a:rPr>
              <a:t>功能矩阵</a:t>
            </a:r>
            <a:endParaRPr lang="en-US" sz="2000" b="1" noProof="1">
              <a:solidFill>
                <a:srgbClr val="1F4E79"/>
              </a:solidFill>
              <a:latin typeface="MiSans" charset="-122"/>
              <a:ea typeface="MiSans" charset="-122"/>
            </a:endParaRPr>
          </a:p>
        </p:txBody>
      </p:sp>
      <p:graphicFrame>
        <p:nvGraphicFramePr>
          <p:cNvPr id="9" name="matrix-table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6604000" y="1676400"/>
          <a:ext cx="5230495" cy="3383280"/>
        </p:xfrm>
        <a:graphic>
          <a:graphicData uri="http://schemas.openxmlformats.org/drawingml/2006/table">
            <a:tbl>
              <a:tblPr/>
              <a:tblGrid>
                <a:gridCol w="2092325"/>
                <a:gridCol w="1569085"/>
                <a:gridCol w="1569085"/>
              </a:tblGrid>
              <a:tr h="845820">
                <a:tc>
                  <a:txBody>
                    <a:bodyPr wrap="square" rtlCol="0"/>
                    <a:lstStyle/>
                    <a:p>
                      <a:pPr algn="ctr"/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150" b="1" noProof="1">
                          <a:solidFill>
                            <a:srgbClr val="FFFFFF"/>
                          </a:solidFill>
                          <a:latin typeface="MiSans" charset="-122"/>
                          <a:ea typeface="MiSans" charset="-122"/>
                        </a:rPr>
                        <a:t>RISC-V</a:t>
                      </a:r>
                      <a:endParaRPr lang="en-US" sz="1150" b="1" noProof="1">
                        <a:solidFill>
                          <a:srgbClr val="FFFFFF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150" b="1" noProof="1">
                          <a:solidFill>
                            <a:srgbClr val="FFFFFF"/>
                          </a:solidFill>
                          <a:latin typeface="MiSans" charset="-122"/>
                          <a:ea typeface="MiSans" charset="-122"/>
                        </a:rPr>
                        <a:t>LoongArch</a:t>
                      </a:r>
                      <a:endParaRPr lang="en-US" sz="1150" b="1" noProof="1">
                        <a:solidFill>
                          <a:srgbClr val="FFFFFF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1F4E79"/>
                    </a:solidFill>
                  </a:tcPr>
                </a:tc>
              </a:tr>
              <a:tr h="845820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600" b="1" noProof="1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</a:rPr>
                        <a:t>xv6fs</a:t>
                      </a:r>
                      <a:endParaRPr lang="en-US" sz="1600" b="1" noProof="1">
                        <a:solidFill>
                          <a:srgbClr val="333333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600" b="1" noProof="1">
                          <a:solidFill>
                            <a:srgbClr val="2E7D32"/>
                          </a:solidFill>
                          <a:latin typeface="MiSans" charset="-122"/>
                          <a:ea typeface="MiSans" charset="-122"/>
                        </a:rPr>
                        <a:t>✓</a:t>
                      </a:r>
                      <a:endParaRPr lang="en-US" sz="1600" b="1" noProof="1">
                        <a:solidFill>
                          <a:srgbClr val="2E7D32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600" b="1" noProof="1">
                          <a:solidFill>
                            <a:srgbClr val="2E7D32"/>
                          </a:solidFill>
                          <a:latin typeface="MiSans" charset="-122"/>
                          <a:ea typeface="MiSans" charset="-122"/>
                        </a:rPr>
                        <a:t>✓</a:t>
                      </a:r>
                      <a:endParaRPr lang="en-US" sz="1600" b="1" noProof="1">
                        <a:solidFill>
                          <a:srgbClr val="2E7D32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45820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600" b="1" noProof="1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</a:rPr>
                        <a:t>ext2</a:t>
                      </a:r>
                      <a:endParaRPr lang="en-US" sz="1600" b="1" noProof="1">
                        <a:solidFill>
                          <a:srgbClr val="333333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600" b="1" noProof="1">
                          <a:solidFill>
                            <a:srgbClr val="2E7D32"/>
                          </a:solidFill>
                          <a:latin typeface="MiSans" charset="-122"/>
                          <a:ea typeface="MiSans" charset="-122"/>
                        </a:rPr>
                        <a:t>✓</a:t>
                      </a:r>
                      <a:endParaRPr lang="en-US" sz="1600" b="1" noProof="1">
                        <a:solidFill>
                          <a:srgbClr val="2E7D32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600" b="1" noProof="1">
                          <a:solidFill>
                            <a:srgbClr val="2E7D32"/>
                          </a:solidFill>
                          <a:latin typeface="MiSans" charset="-122"/>
                          <a:ea typeface="MiSans" charset="-122"/>
                        </a:rPr>
                        <a:t>✓</a:t>
                      </a:r>
                      <a:endParaRPr lang="en-US" sz="1600" b="1" noProof="1">
                        <a:solidFill>
                          <a:srgbClr val="2E7D32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EAF2FA"/>
                    </a:solidFill>
                  </a:tcPr>
                </a:tc>
              </a:tr>
              <a:tr h="845820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600" b="1" noProof="1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</a:rPr>
                        <a:t>FAT32</a:t>
                      </a:r>
                      <a:endParaRPr lang="en-US" sz="1600" b="1" noProof="1">
                        <a:solidFill>
                          <a:srgbClr val="333333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600" b="1" noProof="1">
                          <a:solidFill>
                            <a:srgbClr val="2E7D32"/>
                          </a:solidFill>
                          <a:latin typeface="MiSans" charset="-122"/>
                          <a:ea typeface="MiSans" charset="-122"/>
                        </a:rPr>
                        <a:t>✓</a:t>
                      </a:r>
                      <a:endParaRPr lang="en-US" sz="1600" b="1" noProof="1">
                        <a:solidFill>
                          <a:srgbClr val="2E7D32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600" b="1" noProof="1">
                          <a:solidFill>
                            <a:srgbClr val="2E7D32"/>
                          </a:solidFill>
                          <a:latin typeface="MiSans" charset="-122"/>
                          <a:ea typeface="MiSans" charset="-122"/>
                        </a:rPr>
                        <a:t>✓</a:t>
                      </a:r>
                      <a:endParaRPr lang="en-US" sz="1600" b="1" noProof="1">
                        <a:solidFill>
                          <a:srgbClr val="2E7D32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matrix-note"/>
          <p:cNvSpPr txBox="1"/>
          <p:nvPr/>
        </p:nvSpPr>
        <p:spPr>
          <a:xfrm>
            <a:off x="6560185" y="5245735"/>
            <a:ext cx="5003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050" noProof="1">
                <a:solidFill>
                  <a:srgbClr val="808080"/>
                </a:solidFill>
                <a:latin typeface="MiSans" charset="-122"/>
                <a:ea typeface="MiSans" charset="-122"/>
              </a:rPr>
              <a:t>  3 种文件系统 × 2 种平台，全部通过对应测试</a:t>
            </a:r>
            <a:endParaRPr lang="en-US" sz="1050" noProof="1"/>
          </a:p>
        </p:txBody>
      </p:sp>
      <p:sp>
        <p:nvSpPr>
          <p:cNvPr id="11" name="duty-line"/>
          <p:cNvSpPr txBox="1"/>
          <p:nvPr/>
        </p:nvSpPr>
        <p:spPr>
          <a:xfrm>
            <a:off x="584200" y="5638800"/>
            <a:ext cx="110236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600" noProof="1"/>
          </a:p>
        </p:txBody>
      </p:sp>
      <p:sp>
        <p:nvSpPr>
          <p:cNvPr id="12" name="hl-line"/>
          <p:cNvSpPr/>
          <p:nvPr/>
        </p:nvSpPr>
        <p:spPr>
          <a:xfrm>
            <a:off x="584200" y="6223000"/>
            <a:ext cx="11023600" cy="25400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13" name="hl-text"/>
          <p:cNvSpPr txBox="1"/>
          <p:nvPr/>
        </p:nvSpPr>
        <p:spPr>
          <a:xfrm>
            <a:off x="2540000" y="6324600"/>
            <a:ext cx="9067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endParaRPr lang="en-US" sz="1600" noProof="1"/>
          </a:p>
        </p:txBody>
      </p:sp>
      <p:sp>
        <p:nvSpPr>
          <p:cNvPr id="14" name="pagenum"/>
          <p:cNvSpPr txBox="1"/>
          <p:nvPr/>
        </p:nvSpPr>
        <p:spPr>
          <a:xfrm>
            <a:off x="5588000" y="6629400"/>
            <a:ext cx="1016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808080"/>
                </a:solidFill>
                <a:latin typeface="MiSans" charset="-122"/>
                <a:ea typeface="MiSans" charset="-122"/>
              </a:rPr>
              <a:t>03</a:t>
            </a:r>
            <a:endParaRPr lang="en-US" sz="16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/>
          <p:cNvPicPr/>
          <p:nvPr/>
        </p:nvPicPr>
        <p:blipFill>
          <a:blip r:embed="rId1"/>
          <a:stretch>
            <a:fillRect/>
          </a:stretch>
        </p:blipFill>
        <p:spPr>
          <a:xfrm>
            <a:off x="134620" y="55245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3" name="seclabel"/>
          <p:cNvSpPr txBox="1"/>
          <p:nvPr/>
        </p:nvSpPr>
        <p:spPr>
          <a:xfrm>
            <a:off x="584200" y="279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noProof="1">
                <a:solidFill>
                  <a:srgbClr val="E36C0A"/>
                </a:solidFill>
                <a:latin typeface="MiSans" charset="-122"/>
                <a:ea typeface="MiSans" charset="-122"/>
              </a:rPr>
              <a:t>▍</a:t>
            </a:r>
            <a:r>
              <a:rPr lang="en-US" sz="1100" noProof="1">
                <a:solidFill>
                  <a:srgbClr val="808080"/>
                </a:solidFill>
                <a:latin typeface="MiSans" charset="-122"/>
                <a:ea typeface="MiSans" charset="-122"/>
              </a:rPr>
              <a:t>架构 · 总览</a:t>
            </a:r>
            <a:endParaRPr lang="en-US" sz="1600" noProof="1"/>
          </a:p>
        </p:txBody>
      </p:sp>
      <p:sp>
        <p:nvSpPr>
          <p:cNvPr id="4" name="title"/>
          <p:cNvSpPr txBox="1"/>
          <p:nvPr/>
        </p:nvSpPr>
        <p:spPr>
          <a:xfrm>
            <a:off x="584200" y="533400"/>
            <a:ext cx="10160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 noProof="1">
                <a:solidFill>
                  <a:srgbClr val="1F4E79"/>
                </a:solidFill>
                <a:latin typeface="MiSans" charset="-122"/>
                <a:ea typeface="MiSans" charset="-122"/>
              </a:rPr>
              <a:t>总体架构：两条正交的扩展线</a:t>
            </a:r>
            <a:endParaRPr lang="en-US" sz="2400" noProof="1"/>
          </a:p>
        </p:txBody>
      </p:sp>
      <p:sp>
        <p:nvSpPr>
          <p:cNvPr id="5" name="titleline"/>
          <p:cNvSpPr/>
          <p:nvPr/>
        </p:nvSpPr>
        <p:spPr>
          <a:xfrm>
            <a:off x="786765" y="1066800"/>
            <a:ext cx="11023600" cy="12700"/>
          </a:xfrm>
          <a:prstGeom prst="rect">
            <a:avLst/>
          </a:prstGeom>
          <a:solidFill>
            <a:srgbClr val="DCE6F0"/>
          </a:solidFill>
          <a:ln>
            <a:noFill/>
          </a:ln>
        </p:spPr>
      </p:sp>
      <p:sp>
        <p:nvSpPr>
          <p:cNvPr id="7" name="ph-label"/>
          <p:cNvSpPr txBox="1"/>
          <p:nvPr/>
        </p:nvSpPr>
        <p:spPr>
          <a:xfrm>
            <a:off x="1219200" y="1549400"/>
            <a:ext cx="97536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600" noProof="1"/>
          </a:p>
        </p:txBody>
      </p:sp>
      <p:sp>
        <p:nvSpPr>
          <p:cNvPr id="8" name="ph-guide"/>
          <p:cNvSpPr txBox="1"/>
          <p:nvPr/>
        </p:nvSpPr>
        <p:spPr>
          <a:xfrm>
            <a:off x="3096895" y="2019300"/>
            <a:ext cx="9144000" cy="355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70000"/>
              </a:lnSpc>
            </a:pPr>
            <a:endParaRPr lang="en-US" sz="1050" noProof="1"/>
          </a:p>
        </p:txBody>
      </p:sp>
      <p:sp>
        <p:nvSpPr>
          <p:cNvPr id="11" name="pagenum"/>
          <p:cNvSpPr txBox="1"/>
          <p:nvPr/>
        </p:nvSpPr>
        <p:spPr>
          <a:xfrm>
            <a:off x="5588000" y="6629400"/>
            <a:ext cx="1016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808080"/>
                </a:solidFill>
                <a:latin typeface="MiSans" charset="-122"/>
                <a:ea typeface="MiSans" charset="-122"/>
              </a:rPr>
              <a:t>04</a:t>
            </a:r>
            <a:endParaRPr lang="en-US" sz="1600" noProof="1"/>
          </a:p>
        </p:txBody>
      </p:sp>
      <p:sp>
        <p:nvSpPr>
          <p:cNvPr id="14" name="矩形 13"/>
          <p:cNvSpPr/>
          <p:nvPr/>
        </p:nvSpPr>
        <p:spPr>
          <a:xfrm>
            <a:off x="2134870" y="1181100"/>
            <a:ext cx="7505700" cy="5308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 用户态应用程序 </a:t>
            </a:r>
            <a:r>
              <a:rPr lang="en-US" altLang="zh-CN" sz="1400">
                <a:solidFill>
                  <a:schemeClr val="tx1"/>
                </a:solidFill>
              </a:rPr>
              <a:t>（sh, cat, ls, ext2test*, ...）</a:t>
            </a:r>
            <a:endParaRPr lang="en-US" altLang="zh-CN" sz="1400">
              <a:solidFill>
                <a:schemeClr val="tx1"/>
              </a:solidFill>
            </a:endParaRPr>
          </a:p>
          <a:p>
            <a:pPr algn="ctr"/>
            <a:r>
              <a:rPr lang="zh-CN" altLang="en-US" sz="1400">
                <a:solidFill>
                  <a:schemeClr val="tx1"/>
                </a:solidFill>
                <a:sym typeface="+mn-ea"/>
              </a:rPr>
              <a:t>系统调用</a:t>
            </a:r>
            <a:r>
              <a:rPr lang="en-US" altLang="zh-CN" sz="1400">
                <a:solidFill>
                  <a:schemeClr val="tx1"/>
                </a:solidFill>
                <a:sym typeface="+mn-ea"/>
              </a:rPr>
              <a:t>(sys_open, sys_read, sys_write, sys_mount, ...)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134870" y="1922780"/>
            <a:ext cx="7505700" cy="10941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VFS </a:t>
            </a:r>
            <a:r>
              <a:rPr lang="zh-CN" altLang="en-US" sz="1400">
                <a:solidFill>
                  <a:schemeClr val="tx1"/>
                </a:solidFill>
              </a:rPr>
              <a:t>虚拟文件系统层</a:t>
            </a:r>
            <a:endParaRPr lang="zh-CN" altLang="en-US" sz="1400">
              <a:solidFill>
                <a:schemeClr val="tx1"/>
              </a:solidFill>
            </a:endParaRPr>
          </a:p>
          <a:p>
            <a:pPr algn="ctr"/>
            <a:r>
              <a:rPr lang="en-US" altLang="zh-CN" sz="1400">
                <a:solidFill>
                  <a:schemeClr val="tx1"/>
                </a:solidFill>
              </a:rPr>
              <a:t>vfs.c/h(~660</a:t>
            </a:r>
            <a:r>
              <a:rPr lang="zh-CN" altLang="en-US" sz="1400">
                <a:solidFill>
                  <a:schemeClr val="tx1"/>
                </a:solidFill>
              </a:rPr>
              <a:t>行)</a:t>
            </a:r>
            <a:endParaRPr lang="zh-CN" altLang="en-US" sz="1400">
              <a:solidFill>
                <a:schemeClr val="tx1"/>
              </a:solidFill>
            </a:endParaRPr>
          </a:p>
          <a:p>
            <a:pPr algn="ctr"/>
            <a:r>
              <a:rPr lang="en-US" altLang="zh-CN" sz="1400">
                <a:solidFill>
                  <a:schemeClr val="tx1"/>
                </a:solidFill>
              </a:rPr>
              <a:t>vnode </a:t>
            </a:r>
            <a:r>
              <a:rPr lang="zh-CN" altLang="en-US" sz="1400">
                <a:solidFill>
                  <a:schemeClr val="tx1"/>
                </a:solidFill>
              </a:rPr>
              <a:t>统一文件抽象，</a:t>
            </a:r>
            <a:r>
              <a:rPr lang="en-US" altLang="zh-CN" sz="1400">
                <a:solidFill>
                  <a:schemeClr val="tx1"/>
                </a:solidFill>
              </a:rPr>
              <a:t>vnode_ops </a:t>
            </a:r>
            <a:r>
              <a:rPr lang="zh-CN" altLang="en-US" sz="1400">
                <a:solidFill>
                  <a:schemeClr val="tx1"/>
                </a:solidFill>
              </a:rPr>
              <a:t>操作接口,</a:t>
            </a:r>
            <a:r>
              <a:rPr lang="en-US" altLang="zh-CN" sz="1400">
                <a:solidFill>
                  <a:schemeClr val="tx1"/>
                </a:solidFill>
              </a:rPr>
              <a:t>mount </a:t>
            </a:r>
            <a:r>
              <a:rPr lang="zh-CN" altLang="en-US" sz="1400">
                <a:solidFill>
                  <a:schemeClr val="tx1"/>
                </a:solidFill>
              </a:rPr>
              <a:t>挂载管理,</a:t>
            </a:r>
            <a:r>
              <a:rPr lang="en-US" altLang="zh-CN" sz="1400">
                <a:solidFill>
                  <a:schemeClr val="tx1"/>
                </a:solidFill>
              </a:rPr>
              <a:t>namei </a:t>
            </a:r>
            <a:r>
              <a:rPr lang="zh-CN" altLang="en-US" sz="1400">
                <a:solidFill>
                  <a:schemeClr val="tx1"/>
                </a:solidFill>
              </a:rPr>
              <a:t>路径遍历 + 挂载点自动穿越,引用计数生命周期管理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127250" y="3234055"/>
            <a:ext cx="1815465" cy="7791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</a:rPr>
              <a:t>xv6fs</a:t>
            </a:r>
            <a:r>
              <a:rPr lang="zh-CN" altLang="en-US" sz="1400">
                <a:solidFill>
                  <a:schemeClr val="tx1"/>
                </a:solidFill>
              </a:rPr>
              <a:t>胶水层</a:t>
            </a:r>
            <a:endParaRPr lang="zh-CN" altLang="en-US" sz="1400">
              <a:solidFill>
                <a:schemeClr val="tx1"/>
              </a:solidFill>
            </a:endParaRPr>
          </a:p>
          <a:p>
            <a:pPr algn="ctr"/>
            <a:r>
              <a:rPr lang="en-US" altLang="zh-CN" sz="1400">
                <a:solidFill>
                  <a:schemeClr val="tx1"/>
                </a:solidFill>
              </a:rPr>
              <a:t>xv6fs.c(~550</a:t>
            </a:r>
            <a:r>
              <a:rPr lang="zh-CN" altLang="en-US" sz="1400">
                <a:solidFill>
                  <a:schemeClr val="tx1"/>
                </a:solidFill>
              </a:rPr>
              <a:t>行)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973955" y="3231515"/>
            <a:ext cx="1827530" cy="7791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</a:rPr>
              <a:t>ext2</a:t>
            </a:r>
            <a:r>
              <a:rPr lang="zh-CN" altLang="en-US" sz="1400">
                <a:solidFill>
                  <a:schemeClr val="tx1"/>
                </a:solidFill>
              </a:rPr>
              <a:t>实现</a:t>
            </a:r>
            <a:endParaRPr lang="zh-CN" altLang="en-US" sz="1400">
              <a:solidFill>
                <a:schemeClr val="tx1"/>
              </a:solidFill>
            </a:endParaRPr>
          </a:p>
          <a:p>
            <a:pPr algn="ctr"/>
            <a:r>
              <a:rPr lang="en-US" altLang="zh-CN" sz="1400">
                <a:solidFill>
                  <a:schemeClr val="tx1"/>
                </a:solidFill>
              </a:rPr>
              <a:t>ext2.c/h(~1156</a:t>
            </a:r>
            <a:r>
              <a:rPr lang="zh-CN" altLang="en-US" sz="1400">
                <a:solidFill>
                  <a:schemeClr val="tx1"/>
                </a:solidFill>
              </a:rPr>
              <a:t>行)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7817485" y="3222625"/>
            <a:ext cx="1827530" cy="7791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</a:rPr>
              <a:t>FAT32</a:t>
            </a:r>
            <a:r>
              <a:rPr lang="zh-CN" altLang="en-US" sz="1400">
                <a:solidFill>
                  <a:schemeClr val="tx1"/>
                </a:solidFill>
              </a:rPr>
              <a:t>实现</a:t>
            </a:r>
            <a:endParaRPr lang="zh-CN" altLang="en-US" sz="1400">
              <a:solidFill>
                <a:schemeClr val="tx1"/>
              </a:solidFill>
            </a:endParaRPr>
          </a:p>
          <a:p>
            <a:pPr algn="ctr"/>
            <a:r>
              <a:rPr lang="en-US" altLang="zh-CN" sz="1400">
                <a:solidFill>
                  <a:schemeClr val="tx1"/>
                </a:solidFill>
              </a:rPr>
              <a:t>fat32.c/h(~1176</a:t>
            </a:r>
            <a:r>
              <a:rPr lang="zh-CN" altLang="en-US" sz="1400">
                <a:solidFill>
                  <a:schemeClr val="tx1"/>
                </a:solidFill>
              </a:rPr>
              <a:t>行)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127250" y="4276090"/>
            <a:ext cx="7505700" cy="109410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</a:rPr>
              <a:t>hal</a:t>
            </a:r>
            <a:r>
              <a:rPr lang="zh-CN" altLang="en-US" sz="1400">
                <a:solidFill>
                  <a:schemeClr val="tx1"/>
                </a:solidFill>
              </a:rPr>
              <a:t>硬件层</a:t>
            </a:r>
            <a:endParaRPr lang="zh-CN" altLang="en-US" sz="1400">
              <a:solidFill>
                <a:schemeClr val="tx1"/>
              </a:solidFill>
            </a:endParaRPr>
          </a:p>
          <a:p>
            <a:pPr algn="ctr"/>
            <a:r>
              <a:rPr lang="en-US" altLang="zh-CN" sz="1400">
                <a:solidFill>
                  <a:schemeClr val="tx1"/>
                </a:solidFill>
              </a:rPr>
              <a:t>hal/    (3485</a:t>
            </a:r>
            <a:r>
              <a:rPr lang="zh-CN" altLang="en-US" sz="1400">
                <a:solidFill>
                  <a:schemeClr val="tx1"/>
                </a:solidFill>
              </a:rPr>
              <a:t>行，含接口、平台代码和链接脚本)</a:t>
            </a:r>
            <a:endParaRPr lang="zh-CN" altLang="en-US" sz="1400">
              <a:solidFill>
                <a:schemeClr val="tx1"/>
              </a:solidFill>
            </a:endParaRPr>
          </a:p>
          <a:p>
            <a:pPr algn="ctr"/>
            <a:r>
              <a:rPr lang="en-US" altLang="zh-CN" sz="1400">
                <a:solidFill>
                  <a:schemeClr val="tx1"/>
                </a:solidFill>
              </a:rPr>
              <a:t> hal_arch.h  CPU/CSR</a:t>
            </a:r>
            <a:r>
              <a:rPr lang="zh-CN" altLang="en-US" sz="1400">
                <a:solidFill>
                  <a:schemeClr val="tx1"/>
                </a:solidFill>
              </a:rPr>
              <a:t>寄存器，</a:t>
            </a:r>
            <a:r>
              <a:rPr lang="en-US" altLang="zh-CN" sz="1400">
                <a:solidFill>
                  <a:schemeClr val="tx1"/>
                </a:solidFill>
              </a:rPr>
              <a:t>hal_vm.h   </a:t>
            </a:r>
            <a:r>
              <a:rPr lang="zh-CN" altLang="en-US" sz="1400">
                <a:solidFill>
                  <a:schemeClr val="tx1"/>
                </a:solidFill>
              </a:rPr>
              <a:t>页表管理，</a:t>
            </a:r>
            <a:r>
              <a:rPr lang="en-US" altLang="zh-CN" sz="1400">
                <a:solidFill>
                  <a:schemeClr val="tx1"/>
                </a:solidFill>
              </a:rPr>
              <a:t>hal_intr.h   </a:t>
            </a:r>
            <a:r>
              <a:rPr lang="zh-CN" altLang="en-US" sz="1400">
                <a:solidFill>
                  <a:schemeClr val="tx1"/>
                </a:solidFill>
              </a:rPr>
              <a:t>中断控制器，</a:t>
            </a:r>
            <a:r>
              <a:rPr lang="en-US" altLang="zh-CN" sz="1400">
                <a:solidFill>
                  <a:schemeClr val="tx1"/>
                </a:solidFill>
              </a:rPr>
              <a:t>hal_timer.h   </a:t>
            </a:r>
            <a:r>
              <a:rPr lang="zh-CN" altLang="en-US" sz="1400">
                <a:solidFill>
                  <a:schemeClr val="tx1"/>
                </a:solidFill>
              </a:rPr>
              <a:t>定时器，         </a:t>
            </a:r>
            <a:endParaRPr lang="zh-CN" altLang="en-US" sz="1400">
              <a:solidFill>
                <a:schemeClr val="tx1"/>
              </a:solidFill>
            </a:endParaRPr>
          </a:p>
          <a:p>
            <a:pPr algn="ctr"/>
            <a:r>
              <a:rPr lang="en-US" altLang="zh-CN" sz="1400">
                <a:solidFill>
                  <a:schemeClr val="tx1"/>
                </a:solidFill>
              </a:rPr>
              <a:t>hal_ctx.h    </a:t>
            </a:r>
            <a:r>
              <a:rPr lang="zh-CN" altLang="en-US" sz="1400">
                <a:solidFill>
                  <a:schemeClr val="tx1"/>
                </a:solidFill>
              </a:rPr>
              <a:t>上下文切换，</a:t>
            </a:r>
            <a:r>
              <a:rPr lang="en-US" altLang="zh-CN" sz="1400">
                <a:solidFill>
                  <a:schemeClr val="tx1"/>
                </a:solidFill>
              </a:rPr>
              <a:t>hal_console.h </a:t>
            </a:r>
            <a:r>
              <a:rPr lang="zh-CN" altLang="en-US" sz="1400">
                <a:solidFill>
                  <a:schemeClr val="tx1"/>
                </a:solidFill>
              </a:rPr>
              <a:t>串口             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127250" y="5564505"/>
            <a:ext cx="2009775" cy="77914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</a:rPr>
              <a:t>RISC-V </a:t>
            </a:r>
            <a:r>
              <a:rPr lang="zh-CN" altLang="en-US" sz="1400">
                <a:solidFill>
                  <a:schemeClr val="tx1"/>
                </a:solidFill>
              </a:rPr>
              <a:t>实现</a:t>
            </a:r>
            <a:endParaRPr lang="zh-CN" altLang="en-US" sz="1400">
              <a:solidFill>
                <a:schemeClr val="tx1"/>
              </a:solidFill>
            </a:endParaRPr>
          </a:p>
          <a:p>
            <a:pPr algn="ctr"/>
            <a:r>
              <a:rPr lang="en-US" altLang="zh-CN" sz="1400">
                <a:solidFill>
                  <a:schemeClr val="tx1"/>
                </a:solidFill>
              </a:rPr>
              <a:t>hal/riscv/ 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7623175" y="5586095"/>
            <a:ext cx="2009775" cy="77914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</a:rPr>
              <a:t>LoongArch </a:t>
            </a:r>
            <a:r>
              <a:rPr lang="zh-CN" altLang="en-US" sz="1400">
                <a:solidFill>
                  <a:schemeClr val="tx1"/>
                </a:solidFill>
              </a:rPr>
              <a:t>实现 </a:t>
            </a:r>
            <a:endParaRPr lang="zh-CN" altLang="en-US" sz="1400">
              <a:solidFill>
                <a:schemeClr val="tx1"/>
              </a:solidFill>
            </a:endParaRPr>
          </a:p>
          <a:p>
            <a:pPr algn="ctr"/>
            <a:r>
              <a:rPr lang="en-US" altLang="zh-CN" sz="1400">
                <a:solidFill>
                  <a:schemeClr val="tx1"/>
                </a:solidFill>
              </a:rPr>
              <a:t> hal/loongarch/ </a:t>
            </a:r>
            <a:endParaRPr lang="en-US" altLang="zh-CN" sz="1400">
              <a:solidFill>
                <a:schemeClr val="tx1"/>
              </a:solidFill>
            </a:endParaRPr>
          </a:p>
        </p:txBody>
      </p:sp>
      <p:cxnSp>
        <p:nvCxnSpPr>
          <p:cNvPr id="24" name="直接箭头连接符 23"/>
          <p:cNvCxnSpPr>
            <a:stCxn id="14" idx="2"/>
            <a:endCxn id="16" idx="0"/>
          </p:cNvCxnSpPr>
          <p:nvPr/>
        </p:nvCxnSpPr>
        <p:spPr>
          <a:xfrm>
            <a:off x="5887720" y="1711960"/>
            <a:ext cx="0" cy="21082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stCxn id="16" idx="2"/>
          </p:cNvCxnSpPr>
          <p:nvPr/>
        </p:nvCxnSpPr>
        <p:spPr>
          <a:xfrm>
            <a:off x="5887720" y="3016885"/>
            <a:ext cx="0" cy="23177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>
            <a:off x="3035300" y="3017520"/>
            <a:ext cx="0" cy="21590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/>
          <p:nvPr/>
        </p:nvCxnSpPr>
        <p:spPr>
          <a:xfrm>
            <a:off x="3035300" y="4013835"/>
            <a:ext cx="0" cy="27432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>
            <a:stCxn id="18" idx="2"/>
          </p:cNvCxnSpPr>
          <p:nvPr/>
        </p:nvCxnSpPr>
        <p:spPr>
          <a:xfrm>
            <a:off x="5887720" y="4010660"/>
            <a:ext cx="0" cy="26797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>
            <a:off x="8740140" y="4010660"/>
            <a:ext cx="0" cy="27749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>
            <a:off x="3132455" y="5359400"/>
            <a:ext cx="0" cy="21590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>
            <a:off x="8628380" y="5359400"/>
            <a:ext cx="0" cy="21590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>
          <a:xfrm>
            <a:off x="8740140" y="3016885"/>
            <a:ext cx="0" cy="21590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" name="hl-line"/>
          <p:cNvSpPr/>
          <p:nvPr/>
        </p:nvSpPr>
        <p:spPr>
          <a:xfrm>
            <a:off x="584200" y="6484620"/>
            <a:ext cx="11023600" cy="25400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3" name="seclabel"/>
          <p:cNvSpPr txBox="1"/>
          <p:nvPr/>
        </p:nvSpPr>
        <p:spPr>
          <a:xfrm>
            <a:off x="584200" y="279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noProof="1">
                <a:solidFill>
                  <a:srgbClr val="E36C0A"/>
                </a:solidFill>
                <a:latin typeface="MiSans" charset="-122"/>
                <a:ea typeface="MiSans" charset="-122"/>
              </a:rPr>
              <a:t>▍</a:t>
            </a:r>
            <a:r>
              <a:rPr lang="en-US" sz="1100" noProof="1">
                <a:solidFill>
                  <a:srgbClr val="808080"/>
                </a:solidFill>
                <a:latin typeface="MiSans" charset="-122"/>
                <a:ea typeface="MiSans" charset="-122"/>
              </a:rPr>
              <a:t>FS-1 · VFS 核心抽象</a:t>
            </a:r>
            <a:endParaRPr lang="en-US" sz="1600" noProof="1"/>
          </a:p>
        </p:txBody>
      </p:sp>
      <p:sp>
        <p:nvSpPr>
          <p:cNvPr id="4" name="title"/>
          <p:cNvSpPr txBox="1"/>
          <p:nvPr/>
        </p:nvSpPr>
        <p:spPr>
          <a:xfrm>
            <a:off x="584200" y="533400"/>
            <a:ext cx="10160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 noProof="1">
                <a:solidFill>
                  <a:srgbClr val="1F4E79"/>
                </a:solidFill>
                <a:latin typeface="MiSans" charset="-122"/>
                <a:ea typeface="MiSans" charset="-122"/>
              </a:rPr>
              <a:t>vnode + vnode_ops 虚表</a:t>
            </a:r>
            <a:endParaRPr lang="en-US" sz="2400" noProof="1"/>
          </a:p>
        </p:txBody>
      </p:sp>
      <p:sp>
        <p:nvSpPr>
          <p:cNvPr id="5" name="titleline"/>
          <p:cNvSpPr/>
          <p:nvPr/>
        </p:nvSpPr>
        <p:spPr>
          <a:xfrm>
            <a:off x="584200" y="1066800"/>
            <a:ext cx="11023600" cy="12700"/>
          </a:xfrm>
          <a:prstGeom prst="rect">
            <a:avLst/>
          </a:prstGeom>
          <a:solidFill>
            <a:srgbClr val="DCE6F0"/>
          </a:solidFill>
          <a:ln>
            <a:noFill/>
          </a:ln>
        </p:spPr>
      </p:sp>
      <p:sp>
        <p:nvSpPr>
          <p:cNvPr id="6" name="vnode-card"/>
          <p:cNvSpPr/>
          <p:nvPr/>
        </p:nvSpPr>
        <p:spPr>
          <a:xfrm>
            <a:off x="584200" y="1320800"/>
            <a:ext cx="4826000" cy="452120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</p:sp>
      <p:sp>
        <p:nvSpPr>
          <p:cNvPr id="7" name="vnode-title"/>
          <p:cNvSpPr txBox="1"/>
          <p:nvPr/>
        </p:nvSpPr>
        <p:spPr>
          <a:xfrm>
            <a:off x="889000" y="1549400"/>
            <a:ext cx="4216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b="1" noProof="1">
                <a:solidFill>
                  <a:srgbClr val="1F4E79"/>
                </a:solidFill>
                <a:latin typeface="Consolas" panose="020B0609020204030204"/>
                <a:ea typeface="MiSans" charset="-122"/>
              </a:rPr>
              <a:t>struct vnode</a:t>
            </a:r>
            <a:endParaRPr lang="en-US" noProof="1"/>
          </a:p>
        </p:txBody>
      </p:sp>
      <p:sp>
        <p:nvSpPr>
          <p:cNvPr id="8" name="vnode-body"/>
          <p:cNvSpPr txBox="1"/>
          <p:nvPr/>
        </p:nvSpPr>
        <p:spPr>
          <a:xfrm>
            <a:off x="889000" y="1930400"/>
            <a:ext cx="4216400" cy="3708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b="1" noProof="1">
                <a:solidFill>
                  <a:srgbClr val="1F4E79"/>
                </a:solidFill>
                <a:latin typeface="Consolas" panose="020B0609020204030204"/>
                <a:ea typeface="MiSans" charset="-122"/>
              </a:rPr>
              <a:t>ops</a:t>
            </a:r>
            <a:r>
              <a:rPr lang="en-US" noProof="1">
                <a:solidFill>
                  <a:srgbClr val="333333"/>
                </a:solidFill>
                <a:latin typeface="MiSans" charset="-122"/>
                <a:ea typeface="MiSans" charset="-122"/>
              </a:rPr>
              <a:t>　多态分派（13 个函数指针）</a:t>
            </a:r>
            <a:endParaRPr lang="en-US" noProof="1"/>
          </a:p>
          <a:p>
            <a:pPr>
              <a:lnSpc>
                <a:spcPct val="150000"/>
              </a:lnSpc>
              <a:spcBef>
                <a:spcPts val="1400"/>
              </a:spcBef>
            </a:pPr>
            <a:r>
              <a:rPr lang="en-US" b="1" noProof="1">
                <a:solidFill>
                  <a:srgbClr val="1F4E79"/>
                </a:solidFill>
                <a:latin typeface="Consolas" panose="020B0609020204030204"/>
                <a:ea typeface="MiSans" charset="-122"/>
              </a:rPr>
              <a:t>priv</a:t>
            </a:r>
            <a:r>
              <a:rPr lang="en-US" noProof="1">
                <a:solidFill>
                  <a:srgbClr val="333333"/>
                </a:solidFill>
                <a:latin typeface="MiSans" charset="-122"/>
                <a:ea typeface="MiSans" charset="-122"/>
              </a:rPr>
              <a:t>　隔离差异</a:t>
            </a:r>
            <a:endParaRPr lang="en-US" noProof="1"/>
          </a:p>
          <a:p>
            <a:pPr>
              <a:lnSpc>
                <a:spcPct val="150000"/>
              </a:lnSpc>
            </a:pPr>
            <a:r>
              <a:rPr lang="en-US" noProof="1">
                <a:solidFill>
                  <a:srgbClr val="808080"/>
                </a:solidFill>
                <a:latin typeface="MiSans" charset="-122"/>
                <a:ea typeface="MiSans" charset="-122"/>
              </a:rPr>
              <a:t>xv6fs: inode*　/　ext2: inode 副本　/　FAT32: 簇链</a:t>
            </a:r>
            <a:endParaRPr lang="en-US" noProof="1"/>
          </a:p>
          <a:p>
            <a:pPr>
              <a:lnSpc>
                <a:spcPct val="150000"/>
              </a:lnSpc>
              <a:spcBef>
                <a:spcPts val="1400"/>
              </a:spcBef>
            </a:pPr>
            <a:r>
              <a:rPr lang="en-US" b="1" noProof="1">
                <a:solidFill>
                  <a:srgbClr val="1F4E79"/>
                </a:solidFill>
                <a:latin typeface="Consolas" panose="020B0609020204030204"/>
                <a:ea typeface="MiSans" charset="-122"/>
              </a:rPr>
              <a:t>ref + lock</a:t>
            </a:r>
            <a:r>
              <a:rPr lang="en-US" noProof="1">
                <a:solidFill>
                  <a:srgbClr val="333333"/>
                </a:solidFill>
                <a:latin typeface="MiSans" charset="-122"/>
                <a:ea typeface="MiSans" charset="-122"/>
              </a:rPr>
              <a:t>　并发与生命周期</a:t>
            </a:r>
            <a:endParaRPr lang="en-US" noProof="1"/>
          </a:p>
          <a:p>
            <a:pPr>
              <a:lnSpc>
                <a:spcPct val="150000"/>
              </a:lnSpc>
              <a:spcBef>
                <a:spcPts val="1400"/>
              </a:spcBef>
            </a:pPr>
            <a:r>
              <a:rPr lang="en-US" b="1" noProof="1">
                <a:solidFill>
                  <a:srgbClr val="1F4E79"/>
                </a:solidFill>
                <a:latin typeface="Consolas" panose="020B0609020204030204"/>
                <a:ea typeface="MiSans" charset="-122"/>
              </a:rPr>
              <a:t>dev + inum</a:t>
            </a:r>
            <a:r>
              <a:rPr lang="en-US" noProof="1">
                <a:solidFill>
                  <a:srgbClr val="333333"/>
                </a:solidFill>
                <a:latin typeface="MiSans" charset="-122"/>
                <a:ea typeface="MiSans" charset="-122"/>
              </a:rPr>
              <a:t>　全局唯一标识</a:t>
            </a:r>
            <a:endParaRPr lang="en-US" noProof="1"/>
          </a:p>
          <a:p>
            <a:pPr>
              <a:lnSpc>
                <a:spcPct val="150000"/>
              </a:lnSpc>
              <a:spcBef>
                <a:spcPts val="1400"/>
              </a:spcBef>
            </a:pPr>
            <a:r>
              <a:rPr lang="en-US" b="1" noProof="1">
                <a:solidFill>
                  <a:srgbClr val="1F4E79"/>
                </a:solidFill>
                <a:latin typeface="Consolas" panose="020B0609020204030204"/>
                <a:ea typeface="MiSans" charset="-122"/>
              </a:rPr>
              <a:t>mp</a:t>
            </a:r>
            <a:r>
              <a:rPr lang="en-US" noProof="1">
                <a:solidFill>
                  <a:srgbClr val="333333"/>
                </a:solidFill>
                <a:latin typeface="MiSans" charset="-122"/>
                <a:ea typeface="MiSans" charset="-122"/>
              </a:rPr>
              <a:t>　反向导航到所属挂载</a:t>
            </a:r>
            <a:endParaRPr lang="en-US" noProof="1"/>
          </a:p>
        </p:txBody>
      </p:sp>
      <p:sp>
        <p:nvSpPr>
          <p:cNvPr id="9" name="code-card"/>
          <p:cNvSpPr/>
          <p:nvPr/>
        </p:nvSpPr>
        <p:spPr>
          <a:xfrm>
            <a:off x="5664200" y="1320800"/>
            <a:ext cx="5943600" cy="2159000"/>
          </a:xfrm>
          <a:prstGeom prst="roundRect">
            <a:avLst>
              <a:gd name="adj" fmla="val 4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</p:sp>
      <p:sp>
        <p:nvSpPr>
          <p:cNvPr id="10" name="code-title"/>
          <p:cNvSpPr txBox="1"/>
          <p:nvPr/>
        </p:nvSpPr>
        <p:spPr>
          <a:xfrm>
            <a:off x="5918200" y="1447800"/>
            <a:ext cx="5435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b="1" noProof="1">
                <a:solidFill>
                  <a:srgbClr val="1F4E79"/>
                </a:solidFill>
                <a:latin typeface="MiSans" charset="-122"/>
                <a:ea typeface="MiSans" charset="-122"/>
              </a:rPr>
              <a:t>vnode_ops：13 个操作 + 一行接入</a:t>
            </a:r>
            <a:endParaRPr lang="en-US" noProof="1"/>
          </a:p>
        </p:txBody>
      </p:sp>
      <p:sp>
        <p:nvSpPr>
          <p:cNvPr id="11" name="code-block"/>
          <p:cNvSpPr/>
          <p:nvPr/>
        </p:nvSpPr>
        <p:spPr>
          <a:xfrm>
            <a:off x="5918200" y="1885950"/>
            <a:ext cx="5435600" cy="1498600"/>
          </a:xfrm>
          <a:prstGeom prst="roundRect">
            <a:avLst>
              <a:gd name="adj" fmla="val 4000"/>
            </a:avLst>
          </a:prstGeom>
          <a:solidFill>
            <a:schemeClr val="accent1">
              <a:lumMod val="75000"/>
              <a:alpha val="86000"/>
            </a:schemeClr>
          </a:solidFill>
          <a:ln>
            <a:noFill/>
          </a:ln>
        </p:spPr>
      </p:sp>
      <p:sp>
        <p:nvSpPr>
          <p:cNvPr id="12" name="code-text"/>
          <p:cNvSpPr txBox="1"/>
          <p:nvPr/>
        </p:nvSpPr>
        <p:spPr>
          <a:xfrm>
            <a:off x="6146800" y="1981200"/>
            <a:ext cx="49784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70000"/>
              </a:lnSpc>
            </a:pPr>
            <a:r>
              <a:rPr lang="en-US" sz="1400" noProof="1">
                <a:solidFill>
                  <a:srgbClr val="FFFFFF"/>
                </a:solidFill>
                <a:latin typeface="Consolas" panose="020B0609020204030204"/>
                <a:ea typeface="MiSans" charset="-122"/>
              </a:rPr>
              <a:t>vfs_register(xv6fs_mount, "xv6fs");</a:t>
            </a:r>
            <a:endParaRPr lang="en-US" sz="1400" noProof="1"/>
          </a:p>
          <a:p>
            <a:pPr>
              <a:lnSpc>
                <a:spcPct val="170000"/>
              </a:lnSpc>
            </a:pPr>
            <a:r>
              <a:rPr lang="en-US" sz="1400" noProof="1">
                <a:solidFill>
                  <a:srgbClr val="FFFFFF"/>
                </a:solidFill>
                <a:latin typeface="Consolas" panose="020B0609020204030204"/>
                <a:ea typeface="MiSans" charset="-122"/>
              </a:rPr>
              <a:t>vfs_register(ext2_mount, "ext2");</a:t>
            </a:r>
            <a:endParaRPr lang="en-US" sz="1400" noProof="1"/>
          </a:p>
          <a:p>
            <a:pPr>
              <a:lnSpc>
                <a:spcPct val="170000"/>
              </a:lnSpc>
            </a:pPr>
            <a:r>
              <a:rPr lang="en-US" sz="1400" noProof="1">
                <a:solidFill>
                  <a:srgbClr val="FFFFFF"/>
                </a:solidFill>
                <a:latin typeface="Consolas" panose="020B0609020204030204"/>
                <a:ea typeface="MiSans" charset="-122"/>
              </a:rPr>
              <a:t>vfs_register(fat32_mount, "fat32");</a:t>
            </a:r>
            <a:endParaRPr lang="en-US" sz="1400" noProof="1"/>
          </a:p>
        </p:txBody>
      </p:sp>
      <p:sp>
        <p:nvSpPr>
          <p:cNvPr id="13" name="lc-card"/>
          <p:cNvSpPr/>
          <p:nvPr/>
        </p:nvSpPr>
        <p:spPr>
          <a:xfrm>
            <a:off x="5664200" y="3683000"/>
            <a:ext cx="5943600" cy="215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</p:spPr>
      </p:sp>
      <p:sp>
        <p:nvSpPr>
          <p:cNvPr id="14" name="lc-bar"/>
          <p:cNvSpPr/>
          <p:nvPr/>
        </p:nvSpPr>
        <p:spPr>
          <a:xfrm>
            <a:off x="5664200" y="3683000"/>
            <a:ext cx="50800" cy="2159000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15" name="lc-title"/>
          <p:cNvSpPr txBox="1"/>
          <p:nvPr/>
        </p:nvSpPr>
        <p:spPr>
          <a:xfrm>
            <a:off x="5943600" y="3835400"/>
            <a:ext cx="533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b="1" noProof="1">
                <a:solidFill>
                  <a:srgbClr val="1F4E79"/>
                </a:solidFill>
                <a:latin typeface="MiSans" charset="-122"/>
                <a:ea typeface="MiSans" charset="-122"/>
              </a:rPr>
              <a:t>生命周期</a:t>
            </a:r>
            <a:endParaRPr lang="en-US" b="1" noProof="1">
              <a:solidFill>
                <a:srgbClr val="1F4E79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16" name="lc-body"/>
          <p:cNvSpPr txBox="1"/>
          <p:nvPr/>
        </p:nvSpPr>
        <p:spPr>
          <a:xfrm>
            <a:off x="5943600" y="4191000"/>
            <a:ext cx="5410200" cy="149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600" noProof="1">
                <a:solidFill>
                  <a:srgbClr val="333333"/>
                </a:solidFill>
                <a:latin typeface="MiSans" charset="-122"/>
                <a:ea typeface="MiSans" charset="-122"/>
              </a:rPr>
              <a:t>· ref 引用计数 → 归零即销毁</a:t>
            </a:r>
            <a:endParaRPr lang="en-US" sz="16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600" noProof="1">
                <a:solidFill>
                  <a:srgbClr val="333333"/>
                </a:solidFill>
                <a:latin typeface="MiSans" charset="-122"/>
                <a:ea typeface="MiSans" charset="-122"/>
              </a:rPr>
              <a:t>· vput 锁内 ref-- 并快照，</a:t>
            </a:r>
            <a:r>
              <a:rPr lang="en-US" sz="1600" b="1" noProof="1">
                <a:solidFill>
                  <a:srgbClr val="333333"/>
                </a:solidFill>
                <a:latin typeface="MiSans" charset="-122"/>
                <a:ea typeface="MiSans" charset="-122"/>
              </a:rPr>
              <a:t>锁外</a:t>
            </a:r>
            <a:r>
              <a:rPr lang="en-US" sz="1600" noProof="1">
                <a:solidFill>
                  <a:srgbClr val="333333"/>
                </a:solidFill>
                <a:latin typeface="MiSans" charset="-122"/>
                <a:ea typeface="MiSans" charset="-122"/>
              </a:rPr>
              <a:t>才调 destroy</a:t>
            </a:r>
            <a:endParaRPr lang="en-US" sz="16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600" noProof="1">
                <a:solidFill>
                  <a:srgbClr val="333333"/>
                </a:solidFill>
                <a:latin typeface="MiSans" charset="-122"/>
                <a:ea typeface="MiSans" charset="-122"/>
              </a:rPr>
              <a:t>· 避免持自旋锁进入日志 / 块分配路径（防死锁）</a:t>
            </a:r>
            <a:endParaRPr lang="en-US" sz="1600" noProof="1"/>
          </a:p>
        </p:txBody>
      </p:sp>
      <p:sp>
        <p:nvSpPr>
          <p:cNvPr id="17" name="hl-line"/>
          <p:cNvSpPr/>
          <p:nvPr/>
        </p:nvSpPr>
        <p:spPr>
          <a:xfrm>
            <a:off x="584200" y="6223000"/>
            <a:ext cx="11023600" cy="25400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18" name="hl-text"/>
          <p:cNvSpPr txBox="1"/>
          <p:nvPr/>
        </p:nvSpPr>
        <p:spPr>
          <a:xfrm>
            <a:off x="2540000" y="6324600"/>
            <a:ext cx="9067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endParaRPr lang="en-US" sz="1600" noProof="1"/>
          </a:p>
        </p:txBody>
      </p:sp>
      <p:sp>
        <p:nvSpPr>
          <p:cNvPr id="19" name="pagenum"/>
          <p:cNvSpPr txBox="1"/>
          <p:nvPr/>
        </p:nvSpPr>
        <p:spPr>
          <a:xfrm>
            <a:off x="5588000" y="6629400"/>
            <a:ext cx="1016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808080"/>
                </a:solidFill>
                <a:latin typeface="MiSans" charset="-122"/>
                <a:ea typeface="MiSans" charset="-122"/>
              </a:rPr>
              <a:t>05</a:t>
            </a:r>
            <a:endParaRPr lang="en-US" sz="16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3" name="seclabel"/>
          <p:cNvSpPr txBox="1"/>
          <p:nvPr/>
        </p:nvSpPr>
        <p:spPr>
          <a:xfrm>
            <a:off x="584200" y="279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noProof="1">
                <a:solidFill>
                  <a:srgbClr val="E36C0A"/>
                </a:solidFill>
                <a:latin typeface="MiSans" charset="-122"/>
                <a:ea typeface="MiSans" charset="-122"/>
              </a:rPr>
              <a:t>▍</a:t>
            </a:r>
            <a:r>
              <a:rPr lang="en-US" sz="1100" noProof="1">
                <a:solidFill>
                  <a:srgbClr val="808080"/>
                </a:solidFill>
                <a:latin typeface="MiSans" charset="-122"/>
                <a:ea typeface="MiSans" charset="-122"/>
              </a:rPr>
              <a:t>FS-2 · 路径遍历</a:t>
            </a:r>
            <a:endParaRPr lang="en-US" sz="1600" noProof="1"/>
          </a:p>
        </p:txBody>
      </p:sp>
      <p:sp>
        <p:nvSpPr>
          <p:cNvPr id="4" name="title"/>
          <p:cNvSpPr txBox="1"/>
          <p:nvPr/>
        </p:nvSpPr>
        <p:spPr>
          <a:xfrm>
            <a:off x="584200" y="533400"/>
            <a:ext cx="10160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 noProof="1">
                <a:solidFill>
                  <a:srgbClr val="1F4E79"/>
                </a:solidFill>
                <a:latin typeface="MiSans" charset="-122"/>
                <a:ea typeface="MiSans" charset="-122"/>
              </a:rPr>
              <a:t>路径遍历与挂载点穿越</a:t>
            </a:r>
            <a:endParaRPr lang="en-US" sz="2400" noProof="1"/>
          </a:p>
        </p:txBody>
      </p:sp>
      <p:sp>
        <p:nvSpPr>
          <p:cNvPr id="5" name="titleline"/>
          <p:cNvSpPr/>
          <p:nvPr/>
        </p:nvSpPr>
        <p:spPr>
          <a:xfrm>
            <a:off x="584200" y="1066800"/>
            <a:ext cx="11023600" cy="12700"/>
          </a:xfrm>
          <a:prstGeom prst="rect">
            <a:avLst/>
          </a:prstGeom>
          <a:solidFill>
            <a:srgbClr val="DCE6F0"/>
          </a:solidFill>
          <a:ln>
            <a:noFill/>
          </a:ln>
        </p:spPr>
      </p:sp>
      <p:sp>
        <p:nvSpPr>
          <p:cNvPr id="6" name="ph1-box"/>
          <p:cNvSpPr/>
          <p:nvPr/>
        </p:nvSpPr>
        <p:spPr>
          <a:xfrm>
            <a:off x="584200" y="1320800"/>
            <a:ext cx="11023600" cy="2133600"/>
          </a:xfrm>
          <a:prstGeom prst="roundRect">
            <a:avLst>
              <a:gd name="adj" fmla="val 4000"/>
            </a:avLst>
          </a:prstGeom>
          <a:solidFill>
            <a:srgbClr val="F7FAFD"/>
          </a:solidFill>
          <a:ln w="19050">
            <a:noFill/>
            <a:prstDash val="dash"/>
          </a:ln>
        </p:spPr>
      </p:sp>
      <p:sp>
        <p:nvSpPr>
          <p:cNvPr id="7" name="ph1-label"/>
          <p:cNvSpPr txBox="1"/>
          <p:nvPr/>
        </p:nvSpPr>
        <p:spPr>
          <a:xfrm>
            <a:off x="584200" y="1331595"/>
            <a:ext cx="3827780" cy="3092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noProof="1">
                <a:solidFill>
                  <a:srgbClr val="1F4E79"/>
                </a:solidFill>
                <a:latin typeface="MiSans" charset="-122"/>
                <a:ea typeface="MiSans" charset="-122"/>
              </a:rPr>
              <a:t> 一次跨 FS 打</a:t>
            </a:r>
            <a:r>
              <a:rPr lang="zh-CN" altLang="en-US" sz="1600" b="1" noProof="1">
                <a:solidFill>
                  <a:srgbClr val="1F4E79"/>
                </a:solidFill>
                <a:latin typeface="MiSans" charset="-122"/>
                <a:ea typeface="MiSans" charset="-122"/>
              </a:rPr>
              <a:t>开路径遍历流程</a:t>
            </a:r>
            <a:r>
              <a:rPr lang="en-US" altLang="zh-CN" sz="1600" b="1" noProof="1">
                <a:solidFill>
                  <a:srgbClr val="1F4E79"/>
                </a:solidFill>
                <a:latin typeface="MiSans" charset="-122"/>
                <a:ea typeface="MiSans" charset="-122"/>
              </a:rPr>
              <a:t>                    </a:t>
            </a:r>
            <a:br>
              <a:rPr lang="zh-CN" altLang="en-US" sz="1600" b="1" noProof="1">
                <a:solidFill>
                  <a:srgbClr val="1F4E79"/>
                </a:solidFill>
                <a:latin typeface="MiSans" charset="-122"/>
                <a:ea typeface="MiSans" charset="-122"/>
              </a:rPr>
            </a:br>
            <a:r>
              <a:rPr lang="en-US" altLang="zh-CN" sz="1200" b="1" noProof="1">
                <a:solidFill>
                  <a:srgbClr val="1F4E79"/>
                </a:solidFill>
                <a:latin typeface="MiSans" charset="-122"/>
                <a:ea typeface="MiSans" charset="-122"/>
              </a:rPr>
              <a:t>(</a:t>
            </a:r>
            <a:r>
              <a:rPr lang="zh-CN" altLang="en-US" sz="1200" b="1" noProof="1">
                <a:solidFill>
                  <a:srgbClr val="1F4E79"/>
                </a:solidFill>
                <a:latin typeface="MiSans" charset="-122"/>
                <a:ea typeface="MiSans" charset="-122"/>
              </a:rPr>
              <a:t>假设</a:t>
            </a:r>
            <a:r>
              <a:rPr lang="en-US" altLang="zh-CN" sz="1200" b="1" noProof="1">
                <a:solidFill>
                  <a:srgbClr val="1F4E79"/>
                </a:solidFill>
                <a:latin typeface="MiSans" charset="-122"/>
                <a:ea typeface="MiSans" charset="-122"/>
              </a:rPr>
              <a:t>mnt</a:t>
            </a:r>
            <a:r>
              <a:rPr lang="zh-CN" altLang="en-US" sz="1200" b="1" noProof="1">
                <a:solidFill>
                  <a:srgbClr val="1F4E79"/>
                </a:solidFill>
                <a:latin typeface="MiSans" charset="-122"/>
                <a:ea typeface="MiSans" charset="-122"/>
              </a:rPr>
              <a:t>是</a:t>
            </a:r>
            <a:r>
              <a:rPr lang="en-US" altLang="zh-CN" sz="1200" b="1" noProof="1">
                <a:solidFill>
                  <a:srgbClr val="1F4E79"/>
                </a:solidFill>
                <a:latin typeface="MiSans" charset="-122"/>
                <a:ea typeface="MiSans" charset="-122"/>
              </a:rPr>
              <a:t>ext2</a:t>
            </a:r>
            <a:r>
              <a:rPr lang="zh-CN" altLang="en-US" sz="1200" b="1" noProof="1">
                <a:solidFill>
                  <a:srgbClr val="1F4E79"/>
                </a:solidFill>
                <a:latin typeface="MiSans" charset="-122"/>
                <a:ea typeface="MiSans" charset="-122"/>
              </a:rPr>
              <a:t>挂载的目录</a:t>
            </a:r>
            <a:r>
              <a:rPr lang="en-US" altLang="zh-CN" sz="1200" b="1" noProof="1">
                <a:solidFill>
                  <a:srgbClr val="1F4E79"/>
                </a:solidFill>
                <a:latin typeface="MiSans" charset="-122"/>
                <a:ea typeface="MiSans" charset="-122"/>
              </a:rPr>
              <a:t>)                                      </a:t>
            </a:r>
            <a:endParaRPr lang="en-US" altLang="zh-CN" sz="1200" b="1" noProof="1">
              <a:solidFill>
                <a:srgbClr val="1F4E79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9" name="ph2-box"/>
          <p:cNvSpPr/>
          <p:nvPr/>
        </p:nvSpPr>
        <p:spPr>
          <a:xfrm>
            <a:off x="584200" y="3657600"/>
            <a:ext cx="11023600" cy="2184400"/>
          </a:xfrm>
          <a:prstGeom prst="roundRect">
            <a:avLst>
              <a:gd name="adj" fmla="val 4000"/>
            </a:avLst>
          </a:prstGeom>
          <a:solidFill>
            <a:srgbClr val="F7FAFD"/>
          </a:solidFill>
          <a:ln w="19050">
            <a:noFill/>
            <a:prstDash val="dash"/>
          </a:ln>
        </p:spPr>
      </p:sp>
      <p:sp>
        <p:nvSpPr>
          <p:cNvPr id="10" name="ph2-label"/>
          <p:cNvSpPr txBox="1"/>
          <p:nvPr/>
        </p:nvSpPr>
        <p:spPr>
          <a:xfrm>
            <a:off x="905510" y="3443605"/>
            <a:ext cx="2717800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noProof="1">
                <a:solidFill>
                  <a:srgbClr val="1F4E79"/>
                </a:solidFill>
                <a:latin typeface="MiSans" charset="-122"/>
                <a:ea typeface="MiSans" charset="-122"/>
              </a:rPr>
              <a:t> ".." 跨文件系统返回                              </a:t>
            </a:r>
            <a:endParaRPr lang="en-US" sz="1600" noProof="1"/>
          </a:p>
        </p:txBody>
      </p:sp>
      <p:sp>
        <p:nvSpPr>
          <p:cNvPr id="11" name="ph2-guide"/>
          <p:cNvSpPr txBox="1"/>
          <p:nvPr/>
        </p:nvSpPr>
        <p:spPr>
          <a:xfrm>
            <a:off x="1524000" y="4216400"/>
            <a:ext cx="9144000" cy="147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70000"/>
              </a:lnSpc>
            </a:pPr>
            <a:endParaRPr lang="en-US" sz="1050" noProof="1"/>
          </a:p>
        </p:txBody>
      </p:sp>
      <p:sp>
        <p:nvSpPr>
          <p:cNvPr id="12" name="hl-line"/>
          <p:cNvSpPr/>
          <p:nvPr/>
        </p:nvSpPr>
        <p:spPr>
          <a:xfrm>
            <a:off x="584200" y="6223000"/>
            <a:ext cx="11023600" cy="25400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13" name="hl-text"/>
          <p:cNvSpPr txBox="1"/>
          <p:nvPr/>
        </p:nvSpPr>
        <p:spPr>
          <a:xfrm>
            <a:off x="2540000" y="6324600"/>
            <a:ext cx="9067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endParaRPr lang="en-US" sz="1600" noProof="1"/>
          </a:p>
        </p:txBody>
      </p:sp>
      <p:sp>
        <p:nvSpPr>
          <p:cNvPr id="14" name="pagenum"/>
          <p:cNvSpPr txBox="1"/>
          <p:nvPr/>
        </p:nvSpPr>
        <p:spPr>
          <a:xfrm>
            <a:off x="5588000" y="6629400"/>
            <a:ext cx="1016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808080"/>
                </a:solidFill>
                <a:latin typeface="MiSans" charset="-122"/>
                <a:ea typeface="MiSans" charset="-122"/>
              </a:rPr>
              <a:t>06</a:t>
            </a:r>
            <a:endParaRPr lang="en-US" sz="1600" noProof="1"/>
          </a:p>
        </p:txBody>
      </p:sp>
      <p:sp>
        <p:nvSpPr>
          <p:cNvPr id="15" name="圆角矩形 14"/>
          <p:cNvSpPr/>
          <p:nvPr/>
        </p:nvSpPr>
        <p:spPr>
          <a:xfrm>
            <a:off x="637540" y="1892300"/>
            <a:ext cx="1588770" cy="8382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  <a:latin typeface="MiSans" charset="-122"/>
                <a:ea typeface="MiSans" charset="-122"/>
                <a:sym typeface="+mn-ea"/>
              </a:rPr>
              <a:t>sys_open("/mnt/a.txt")</a:t>
            </a:r>
            <a:r>
              <a:rPr lang="en-US">
                <a:solidFill>
                  <a:srgbClr val="808080"/>
                </a:solidFill>
                <a:latin typeface="MiSans" charset="-122"/>
                <a:ea typeface="MiSans" charset="-122"/>
                <a:sym typeface="+mn-ea"/>
              </a:rPr>
              <a:t> </a:t>
            </a:r>
            <a:endParaRPr lang="zh-CN" altLang="en-US"/>
          </a:p>
        </p:txBody>
      </p:sp>
      <p:sp>
        <p:nvSpPr>
          <p:cNvPr id="16" name="圆角矩形 15"/>
          <p:cNvSpPr/>
          <p:nvPr/>
        </p:nvSpPr>
        <p:spPr>
          <a:xfrm>
            <a:off x="2467610" y="1892300"/>
            <a:ext cx="1456690" cy="8382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rgbClr val="808080"/>
                </a:solidFill>
                <a:latin typeface="MiSans" charset="-122"/>
                <a:ea typeface="MiSans" charset="-122"/>
                <a:sym typeface="+mn-ea"/>
              </a:rPr>
              <a:t> </a:t>
            </a:r>
            <a:r>
              <a:rPr lang="en-US">
                <a:solidFill>
                  <a:schemeClr val="tx1"/>
                </a:solidFill>
                <a:latin typeface="MiSans" charset="-122"/>
                <a:ea typeface="MiSans" charset="-122"/>
                <a:sym typeface="+mn-ea"/>
              </a:rPr>
              <a:t>根目录</a:t>
            </a:r>
            <a:endParaRPr lang="en-US" altLang="en-US">
              <a:solidFill>
                <a:schemeClr val="tx1"/>
              </a:solidFill>
              <a:latin typeface="MiSans" charset="-122"/>
              <a:ea typeface="MiSans" charset="-122"/>
              <a:sym typeface="+mn-ea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4165600" y="1869440"/>
            <a:ext cx="1621155" cy="8382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  <a:latin typeface="MiSans" charset="-122"/>
                <a:ea typeface="MiSans" charset="-122"/>
                <a:sym typeface="+mn-ea"/>
              </a:rPr>
              <a:t>lookup("mnt")</a:t>
            </a:r>
            <a:r>
              <a:rPr lang="en-US">
                <a:solidFill>
                  <a:srgbClr val="808080"/>
                </a:solidFill>
                <a:latin typeface="MiSans" charset="-122"/>
                <a:ea typeface="MiSans" charset="-122"/>
                <a:sym typeface="+mn-ea"/>
              </a:rPr>
              <a:t> </a:t>
            </a:r>
            <a:endParaRPr lang="zh-CN" altLang="en-US"/>
          </a:p>
        </p:txBody>
      </p:sp>
      <p:sp>
        <p:nvSpPr>
          <p:cNvPr id="18" name="圆角矩形 17"/>
          <p:cNvSpPr/>
          <p:nvPr/>
        </p:nvSpPr>
        <p:spPr>
          <a:xfrm>
            <a:off x="6028055" y="1869440"/>
            <a:ext cx="1749425" cy="8382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rgbClr val="808080"/>
                </a:solidFill>
                <a:latin typeface="MiSans" charset="-122"/>
                <a:ea typeface="MiSans" charset="-122"/>
                <a:sym typeface="+mn-ea"/>
              </a:rPr>
              <a:t> </a:t>
            </a:r>
            <a:r>
              <a:rPr lang="en-US">
                <a:solidFill>
                  <a:schemeClr val="tx1"/>
                </a:solidFill>
                <a:latin typeface="MiSans" charset="-122"/>
                <a:ea typeface="MiSans" charset="-122"/>
                <a:sym typeface="+mn-ea"/>
              </a:rPr>
              <a:t>cross_mount 穿越挂载点</a:t>
            </a:r>
            <a:endParaRPr lang="zh-CN" altLang="en-US">
              <a:solidFill>
                <a:schemeClr val="tx1"/>
              </a:solidFill>
              <a:latin typeface="MiSans" charset="-122"/>
              <a:ea typeface="MiSans" charset="-122"/>
              <a:sym typeface="+mn-ea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8092440" y="1869440"/>
            <a:ext cx="1475105" cy="8382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  <a:latin typeface="MiSans" charset="-122"/>
                <a:ea typeface="MiSans" charset="-122"/>
                <a:sym typeface="+mn-ea"/>
              </a:rPr>
              <a:t> ext2 根 </a:t>
            </a:r>
            <a:endParaRPr lang="en-US" altLang="en-US">
              <a:solidFill>
                <a:schemeClr val="tx1"/>
              </a:solidFill>
              <a:latin typeface="MiSans" charset="-122"/>
              <a:ea typeface="MiSans" charset="-122"/>
              <a:sym typeface="+mn-ea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9780905" y="1869440"/>
            <a:ext cx="1670050" cy="8382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  <a:latin typeface="MiSans" charset="-122"/>
                <a:ea typeface="MiSans" charset="-122"/>
                <a:sym typeface="+mn-ea"/>
              </a:rPr>
              <a:t> </a:t>
            </a:r>
            <a:r>
              <a:rPr lang="en-US">
                <a:solidFill>
                  <a:schemeClr val="tx1"/>
                </a:solidFill>
                <a:latin typeface="MiSans" charset="-122"/>
                <a:ea typeface="MiSans" charset="-122"/>
                <a:sym typeface="+mn-ea"/>
              </a:rPr>
              <a:t> lookup("a.txt")</a:t>
            </a:r>
            <a:endParaRPr lang="en-US" noProof="1">
              <a:solidFill>
                <a:schemeClr val="tx1"/>
              </a:solidFill>
            </a:endParaRPr>
          </a:p>
          <a:p>
            <a:pPr algn="ctr"/>
            <a:r>
              <a:rPr lang="en-US">
                <a:solidFill>
                  <a:schemeClr val="tx1"/>
                </a:solidFill>
                <a:latin typeface="MiSans" charset="-122"/>
                <a:ea typeface="MiSans" charset="-122"/>
                <a:sym typeface="+mn-ea"/>
              </a:rPr>
              <a:t> </a:t>
            </a:r>
            <a:endParaRPr lang="en-US" altLang="en-US">
              <a:solidFill>
                <a:schemeClr val="tx1"/>
              </a:solidFill>
              <a:latin typeface="MiSans" charset="-122"/>
              <a:ea typeface="MiSans" charset="-122"/>
              <a:sym typeface="+mn-ea"/>
            </a:endParaRPr>
          </a:p>
        </p:txBody>
      </p:sp>
      <p:cxnSp>
        <p:nvCxnSpPr>
          <p:cNvPr id="21" name="直接箭头连接符 20"/>
          <p:cNvCxnSpPr>
            <a:stCxn id="15" idx="3"/>
            <a:endCxn id="16" idx="1"/>
          </p:cNvCxnSpPr>
          <p:nvPr/>
        </p:nvCxnSpPr>
        <p:spPr>
          <a:xfrm>
            <a:off x="2226310" y="2311400"/>
            <a:ext cx="24130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>
            <a:stCxn id="16" idx="3"/>
          </p:cNvCxnSpPr>
          <p:nvPr/>
        </p:nvCxnSpPr>
        <p:spPr>
          <a:xfrm>
            <a:off x="3924300" y="2311400"/>
            <a:ext cx="24130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>
            <a:off x="5786755" y="2311400"/>
            <a:ext cx="24130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>
            <a:off x="7814310" y="2311400"/>
            <a:ext cx="24130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>
            <a:off x="9604375" y="2311400"/>
            <a:ext cx="24130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6" name="圆角矩形 25"/>
          <p:cNvSpPr/>
          <p:nvPr/>
        </p:nvSpPr>
        <p:spPr>
          <a:xfrm>
            <a:off x="2390775" y="4074795"/>
            <a:ext cx="1447800" cy="685800"/>
          </a:xfrm>
          <a:prstGeom prst="roundRect">
            <a:avLst/>
          </a:prstGeom>
          <a:solidFill>
            <a:schemeClr val="accent5">
              <a:lumMod val="75000"/>
              <a:alpha val="7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/>
              <a:t>/</a:t>
            </a:r>
            <a:endParaRPr lang="en-US" altLang="zh-CN" b="1"/>
          </a:p>
        </p:txBody>
      </p:sp>
      <p:sp>
        <p:nvSpPr>
          <p:cNvPr id="27" name="圆角矩形 26"/>
          <p:cNvSpPr/>
          <p:nvPr/>
        </p:nvSpPr>
        <p:spPr>
          <a:xfrm>
            <a:off x="2390775" y="5172710"/>
            <a:ext cx="1446530" cy="685800"/>
          </a:xfrm>
          <a:prstGeom prst="roundRect">
            <a:avLst/>
          </a:prstGeom>
          <a:solidFill>
            <a:schemeClr val="accent1">
              <a:lumMod val="20000"/>
              <a:lumOff val="80000"/>
              <a:alpha val="6000"/>
            </a:schemeClr>
          </a:solidFill>
          <a:ln w="254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accent5">
                    <a:lumMod val="75000"/>
                  </a:schemeClr>
                </a:solidFill>
              </a:rPr>
              <a:t>/mnt</a:t>
            </a:r>
            <a:endParaRPr lang="en-US" altLang="zh-CN" b="1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506845" y="4074795"/>
            <a:ext cx="1447800" cy="685800"/>
          </a:xfrm>
          <a:prstGeom prst="roundRect">
            <a:avLst/>
          </a:prstGeom>
          <a:solidFill>
            <a:schemeClr val="accent1">
              <a:lumMod val="40000"/>
              <a:lumOff val="60000"/>
              <a:alpha val="7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accent5">
                    <a:lumMod val="75000"/>
                  </a:schemeClr>
                </a:solidFill>
              </a:rPr>
              <a:t>/</a:t>
            </a:r>
            <a:endParaRPr lang="en-US" altLang="zh-CN" b="1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2390775" y="3629660"/>
            <a:ext cx="16725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5">
                    <a:lumMod val="75000"/>
                  </a:schemeClr>
                </a:solidFill>
              </a:rPr>
              <a:t>xv6fs </a:t>
            </a:r>
            <a:r>
              <a:rPr lang="zh-CN" altLang="en-US" b="1">
                <a:solidFill>
                  <a:schemeClr val="accent5">
                    <a:lumMod val="75000"/>
                  </a:schemeClr>
                </a:solidFill>
              </a:rPr>
              <a:t>目录树</a:t>
            </a:r>
            <a:endParaRPr lang="zh-CN" altLang="en-US" b="1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30" name="直接箭头连接符 29"/>
          <p:cNvCxnSpPr>
            <a:stCxn id="26" idx="2"/>
            <a:endCxn id="27" idx="0"/>
          </p:cNvCxnSpPr>
          <p:nvPr/>
        </p:nvCxnSpPr>
        <p:spPr>
          <a:xfrm flipH="1">
            <a:off x="3114040" y="4760595"/>
            <a:ext cx="635" cy="41211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" name="圆角矩形 30"/>
          <p:cNvSpPr/>
          <p:nvPr/>
        </p:nvSpPr>
        <p:spPr>
          <a:xfrm>
            <a:off x="6506845" y="5156200"/>
            <a:ext cx="1447800" cy="685800"/>
          </a:xfrm>
          <a:prstGeom prst="roundRect">
            <a:avLst/>
          </a:prstGeom>
          <a:solidFill>
            <a:schemeClr val="accent1">
              <a:lumMod val="40000"/>
              <a:lumOff val="60000"/>
              <a:alpha val="20000"/>
            </a:schemeClr>
          </a:solidFill>
          <a:ln w="254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>
                    <a:lumMod val="50000"/>
                    <a:lumOff val="50000"/>
                  </a:schemeClr>
                </a:solidFill>
              </a:rPr>
              <a:t>a.txt</a:t>
            </a:r>
            <a:endParaRPr lang="en-US" altLang="zh-CN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6506845" y="3670300"/>
            <a:ext cx="16725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5">
                    <a:lumMod val="75000"/>
                  </a:schemeClr>
                </a:solidFill>
              </a:rPr>
              <a:t>ext2 </a:t>
            </a:r>
            <a:r>
              <a:rPr lang="zh-CN" altLang="en-US" b="1">
                <a:solidFill>
                  <a:schemeClr val="accent5">
                    <a:lumMod val="75000"/>
                  </a:schemeClr>
                </a:solidFill>
              </a:rPr>
              <a:t>子树</a:t>
            </a:r>
            <a:endParaRPr lang="zh-CN" altLang="en-US" b="1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33" name="直接箭头连接符 32"/>
          <p:cNvCxnSpPr/>
          <p:nvPr/>
        </p:nvCxnSpPr>
        <p:spPr>
          <a:xfrm>
            <a:off x="7230745" y="4760595"/>
            <a:ext cx="0" cy="41211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曲线连接符 33"/>
          <p:cNvCxnSpPr>
            <a:stCxn id="27" idx="3"/>
          </p:cNvCxnSpPr>
          <p:nvPr/>
        </p:nvCxnSpPr>
        <p:spPr>
          <a:xfrm flipV="1">
            <a:off x="3837305" y="4461510"/>
            <a:ext cx="2755900" cy="1054100"/>
          </a:xfrm>
          <a:prstGeom prst="curvedConnector3">
            <a:avLst>
              <a:gd name="adj1" fmla="val 50000"/>
            </a:avLst>
          </a:prstGeom>
          <a:ln w="25400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曲线连接符 37"/>
          <p:cNvCxnSpPr/>
          <p:nvPr/>
        </p:nvCxnSpPr>
        <p:spPr>
          <a:xfrm rot="10800000" flipV="1">
            <a:off x="3237865" y="4093845"/>
            <a:ext cx="3268345" cy="1061085"/>
          </a:xfrm>
          <a:prstGeom prst="curvedConnector3">
            <a:avLst>
              <a:gd name="adj1" fmla="val 53798"/>
            </a:avLst>
          </a:prstGeom>
          <a:ln w="25400">
            <a:solidFill>
              <a:schemeClr val="accent2">
                <a:lumMod val="75000"/>
              </a:schemeClr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4640580" y="4068445"/>
            <a:ext cx="546100" cy="355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200" b="1">
                <a:solidFill>
                  <a:schemeClr val="accent2">
                    <a:lumMod val="75000"/>
                  </a:schemeClr>
                </a:solidFill>
              </a:rPr>
              <a:t>cd ..</a:t>
            </a:r>
            <a:endParaRPr lang="en-US" altLang="zh-CN" sz="1200"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3" name="圆角矩形 42"/>
          <p:cNvSpPr/>
          <p:nvPr/>
        </p:nvSpPr>
        <p:spPr>
          <a:xfrm>
            <a:off x="4640580" y="4866005"/>
            <a:ext cx="1685925" cy="288925"/>
          </a:xfrm>
          <a:prstGeom prst="roundRect">
            <a:avLst/>
          </a:prstGeom>
          <a:solidFill>
            <a:schemeClr val="accent1">
              <a:lumMod val="20000"/>
              <a:lumOff val="80000"/>
              <a:alpha val="6000"/>
            </a:schemeClr>
          </a:solidFill>
          <a:ln w="254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accent2">
                    <a:lumMod val="75000"/>
                  </a:schemeClr>
                </a:solidFill>
              </a:rPr>
              <a:t>mount /mnt 2 ext2</a:t>
            </a:r>
            <a:endParaRPr lang="en-US" altLang="zh-CN" sz="1200" b="1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10160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3" name="seclabel"/>
          <p:cNvSpPr txBox="1"/>
          <p:nvPr/>
        </p:nvSpPr>
        <p:spPr>
          <a:xfrm>
            <a:off x="584200" y="279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noProof="1">
                <a:solidFill>
                  <a:srgbClr val="E36C0A"/>
                </a:solidFill>
                <a:latin typeface="MiSans" charset="-122"/>
                <a:ea typeface="MiSans" charset="-122"/>
              </a:rPr>
              <a:t>▍</a:t>
            </a:r>
            <a:r>
              <a:rPr lang="en-US" sz="1100" noProof="1">
                <a:solidFill>
                  <a:srgbClr val="808080"/>
                </a:solidFill>
                <a:latin typeface="MiSans" charset="-122"/>
                <a:ea typeface="MiSans" charset="-122"/>
              </a:rPr>
              <a:t>FS-3 · ext2 后端</a:t>
            </a:r>
            <a:endParaRPr lang="en-US" sz="1600" noProof="1"/>
          </a:p>
        </p:txBody>
      </p:sp>
      <p:sp>
        <p:nvSpPr>
          <p:cNvPr id="4" name="title"/>
          <p:cNvSpPr txBox="1"/>
          <p:nvPr/>
        </p:nvSpPr>
        <p:spPr>
          <a:xfrm>
            <a:off x="584200" y="533400"/>
            <a:ext cx="10160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 noProof="1">
                <a:solidFill>
                  <a:srgbClr val="1F4E79"/>
                </a:solidFill>
                <a:latin typeface="MiSans" charset="-122"/>
                <a:ea typeface="MiSans" charset="-122"/>
              </a:rPr>
              <a:t>ext2：完整手写后端</a:t>
            </a:r>
            <a:endParaRPr lang="en-US" sz="2400" noProof="1"/>
          </a:p>
        </p:txBody>
      </p:sp>
      <p:sp>
        <p:nvSpPr>
          <p:cNvPr id="5" name="titleline"/>
          <p:cNvSpPr/>
          <p:nvPr/>
        </p:nvSpPr>
        <p:spPr>
          <a:xfrm>
            <a:off x="584200" y="1066800"/>
            <a:ext cx="11023600" cy="12700"/>
          </a:xfrm>
          <a:prstGeom prst="rect">
            <a:avLst/>
          </a:prstGeom>
          <a:solidFill>
            <a:srgbClr val="DCE6F0"/>
          </a:solidFill>
          <a:ln>
            <a:noFill/>
          </a:ln>
        </p:spPr>
      </p:sp>
      <p:sp>
        <p:nvSpPr>
          <p:cNvPr id="6" name="layout-title"/>
          <p:cNvSpPr txBox="1"/>
          <p:nvPr/>
        </p:nvSpPr>
        <p:spPr>
          <a:xfrm>
            <a:off x="607060" y="109855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 noProof="1">
                <a:solidFill>
                  <a:srgbClr val="1F4E79"/>
                </a:solidFill>
                <a:latin typeface="MiSans" charset="-122"/>
                <a:ea typeface="MiSans" charset="-122"/>
              </a:rPr>
              <a:t>ext2 磁盘布局</a:t>
            </a:r>
            <a:endParaRPr lang="en-US" sz="2000" noProof="1"/>
          </a:p>
        </p:txBody>
      </p:sp>
      <p:sp>
        <p:nvSpPr>
          <p:cNvPr id="7" name="seg1"/>
          <p:cNvSpPr/>
          <p:nvPr/>
        </p:nvSpPr>
        <p:spPr>
          <a:xfrm>
            <a:off x="584200" y="1625600"/>
            <a:ext cx="1689100" cy="660400"/>
          </a:xfrm>
          <a:prstGeom prst="roundRect">
            <a:avLst>
              <a:gd name="adj" fmla="val 8000"/>
            </a:avLst>
          </a:prstGeom>
          <a:solidFill>
            <a:srgbClr val="EAF2FA"/>
          </a:solidFill>
          <a:ln>
            <a:noFill/>
          </a:ln>
        </p:spPr>
      </p:sp>
      <p:sp>
        <p:nvSpPr>
          <p:cNvPr id="8" name="seg1-t"/>
          <p:cNvSpPr txBox="1"/>
          <p:nvPr/>
        </p:nvSpPr>
        <p:spPr>
          <a:xfrm>
            <a:off x="584200" y="1625600"/>
            <a:ext cx="16891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noProof="1">
                <a:solidFill>
                  <a:srgbClr val="1F4E79"/>
                </a:solidFill>
                <a:latin typeface="MiSans" charset="-122"/>
                <a:ea typeface="MiSans" charset="-122"/>
              </a:rPr>
              <a:t>启动块</a:t>
            </a:r>
            <a:endParaRPr lang="en-US" sz="1050" noProof="1"/>
          </a:p>
          <a:p>
            <a:pPr algn="ctr">
              <a:lnSpc>
                <a:spcPct val="120000"/>
              </a:lnSpc>
            </a:pPr>
            <a:r>
              <a:rPr lang="en-US" sz="1050" noProof="1">
                <a:solidFill>
                  <a:srgbClr val="1F4E79"/>
                </a:solidFill>
                <a:latin typeface="MiSans" charset="-122"/>
                <a:ea typeface="MiSans" charset="-122"/>
              </a:rPr>
              <a:t>superblock</a:t>
            </a:r>
            <a:endParaRPr lang="en-US" sz="1050" noProof="1"/>
          </a:p>
        </p:txBody>
      </p:sp>
      <p:sp>
        <p:nvSpPr>
          <p:cNvPr id="9" name="seg2"/>
          <p:cNvSpPr/>
          <p:nvPr/>
        </p:nvSpPr>
        <p:spPr>
          <a:xfrm>
            <a:off x="2451100" y="1625600"/>
            <a:ext cx="1689100" cy="660400"/>
          </a:xfrm>
          <a:prstGeom prst="roundRect">
            <a:avLst>
              <a:gd name="adj" fmla="val 8000"/>
            </a:avLst>
          </a:prstGeom>
          <a:solidFill>
            <a:srgbClr val="EAF2FA"/>
          </a:solidFill>
          <a:ln>
            <a:noFill/>
          </a:ln>
        </p:spPr>
      </p:sp>
      <p:sp>
        <p:nvSpPr>
          <p:cNvPr id="10" name="seg2-t"/>
          <p:cNvSpPr txBox="1"/>
          <p:nvPr/>
        </p:nvSpPr>
        <p:spPr>
          <a:xfrm>
            <a:off x="2451100" y="1625600"/>
            <a:ext cx="16891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noProof="1">
                <a:solidFill>
                  <a:srgbClr val="1F4E79"/>
                </a:solidFill>
                <a:latin typeface="MiSans" charset="-122"/>
                <a:ea typeface="MiSans" charset="-122"/>
              </a:rPr>
              <a:t>块组描述符</a:t>
            </a:r>
            <a:endParaRPr lang="en-US" sz="1050" noProof="1"/>
          </a:p>
        </p:txBody>
      </p:sp>
      <p:sp>
        <p:nvSpPr>
          <p:cNvPr id="11" name="seg3"/>
          <p:cNvSpPr/>
          <p:nvPr/>
        </p:nvSpPr>
        <p:spPr>
          <a:xfrm>
            <a:off x="4318000" y="1625600"/>
            <a:ext cx="1689100" cy="660400"/>
          </a:xfrm>
          <a:prstGeom prst="roundRect">
            <a:avLst>
              <a:gd name="adj" fmla="val 8000"/>
            </a:avLst>
          </a:prstGeom>
          <a:solidFill>
            <a:srgbClr val="EAF2FA"/>
          </a:solidFill>
          <a:ln>
            <a:noFill/>
          </a:ln>
        </p:spPr>
      </p:sp>
      <p:sp>
        <p:nvSpPr>
          <p:cNvPr id="12" name="seg3-t"/>
          <p:cNvSpPr txBox="1"/>
          <p:nvPr/>
        </p:nvSpPr>
        <p:spPr>
          <a:xfrm>
            <a:off x="4318000" y="1625600"/>
            <a:ext cx="16891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noProof="1">
                <a:solidFill>
                  <a:srgbClr val="1F4E79"/>
                </a:solidFill>
                <a:latin typeface="MiSans" charset="-122"/>
                <a:ea typeface="MiSans" charset="-122"/>
              </a:rPr>
              <a:t>块位图</a:t>
            </a:r>
            <a:endParaRPr lang="en-US" sz="1050" noProof="1"/>
          </a:p>
        </p:txBody>
      </p:sp>
      <p:sp>
        <p:nvSpPr>
          <p:cNvPr id="13" name="seg4"/>
          <p:cNvSpPr/>
          <p:nvPr/>
        </p:nvSpPr>
        <p:spPr>
          <a:xfrm>
            <a:off x="6184900" y="1625600"/>
            <a:ext cx="1689100" cy="660400"/>
          </a:xfrm>
          <a:prstGeom prst="roundRect">
            <a:avLst>
              <a:gd name="adj" fmla="val 8000"/>
            </a:avLst>
          </a:prstGeom>
          <a:solidFill>
            <a:srgbClr val="EAF2FA"/>
          </a:solidFill>
          <a:ln>
            <a:noFill/>
          </a:ln>
        </p:spPr>
      </p:sp>
      <p:sp>
        <p:nvSpPr>
          <p:cNvPr id="14" name="seg4-t"/>
          <p:cNvSpPr txBox="1"/>
          <p:nvPr/>
        </p:nvSpPr>
        <p:spPr>
          <a:xfrm>
            <a:off x="6184900" y="1625600"/>
            <a:ext cx="16891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noProof="1">
                <a:solidFill>
                  <a:srgbClr val="1F4E79"/>
                </a:solidFill>
                <a:latin typeface="MiSans" charset="-122"/>
                <a:ea typeface="MiSans" charset="-122"/>
              </a:rPr>
              <a:t>inode 位图</a:t>
            </a:r>
            <a:endParaRPr lang="en-US" sz="1050" noProof="1"/>
          </a:p>
        </p:txBody>
      </p:sp>
      <p:sp>
        <p:nvSpPr>
          <p:cNvPr id="15" name="seg5"/>
          <p:cNvSpPr/>
          <p:nvPr/>
        </p:nvSpPr>
        <p:spPr>
          <a:xfrm>
            <a:off x="8051800" y="1625600"/>
            <a:ext cx="1689100" cy="660400"/>
          </a:xfrm>
          <a:prstGeom prst="roundRect">
            <a:avLst>
              <a:gd name="adj" fmla="val 8000"/>
            </a:avLst>
          </a:prstGeom>
          <a:solidFill>
            <a:srgbClr val="EAF2FA"/>
          </a:solidFill>
          <a:ln>
            <a:noFill/>
          </a:ln>
        </p:spPr>
      </p:sp>
      <p:sp>
        <p:nvSpPr>
          <p:cNvPr id="16" name="seg5-t"/>
          <p:cNvSpPr txBox="1"/>
          <p:nvPr/>
        </p:nvSpPr>
        <p:spPr>
          <a:xfrm>
            <a:off x="8051800" y="1625600"/>
            <a:ext cx="16891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noProof="1">
                <a:solidFill>
                  <a:srgbClr val="1F4E79"/>
                </a:solidFill>
                <a:latin typeface="MiSans" charset="-122"/>
                <a:ea typeface="MiSans" charset="-122"/>
              </a:rPr>
              <a:t>inode 表</a:t>
            </a:r>
            <a:endParaRPr lang="en-US" sz="1050" noProof="1"/>
          </a:p>
        </p:txBody>
      </p:sp>
      <p:sp>
        <p:nvSpPr>
          <p:cNvPr id="18" name="seg6-t"/>
          <p:cNvSpPr txBox="1"/>
          <p:nvPr/>
        </p:nvSpPr>
        <p:spPr>
          <a:xfrm>
            <a:off x="9474200" y="1625600"/>
            <a:ext cx="16891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noProof="1">
                <a:solidFill>
                  <a:srgbClr val="1F4E79"/>
                </a:solidFill>
                <a:latin typeface="MiSans" charset="-122"/>
                <a:ea typeface="MiSans" charset="-122"/>
              </a:rPr>
              <a:t>数据块</a:t>
            </a:r>
            <a:endParaRPr lang="en-US" sz="1050" noProof="1"/>
          </a:p>
        </p:txBody>
      </p:sp>
      <p:sp>
        <p:nvSpPr>
          <p:cNvPr id="19" name="layout-note"/>
          <p:cNvSpPr txBox="1"/>
          <p:nvPr/>
        </p:nvSpPr>
        <p:spPr>
          <a:xfrm>
            <a:off x="584200" y="2632075"/>
            <a:ext cx="110236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808080"/>
                </a:solidFill>
                <a:latin typeface="MiSans" charset="-122"/>
                <a:ea typeface="MiSans" charset="-122"/>
              </a:rPr>
              <a:t>位图分配统一持 </a:t>
            </a:r>
            <a:r>
              <a:rPr lang="en-US" sz="1200" noProof="1">
                <a:solidFill>
                  <a:srgbClr val="808080"/>
                </a:solidFill>
                <a:latin typeface="Consolas" panose="020B0609020204030204"/>
                <a:ea typeface="MiSans" charset="-122"/>
              </a:rPr>
              <a:t>mp-&gt;lock</a:t>
            </a:r>
            <a:r>
              <a:rPr lang="en-US" sz="1200" noProof="1">
                <a:solidFill>
                  <a:srgbClr val="808080"/>
                </a:solidFill>
                <a:latin typeface="MiSans" charset="-122"/>
                <a:ea typeface="MiSans" charset="-122"/>
              </a:rPr>
              <a:t> 串行化，失败路径统一回滚</a:t>
            </a:r>
            <a:endParaRPr lang="en-US" sz="1200" noProof="1"/>
          </a:p>
        </p:txBody>
      </p:sp>
      <p:sp>
        <p:nvSpPr>
          <p:cNvPr id="20" name="tl-title"/>
          <p:cNvSpPr txBox="1"/>
          <p:nvPr/>
        </p:nvSpPr>
        <p:spPr>
          <a:xfrm>
            <a:off x="584200" y="3035300"/>
            <a:ext cx="889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 noProof="1">
                <a:solidFill>
                  <a:srgbClr val="1F4E79"/>
                </a:solidFill>
                <a:latin typeface="MiSans" charset="-122"/>
                <a:ea typeface="MiSans" charset="-122"/>
              </a:rPr>
              <a:t>unlink 打开中文件：orphaned 延迟释放</a:t>
            </a:r>
            <a:endParaRPr lang="en-US" sz="2000" noProof="1"/>
          </a:p>
        </p:txBody>
      </p:sp>
      <p:sp>
        <p:nvSpPr>
          <p:cNvPr id="21" name="tl-line"/>
          <p:cNvSpPr/>
          <p:nvPr/>
        </p:nvSpPr>
        <p:spPr>
          <a:xfrm>
            <a:off x="1016000" y="4237990"/>
            <a:ext cx="10160000" cy="25400"/>
          </a:xfrm>
          <a:prstGeom prst="rect">
            <a:avLst/>
          </a:prstGeom>
          <a:solidFill>
            <a:srgbClr val="C9D8E8"/>
          </a:solidFill>
          <a:ln>
            <a:noFill/>
          </a:ln>
        </p:spPr>
      </p:sp>
      <p:sp>
        <p:nvSpPr>
          <p:cNvPr id="22" name="tl-n1"/>
          <p:cNvSpPr/>
          <p:nvPr/>
        </p:nvSpPr>
        <p:spPr>
          <a:xfrm>
            <a:off x="1574800" y="4174490"/>
            <a:ext cx="152400" cy="1524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23" name="tl-n2"/>
          <p:cNvSpPr/>
          <p:nvPr/>
        </p:nvSpPr>
        <p:spPr>
          <a:xfrm>
            <a:off x="4368800" y="4174490"/>
            <a:ext cx="152400" cy="1524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24" name="tl-n3"/>
          <p:cNvSpPr/>
          <p:nvPr/>
        </p:nvSpPr>
        <p:spPr>
          <a:xfrm>
            <a:off x="7162800" y="4174490"/>
            <a:ext cx="152400" cy="152400"/>
          </a:xfrm>
          <a:prstGeom prst="ellipse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25" name="tl-n4"/>
          <p:cNvSpPr/>
          <p:nvPr/>
        </p:nvSpPr>
        <p:spPr>
          <a:xfrm>
            <a:off x="9956800" y="4174490"/>
            <a:ext cx="152400" cy="1524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26" name="tl-l1"/>
          <p:cNvSpPr txBox="1"/>
          <p:nvPr/>
        </p:nvSpPr>
        <p:spPr>
          <a:xfrm>
            <a:off x="635000" y="3656965"/>
            <a:ext cx="2032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noProof="1">
                <a:solidFill>
                  <a:srgbClr val="1F4E79"/>
                </a:solidFill>
                <a:latin typeface="MiSans" charset="-122"/>
                <a:ea typeface="MiSans" charset="-122"/>
              </a:rPr>
              <a:t>T1　open</a:t>
            </a:r>
            <a:endParaRPr lang="en-US" sz="1600" noProof="1"/>
          </a:p>
        </p:txBody>
      </p:sp>
      <p:sp>
        <p:nvSpPr>
          <p:cNvPr id="27" name="tl-l2"/>
          <p:cNvSpPr txBox="1"/>
          <p:nvPr/>
        </p:nvSpPr>
        <p:spPr>
          <a:xfrm>
            <a:off x="3429000" y="3623310"/>
            <a:ext cx="2032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noProof="1">
                <a:solidFill>
                  <a:srgbClr val="1F4E79"/>
                </a:solidFill>
                <a:latin typeface="MiSans" charset="-122"/>
                <a:ea typeface="MiSans" charset="-122"/>
              </a:rPr>
              <a:t>T2　namei 退出</a:t>
            </a:r>
            <a:endParaRPr lang="en-US" sz="1600" noProof="1"/>
          </a:p>
        </p:txBody>
      </p:sp>
      <p:sp>
        <p:nvSpPr>
          <p:cNvPr id="28" name="tl-l3"/>
          <p:cNvSpPr txBox="1"/>
          <p:nvPr/>
        </p:nvSpPr>
        <p:spPr>
          <a:xfrm>
            <a:off x="6223000" y="3623310"/>
            <a:ext cx="2032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noProof="1">
                <a:solidFill>
                  <a:srgbClr val="E36C0A"/>
                </a:solidFill>
                <a:latin typeface="MiSans" charset="-122"/>
                <a:ea typeface="MiSans" charset="-122"/>
              </a:rPr>
              <a:t>T3　unlink</a:t>
            </a:r>
            <a:endParaRPr lang="en-US" sz="1600" noProof="1"/>
          </a:p>
        </p:txBody>
      </p:sp>
      <p:sp>
        <p:nvSpPr>
          <p:cNvPr id="29" name="tl-l4"/>
          <p:cNvSpPr txBox="1"/>
          <p:nvPr/>
        </p:nvSpPr>
        <p:spPr>
          <a:xfrm>
            <a:off x="9017000" y="3623310"/>
            <a:ext cx="2032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noProof="1">
                <a:solidFill>
                  <a:srgbClr val="1F4E79"/>
                </a:solidFill>
                <a:latin typeface="MiSans" charset="-122"/>
                <a:ea typeface="MiSans" charset="-122"/>
              </a:rPr>
              <a:t>T4　close</a:t>
            </a:r>
            <a:endParaRPr lang="en-US" sz="1600" noProof="1"/>
          </a:p>
        </p:txBody>
      </p:sp>
      <p:sp>
        <p:nvSpPr>
          <p:cNvPr id="30" name="tl-d1"/>
          <p:cNvSpPr txBox="1"/>
          <p:nvPr/>
        </p:nvSpPr>
        <p:spPr>
          <a:xfrm>
            <a:off x="482600" y="4616450"/>
            <a:ext cx="2286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noProof="1">
                <a:solidFill>
                  <a:srgbClr val="808080"/>
                </a:solidFill>
                <a:latin typeface="MiSans" charset="-122"/>
                <a:ea typeface="MiSans" charset="-122"/>
              </a:rPr>
              <a:t>ref=2, links=1</a:t>
            </a:r>
            <a:endParaRPr lang="en-US" sz="1400" noProof="1"/>
          </a:p>
        </p:txBody>
      </p:sp>
      <p:sp>
        <p:nvSpPr>
          <p:cNvPr id="31" name="tl-d2"/>
          <p:cNvSpPr txBox="1"/>
          <p:nvPr/>
        </p:nvSpPr>
        <p:spPr>
          <a:xfrm>
            <a:off x="3302000" y="4578350"/>
            <a:ext cx="2286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noProof="1">
                <a:solidFill>
                  <a:srgbClr val="808080"/>
                </a:solidFill>
                <a:latin typeface="MiSans" charset="-122"/>
                <a:ea typeface="MiSans" charset="-122"/>
              </a:rPr>
              <a:t>ref=1</a:t>
            </a:r>
            <a:endParaRPr lang="en-US" sz="1400" noProof="1"/>
          </a:p>
        </p:txBody>
      </p:sp>
      <p:sp>
        <p:nvSpPr>
          <p:cNvPr id="32" name="tl-d3"/>
          <p:cNvSpPr txBox="1"/>
          <p:nvPr/>
        </p:nvSpPr>
        <p:spPr>
          <a:xfrm>
            <a:off x="6096000" y="4470400"/>
            <a:ext cx="2286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noProof="1">
                <a:solidFill>
                  <a:srgbClr val="808080"/>
                </a:solidFill>
                <a:latin typeface="MiSans" charset="-122"/>
                <a:ea typeface="MiSans" charset="-122"/>
              </a:rPr>
              <a:t>links=0，打 orphaned 标记</a:t>
            </a:r>
            <a:endParaRPr lang="en-US" sz="1400" noProof="1"/>
          </a:p>
          <a:p>
            <a:pPr algn="ctr">
              <a:lnSpc>
                <a:spcPct val="140000"/>
              </a:lnSpc>
            </a:pPr>
            <a:r>
              <a:rPr lang="en-US" sz="1400" noProof="1">
                <a:solidFill>
                  <a:srgbClr val="808080"/>
                </a:solidFill>
                <a:latin typeface="MiSans" charset="-122"/>
                <a:ea typeface="MiSans" charset="-122"/>
              </a:rPr>
              <a:t>inode / 块暂不回收</a:t>
            </a:r>
            <a:endParaRPr lang="en-US" sz="1400" noProof="1"/>
          </a:p>
        </p:txBody>
      </p:sp>
      <p:sp>
        <p:nvSpPr>
          <p:cNvPr id="33" name="tl-d4"/>
          <p:cNvSpPr txBox="1"/>
          <p:nvPr/>
        </p:nvSpPr>
        <p:spPr>
          <a:xfrm>
            <a:off x="8890000" y="4368800"/>
            <a:ext cx="2286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noProof="1">
                <a:solidFill>
                  <a:srgbClr val="808080"/>
                </a:solidFill>
                <a:latin typeface="MiSans" charset="-122"/>
                <a:ea typeface="MiSans" charset="-122"/>
              </a:rPr>
              <a:t>ref=0，真正执行</a:t>
            </a:r>
            <a:endParaRPr lang="en-US" sz="1400" noProof="1"/>
          </a:p>
          <a:p>
            <a:pPr algn="ctr">
              <a:lnSpc>
                <a:spcPct val="140000"/>
              </a:lnSpc>
            </a:pPr>
            <a:r>
              <a:rPr lang="en-US" sz="1400" noProof="1">
                <a:solidFill>
                  <a:srgbClr val="808080"/>
                </a:solidFill>
                <a:latin typeface="MiSans" charset="-122"/>
                <a:ea typeface="MiSans" charset="-122"/>
              </a:rPr>
              <a:t>i_truncate + ifree</a:t>
            </a:r>
            <a:endParaRPr lang="en-US" sz="1400" noProof="1"/>
          </a:p>
        </p:txBody>
      </p:sp>
      <p:sp>
        <p:nvSpPr>
          <p:cNvPr id="34" name="tl-note"/>
          <p:cNvSpPr txBox="1"/>
          <p:nvPr/>
        </p:nvSpPr>
        <p:spPr>
          <a:xfrm>
            <a:off x="584200" y="5283200"/>
            <a:ext cx="11023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0000"/>
              </a:lnSpc>
            </a:pPr>
            <a:endParaRPr lang="en-US" sz="1050" noProof="1"/>
          </a:p>
        </p:txBody>
      </p:sp>
      <p:sp>
        <p:nvSpPr>
          <p:cNvPr id="35" name="hl-line"/>
          <p:cNvSpPr/>
          <p:nvPr/>
        </p:nvSpPr>
        <p:spPr>
          <a:xfrm>
            <a:off x="584200" y="6223000"/>
            <a:ext cx="11023600" cy="25400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36" name="hl-text"/>
          <p:cNvSpPr txBox="1"/>
          <p:nvPr/>
        </p:nvSpPr>
        <p:spPr>
          <a:xfrm>
            <a:off x="2540000" y="6324600"/>
            <a:ext cx="9067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endParaRPr lang="en-US" sz="1600" noProof="1"/>
          </a:p>
        </p:txBody>
      </p:sp>
      <p:sp>
        <p:nvSpPr>
          <p:cNvPr id="37" name="pagenum"/>
          <p:cNvSpPr txBox="1"/>
          <p:nvPr/>
        </p:nvSpPr>
        <p:spPr>
          <a:xfrm>
            <a:off x="5588000" y="6629400"/>
            <a:ext cx="1016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808080"/>
                </a:solidFill>
                <a:latin typeface="MiSans" charset="-122"/>
                <a:ea typeface="MiSans" charset="-122"/>
              </a:rPr>
              <a:t>07</a:t>
            </a:r>
            <a:endParaRPr lang="en-US" sz="1600" noProof="1"/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" y="1527810"/>
            <a:ext cx="10568940" cy="10598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3" name="seclabel"/>
          <p:cNvSpPr txBox="1"/>
          <p:nvPr/>
        </p:nvSpPr>
        <p:spPr>
          <a:xfrm>
            <a:off x="584200" y="279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noProof="1">
                <a:solidFill>
                  <a:srgbClr val="E36C0A"/>
                </a:solidFill>
                <a:latin typeface="MiSans" charset="-122"/>
                <a:ea typeface="MiSans" charset="-122"/>
              </a:rPr>
              <a:t>▍</a:t>
            </a:r>
            <a:r>
              <a:rPr lang="en-US" sz="1100" noProof="1">
                <a:solidFill>
                  <a:srgbClr val="808080"/>
                </a:solidFill>
                <a:latin typeface="MiSans" charset="-122"/>
                <a:ea typeface="MiSans" charset="-122"/>
              </a:rPr>
              <a:t>FS-4 · FAT32 接入</a:t>
            </a:r>
            <a:endParaRPr lang="en-US" sz="1600" noProof="1"/>
          </a:p>
        </p:txBody>
      </p:sp>
      <p:sp>
        <p:nvSpPr>
          <p:cNvPr id="4" name="title"/>
          <p:cNvSpPr txBox="1"/>
          <p:nvPr/>
        </p:nvSpPr>
        <p:spPr>
          <a:xfrm>
            <a:off x="584200" y="533400"/>
            <a:ext cx="10160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 noProof="1">
                <a:solidFill>
                  <a:srgbClr val="1F4E79"/>
                </a:solidFill>
                <a:latin typeface="MiSans" charset="-122"/>
                <a:ea typeface="MiSans" charset="-122"/>
              </a:rPr>
              <a:t>FAT32 接入与三 FS 异构统一</a:t>
            </a:r>
            <a:endParaRPr lang="en-US" sz="2400" noProof="1"/>
          </a:p>
        </p:txBody>
      </p:sp>
      <p:sp>
        <p:nvSpPr>
          <p:cNvPr id="5" name="titleline"/>
          <p:cNvSpPr/>
          <p:nvPr/>
        </p:nvSpPr>
        <p:spPr>
          <a:xfrm>
            <a:off x="584200" y="1066800"/>
            <a:ext cx="11023600" cy="12700"/>
          </a:xfrm>
          <a:prstGeom prst="rect">
            <a:avLst/>
          </a:prstGeom>
          <a:solidFill>
            <a:srgbClr val="DCE6F0"/>
          </a:solidFill>
          <a:ln>
            <a:noFill/>
          </a:ln>
        </p:spPr>
      </p:sp>
      <p:sp>
        <p:nvSpPr>
          <p:cNvPr id="6" name="top-title"/>
          <p:cNvSpPr txBox="1"/>
          <p:nvPr/>
        </p:nvSpPr>
        <p:spPr>
          <a:xfrm>
            <a:off x="584200" y="12700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b="1" noProof="1">
                <a:solidFill>
                  <a:srgbClr val="1F4E79"/>
                </a:solidFill>
                <a:latin typeface="MiSans" charset="-122"/>
                <a:ea typeface="MiSans" charset="-122"/>
              </a:rPr>
              <a:t>FAT32 接入要点</a:t>
            </a:r>
            <a:endParaRPr lang="en-US" noProof="1"/>
          </a:p>
        </p:txBody>
      </p:sp>
      <p:sp>
        <p:nvSpPr>
          <p:cNvPr id="7" name="c1"/>
          <p:cNvSpPr/>
          <p:nvPr/>
        </p:nvSpPr>
        <p:spPr>
          <a:xfrm>
            <a:off x="584200" y="1625600"/>
            <a:ext cx="3556000" cy="18542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8" name="c1-num"/>
          <p:cNvSpPr/>
          <p:nvPr/>
        </p:nvSpPr>
        <p:spPr>
          <a:xfrm>
            <a:off x="787400" y="1803400"/>
            <a:ext cx="254000" cy="254000"/>
          </a:xfrm>
          <a:prstGeom prst="ellipse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" name="c1-num-t"/>
          <p:cNvSpPr txBox="1"/>
          <p:nvPr/>
        </p:nvSpPr>
        <p:spPr>
          <a:xfrm>
            <a:off x="787400" y="1803400"/>
            <a:ext cx="25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1</a:t>
            </a:r>
            <a:endParaRPr lang="en-US" sz="1600" noProof="1"/>
          </a:p>
        </p:txBody>
      </p:sp>
      <p:sp>
        <p:nvSpPr>
          <p:cNvPr id="10" name="c1-title"/>
          <p:cNvSpPr txBox="1"/>
          <p:nvPr/>
        </p:nvSpPr>
        <p:spPr>
          <a:xfrm>
            <a:off x="1143000" y="1803400"/>
            <a:ext cx="279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b="1" noProof="1">
                <a:solidFill>
                  <a:srgbClr val="1F4E79"/>
                </a:solidFill>
                <a:latin typeface="MiSans" charset="-122"/>
                <a:ea typeface="MiSans" charset="-122"/>
              </a:rPr>
              <a:t>扇区映射</a:t>
            </a:r>
            <a:endParaRPr lang="en-US" b="1" noProof="1">
              <a:solidFill>
                <a:srgbClr val="1F4E79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11" name="c1-body"/>
          <p:cNvSpPr txBox="1"/>
          <p:nvPr/>
        </p:nvSpPr>
        <p:spPr>
          <a:xfrm>
            <a:off x="787400" y="2159000"/>
            <a:ext cx="3149600" cy="1168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600" noProof="1">
                <a:solidFill>
                  <a:srgbClr val="333333"/>
                </a:solidFill>
                <a:latin typeface="MiSans" charset="-122"/>
                <a:ea typeface="MiSans" charset="-122"/>
              </a:rPr>
              <a:t>sread / swrite 完成 512B 扇区 ↔ 1024B 块换算（含双 FAT 镜像更新）</a:t>
            </a:r>
            <a:endParaRPr lang="en-US" sz="1600" noProof="1"/>
          </a:p>
        </p:txBody>
      </p:sp>
      <p:sp>
        <p:nvSpPr>
          <p:cNvPr id="12" name="c2"/>
          <p:cNvSpPr/>
          <p:nvPr/>
        </p:nvSpPr>
        <p:spPr>
          <a:xfrm>
            <a:off x="4318000" y="1625600"/>
            <a:ext cx="3556000" cy="18542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13" name="c2-num"/>
          <p:cNvSpPr/>
          <p:nvPr/>
        </p:nvSpPr>
        <p:spPr>
          <a:xfrm>
            <a:off x="4521200" y="1803400"/>
            <a:ext cx="254000" cy="254000"/>
          </a:xfrm>
          <a:prstGeom prst="ellipse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14" name="c2-num-t"/>
          <p:cNvSpPr txBox="1"/>
          <p:nvPr/>
        </p:nvSpPr>
        <p:spPr>
          <a:xfrm>
            <a:off x="4521200" y="1803400"/>
            <a:ext cx="25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2</a:t>
            </a:r>
            <a:endParaRPr lang="en-US" sz="1600" noProof="1"/>
          </a:p>
        </p:txBody>
      </p:sp>
      <p:sp>
        <p:nvSpPr>
          <p:cNvPr id="15" name="c2-title"/>
          <p:cNvSpPr txBox="1"/>
          <p:nvPr/>
        </p:nvSpPr>
        <p:spPr>
          <a:xfrm>
            <a:off x="4876800" y="1803400"/>
            <a:ext cx="279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b="1" noProof="1">
                <a:solidFill>
                  <a:srgbClr val="1F4E79"/>
                </a:solidFill>
                <a:latin typeface="MiSans" charset="-122"/>
                <a:ea typeface="MiSans" charset="-122"/>
              </a:rPr>
              <a:t>LFN 长文件名</a:t>
            </a:r>
            <a:endParaRPr lang="en-US" noProof="1"/>
          </a:p>
        </p:txBody>
      </p:sp>
      <p:sp>
        <p:nvSpPr>
          <p:cNvPr id="16" name="c2-body"/>
          <p:cNvSpPr txBox="1"/>
          <p:nvPr/>
        </p:nvSpPr>
        <p:spPr>
          <a:xfrm>
            <a:off x="4521200" y="2159000"/>
            <a:ext cx="3149600" cy="1168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600" noProof="1">
                <a:solidFill>
                  <a:srgbClr val="333333"/>
                </a:solidFill>
                <a:latin typeface="MiSans" charset="-122"/>
                <a:ea typeface="MiSans" charset="-122"/>
              </a:rPr>
              <a:t>13 字符/条 LFN 链重组，完整长名 ≤255（校验和、逆序存储按规范）</a:t>
            </a:r>
            <a:endParaRPr lang="en-US" sz="1600" noProof="1"/>
          </a:p>
        </p:txBody>
      </p:sp>
      <p:sp>
        <p:nvSpPr>
          <p:cNvPr id="17" name="c3"/>
          <p:cNvSpPr/>
          <p:nvPr/>
        </p:nvSpPr>
        <p:spPr>
          <a:xfrm>
            <a:off x="8051800" y="1625600"/>
            <a:ext cx="3556000" cy="18542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18" name="c3-num"/>
          <p:cNvSpPr/>
          <p:nvPr/>
        </p:nvSpPr>
        <p:spPr>
          <a:xfrm>
            <a:off x="8255000" y="1803400"/>
            <a:ext cx="254000" cy="254000"/>
          </a:xfrm>
          <a:prstGeom prst="ellipse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19" name="c3-num-t"/>
          <p:cNvSpPr txBox="1"/>
          <p:nvPr/>
        </p:nvSpPr>
        <p:spPr>
          <a:xfrm>
            <a:off x="8255000" y="1803400"/>
            <a:ext cx="25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3</a:t>
            </a:r>
            <a:endParaRPr lang="en-US" sz="1600" noProof="1"/>
          </a:p>
        </p:txBody>
      </p:sp>
      <p:sp>
        <p:nvSpPr>
          <p:cNvPr id="20" name="c3-title"/>
          <p:cNvSpPr txBox="1"/>
          <p:nvPr/>
        </p:nvSpPr>
        <p:spPr>
          <a:xfrm>
            <a:off x="8610600" y="1803400"/>
            <a:ext cx="279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b="1" noProof="1">
                <a:solidFill>
                  <a:srgbClr val="1F4E79"/>
                </a:solidFill>
                <a:latin typeface="MiSans" charset="-122"/>
                <a:ea typeface="MiSans" charset="-122"/>
              </a:rPr>
              <a:t>三镜像独立 RAM disk</a:t>
            </a:r>
            <a:endParaRPr lang="en-US" noProof="1"/>
          </a:p>
        </p:txBody>
      </p:sp>
      <p:sp>
        <p:nvSpPr>
          <p:cNvPr id="21" name="c3-body"/>
          <p:cNvSpPr txBox="1"/>
          <p:nvPr/>
        </p:nvSpPr>
        <p:spPr>
          <a:xfrm>
            <a:off x="8255000" y="2159000"/>
            <a:ext cx="3149600" cy="1168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600" noProof="1">
                <a:solidFill>
                  <a:srgbClr val="333333"/>
                </a:solidFill>
                <a:latin typeface="MiSans" charset="-122"/>
                <a:ea typeface="MiSans" charset="-122"/>
              </a:rPr>
              <a:t>QEMU loader 加载 0x09000000 / 0a / 0b，破 4MB ROM 限制，双平台设备语义一致</a:t>
            </a:r>
            <a:endParaRPr lang="en-US" sz="1600" noProof="1"/>
          </a:p>
        </p:txBody>
      </p:sp>
      <p:sp>
        <p:nvSpPr>
          <p:cNvPr id="22" name="tbl-title"/>
          <p:cNvSpPr txBox="1"/>
          <p:nvPr/>
        </p:nvSpPr>
        <p:spPr>
          <a:xfrm>
            <a:off x="584200" y="36322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b="1" noProof="1">
                <a:solidFill>
                  <a:srgbClr val="1F4E79"/>
                </a:solidFill>
                <a:latin typeface="MiSans" charset="-122"/>
                <a:ea typeface="MiSans" charset="-122"/>
              </a:rPr>
              <a:t>三种异构，一个 vnode_ops</a:t>
            </a:r>
            <a:endParaRPr lang="en-US" noProof="1"/>
          </a:p>
        </p:txBody>
      </p:sp>
      <p:graphicFrame>
        <p:nvGraphicFramePr>
          <p:cNvPr id="23" name="cmp-table"/>
          <p:cNvGraphicFramePr>
            <a:graphicFrameLocks noGrp="1"/>
          </p:cNvGraphicFramePr>
          <p:nvPr/>
        </p:nvGraphicFramePr>
        <p:xfrm>
          <a:off x="584200" y="4038600"/>
          <a:ext cx="11023600" cy="1879600"/>
        </p:xfrm>
        <a:graphic>
          <a:graphicData uri="http://schemas.openxmlformats.org/drawingml/2006/table">
            <a:tbl>
              <a:tblPr/>
              <a:tblGrid>
                <a:gridCol w="1763776"/>
                <a:gridCol w="3086608"/>
                <a:gridCol w="3086608"/>
                <a:gridCol w="3086608"/>
              </a:tblGrid>
              <a:tr h="469900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400" b="1" noProof="1">
                          <a:solidFill>
                            <a:srgbClr val="FFFFFF"/>
                          </a:solidFill>
                          <a:latin typeface="MiSans" charset="-122"/>
                          <a:ea typeface="MiSans" charset="-122"/>
                        </a:rPr>
                        <a:t>概念</a:t>
                      </a:r>
                      <a:endParaRPr lang="en-US" sz="1400" b="1" noProof="1">
                        <a:solidFill>
                          <a:srgbClr val="FFFFFF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400" b="1" noProof="1">
                          <a:solidFill>
                            <a:srgbClr val="FFFFFF"/>
                          </a:solidFill>
                          <a:latin typeface="MiSans" charset="-122"/>
                          <a:ea typeface="MiSans" charset="-122"/>
                        </a:rPr>
                        <a:t>xv6fs</a:t>
                      </a:r>
                      <a:endParaRPr lang="en-US" sz="1400" b="1" noProof="1">
                        <a:solidFill>
                          <a:srgbClr val="FFFFFF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400" b="1" noProof="1">
                          <a:solidFill>
                            <a:srgbClr val="FFFFFF"/>
                          </a:solidFill>
                          <a:latin typeface="MiSans" charset="-122"/>
                          <a:ea typeface="MiSans" charset="-122"/>
                        </a:rPr>
                        <a:t>ext2</a:t>
                      </a:r>
                      <a:endParaRPr lang="en-US" sz="1400" b="1" noProof="1">
                        <a:solidFill>
                          <a:srgbClr val="FFFFFF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400" b="1" noProof="1">
                          <a:solidFill>
                            <a:srgbClr val="FFFFFF"/>
                          </a:solidFill>
                          <a:latin typeface="MiSans" charset="-122"/>
                          <a:ea typeface="MiSans" charset="-122"/>
                        </a:rPr>
                        <a:t>FAT32</a:t>
                      </a:r>
                      <a:endParaRPr lang="en-US" sz="1400" b="1" noProof="1">
                        <a:solidFill>
                          <a:srgbClr val="FFFFFF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1F4E79"/>
                    </a:solidFill>
                  </a:tcPr>
                </a:tc>
              </a:tr>
              <a:tr h="469900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400" b="1" noProof="1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</a:rPr>
                        <a:t>vnode 私有</a:t>
                      </a:r>
                      <a:endParaRPr lang="en-US" sz="1400" b="1" noProof="1">
                        <a:solidFill>
                          <a:srgbClr val="333333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400" noProof="1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</a:rPr>
                        <a:t>包装 inode</a:t>
                      </a:r>
                      <a:endParaRPr lang="en-US" sz="1400" noProof="1">
                        <a:solidFill>
                          <a:srgbClr val="333333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400" noProof="1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</a:rPr>
                        <a:t>磁盘 inode 副本</a:t>
                      </a:r>
                      <a:endParaRPr lang="en-US" sz="1400" noProof="1">
                        <a:solidFill>
                          <a:srgbClr val="333333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400" noProof="1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</a:rPr>
                        <a:t>目录项 + 簇链</a:t>
                      </a:r>
                      <a:endParaRPr lang="en-US" sz="1400" noProof="1">
                        <a:solidFill>
                          <a:srgbClr val="333333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9900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400" b="1" noProof="1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</a:rPr>
                        <a:t>目录查找</a:t>
                      </a:r>
                      <a:endParaRPr lang="en-US" sz="1400" b="1" noProof="1">
                        <a:solidFill>
                          <a:srgbClr val="333333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400" noProof="1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</a:rPr>
                        <a:t>dirlookup</a:t>
                      </a:r>
                      <a:endParaRPr lang="en-US" sz="1400" noProof="1">
                        <a:solidFill>
                          <a:srgbClr val="333333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400" noProof="1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</a:rPr>
                        <a:t>变长 dir_entry</a:t>
                      </a:r>
                      <a:endParaRPr lang="en-US" sz="1400" noProof="1">
                        <a:solidFill>
                          <a:srgbClr val="333333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400" noProof="1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</a:rPr>
                        <a:t>LFN 链重组</a:t>
                      </a:r>
                      <a:endParaRPr lang="en-US" sz="1400" noProof="1">
                        <a:solidFill>
                          <a:srgbClr val="333333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EAF2FA"/>
                    </a:solidFill>
                  </a:tcPr>
                </a:tc>
              </a:tr>
              <a:tr h="469900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400" b="1" noProof="1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</a:rPr>
                        <a:t>块映射</a:t>
                      </a:r>
                      <a:endParaRPr lang="en-US" sz="1400" b="1" noProof="1">
                        <a:solidFill>
                          <a:srgbClr val="333333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400" noProof="1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</a:rPr>
                        <a:t>bmap(addrs)</a:t>
                      </a:r>
                      <a:endParaRPr lang="en-US" sz="1400" noProof="1">
                        <a:solidFill>
                          <a:srgbClr val="333333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400" noProof="1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</a:rPr>
                        <a:t>ext2_bmap 间接块</a:t>
                      </a:r>
                      <a:endParaRPr lang="en-US" sz="1400" noProof="1">
                        <a:solidFill>
                          <a:srgbClr val="333333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400" noProof="1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</a:rPr>
                        <a:t>FAT 簇链</a:t>
                      </a:r>
                      <a:endParaRPr lang="en-US" sz="1400" noProof="1">
                        <a:solidFill>
                          <a:srgbClr val="333333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hl-line"/>
          <p:cNvSpPr/>
          <p:nvPr/>
        </p:nvSpPr>
        <p:spPr>
          <a:xfrm>
            <a:off x="584200" y="6223000"/>
            <a:ext cx="11023600" cy="25400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25" name="hl-text"/>
          <p:cNvSpPr txBox="1"/>
          <p:nvPr/>
        </p:nvSpPr>
        <p:spPr>
          <a:xfrm>
            <a:off x="2540000" y="6324600"/>
            <a:ext cx="9067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endParaRPr lang="en-US" sz="1600" noProof="1"/>
          </a:p>
        </p:txBody>
      </p:sp>
      <p:sp>
        <p:nvSpPr>
          <p:cNvPr id="26" name="pagenum"/>
          <p:cNvSpPr txBox="1"/>
          <p:nvPr/>
        </p:nvSpPr>
        <p:spPr>
          <a:xfrm>
            <a:off x="5588000" y="6629400"/>
            <a:ext cx="1016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808080"/>
                </a:solidFill>
                <a:latin typeface="MiSans" charset="-122"/>
                <a:ea typeface="MiSans" charset="-122"/>
              </a:rPr>
              <a:t>08</a:t>
            </a:r>
            <a:endParaRPr lang="en-US" sz="16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3" name="seclabel"/>
          <p:cNvSpPr txBox="1"/>
          <p:nvPr/>
        </p:nvSpPr>
        <p:spPr>
          <a:xfrm>
            <a:off x="584200" y="279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noProof="1">
                <a:solidFill>
                  <a:srgbClr val="E36C0A"/>
                </a:solidFill>
                <a:latin typeface="MiSans" charset="-122"/>
                <a:ea typeface="MiSans" charset="-122"/>
              </a:rPr>
              <a:t>▍</a:t>
            </a:r>
            <a:r>
              <a:rPr lang="en-US" sz="1100" noProof="1">
                <a:solidFill>
                  <a:srgbClr val="808080"/>
                </a:solidFill>
                <a:latin typeface="MiSans" charset="-122"/>
                <a:ea typeface="MiSans" charset="-122"/>
              </a:rPr>
              <a:t>HAL-1 · 总体设计</a:t>
            </a:r>
            <a:endParaRPr lang="en-US" sz="1600" noProof="1"/>
          </a:p>
        </p:txBody>
      </p:sp>
      <p:sp>
        <p:nvSpPr>
          <p:cNvPr id="4" name="title"/>
          <p:cNvSpPr txBox="1"/>
          <p:nvPr/>
        </p:nvSpPr>
        <p:spPr>
          <a:xfrm>
            <a:off x="584200" y="533400"/>
            <a:ext cx="10160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 noProof="1">
                <a:solidFill>
                  <a:srgbClr val="1F4E79"/>
                </a:solidFill>
                <a:latin typeface="MiSans" charset="-122"/>
                <a:ea typeface="MiSans" charset="-122"/>
              </a:rPr>
              <a:t>HAL：编译期静态绑定 + 接口契约</a:t>
            </a:r>
            <a:endParaRPr lang="en-US" sz="2400" noProof="1"/>
          </a:p>
        </p:txBody>
      </p:sp>
      <p:sp>
        <p:nvSpPr>
          <p:cNvPr id="5" name="titleline"/>
          <p:cNvSpPr/>
          <p:nvPr/>
        </p:nvSpPr>
        <p:spPr>
          <a:xfrm>
            <a:off x="584200" y="1066800"/>
            <a:ext cx="11023600" cy="12700"/>
          </a:xfrm>
          <a:prstGeom prst="rect">
            <a:avLst/>
          </a:prstGeom>
          <a:solidFill>
            <a:srgbClr val="DCE6F0"/>
          </a:solidFill>
          <a:ln>
            <a:noFill/>
          </a:ln>
        </p:spPr>
      </p:sp>
      <p:sp>
        <p:nvSpPr>
          <p:cNvPr id="6" name="bd-title"/>
          <p:cNvSpPr txBox="1"/>
          <p:nvPr/>
        </p:nvSpPr>
        <p:spPr>
          <a:xfrm>
            <a:off x="584200" y="12700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 noProof="1">
                <a:solidFill>
                  <a:srgbClr val="1F4E79"/>
                </a:solidFill>
                <a:latin typeface="MiSans" charset="-122"/>
                <a:ea typeface="MiSans" charset="-122"/>
              </a:rPr>
              <a:t>HAL 边界</a:t>
            </a:r>
            <a:endParaRPr lang="en-US" sz="2000" noProof="1"/>
          </a:p>
        </p:txBody>
      </p:sp>
      <p:sp>
        <p:nvSpPr>
          <p:cNvPr id="7" name="bd-l1"/>
          <p:cNvSpPr/>
          <p:nvPr/>
        </p:nvSpPr>
        <p:spPr>
          <a:xfrm>
            <a:off x="838200" y="1725930"/>
            <a:ext cx="4572000" cy="812800"/>
          </a:xfrm>
          <a:prstGeom prst="roundRect">
            <a:avLst>
              <a:gd name="adj" fmla="val 7000"/>
            </a:avLst>
          </a:prstGeom>
          <a:solidFill>
            <a:srgbClr val="EAF2FA"/>
          </a:solidFill>
          <a:ln>
            <a:noFill/>
          </a:ln>
        </p:spPr>
      </p:sp>
      <p:sp>
        <p:nvSpPr>
          <p:cNvPr id="8" name="bd-l1-t"/>
          <p:cNvSpPr txBox="1"/>
          <p:nvPr/>
        </p:nvSpPr>
        <p:spPr>
          <a:xfrm>
            <a:off x="838200" y="1725930"/>
            <a:ext cx="4572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noProof="1">
                <a:solidFill>
                  <a:srgbClr val="1F4E79"/>
                </a:solidFill>
                <a:latin typeface="MiSans" charset="-122"/>
                <a:ea typeface="MiSans" charset="-122"/>
              </a:rPr>
              <a:t>kernel/ 通用代码</a:t>
            </a:r>
            <a:endParaRPr lang="en-US" sz="1600" noProof="1"/>
          </a:p>
          <a:p>
            <a:pPr algn="ctr">
              <a:lnSpc>
                <a:spcPct val="120000"/>
              </a:lnSpc>
            </a:pPr>
            <a:r>
              <a:rPr lang="en-US" sz="1600" noProof="1">
                <a:solidFill>
                  <a:srgbClr val="808080"/>
                </a:solidFill>
                <a:latin typeface="MiSans" charset="-122"/>
                <a:ea typeface="MiSans" charset="-122"/>
              </a:rPr>
              <a:t>不感知平台差异</a:t>
            </a:r>
            <a:endParaRPr lang="en-US" sz="1600" noProof="1"/>
          </a:p>
        </p:txBody>
      </p:sp>
      <p:sp>
        <p:nvSpPr>
          <p:cNvPr id="9" name="bd-a1"/>
          <p:cNvSpPr/>
          <p:nvPr/>
        </p:nvSpPr>
        <p:spPr>
          <a:xfrm>
            <a:off x="2959100" y="2566670"/>
            <a:ext cx="393700" cy="45783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36C0A"/>
          </a:solidFill>
          <a:ln>
            <a:noFill/>
          </a:ln>
        </p:spPr>
      </p:sp>
      <p:sp>
        <p:nvSpPr>
          <p:cNvPr id="10" name="bd-l2"/>
          <p:cNvSpPr/>
          <p:nvPr/>
        </p:nvSpPr>
        <p:spPr>
          <a:xfrm>
            <a:off x="838200" y="3016885"/>
            <a:ext cx="4572000" cy="812800"/>
          </a:xfrm>
          <a:prstGeom prst="roundRect">
            <a:avLst>
              <a:gd name="adj" fmla="val 7000"/>
            </a:avLst>
          </a:prstGeom>
          <a:solidFill>
            <a:srgbClr val="1F4E79"/>
          </a:solidFill>
          <a:ln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1" name="bd-l2-t"/>
          <p:cNvSpPr txBox="1"/>
          <p:nvPr/>
        </p:nvSpPr>
        <p:spPr>
          <a:xfrm>
            <a:off x="796290" y="2910205"/>
            <a:ext cx="4572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hal.h + 7 个 hal_*.h </a:t>
            </a:r>
            <a:r>
              <a:rPr lang="zh-CN" altLang="en-US" sz="16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头文件</a:t>
            </a:r>
            <a:endParaRPr lang="en-US" sz="1600" noProof="1"/>
          </a:p>
          <a:p>
            <a:pPr algn="ctr">
              <a:lnSpc>
                <a:spcPct val="120000"/>
              </a:lnSpc>
            </a:pPr>
            <a:r>
              <a:rPr lang="en-US" sz="1600" noProof="1">
                <a:solidFill>
                  <a:srgbClr val="D6E4F0"/>
                </a:solidFill>
                <a:latin typeface="MiSans" charset="-122"/>
                <a:ea typeface="MiSans" charset="-122"/>
              </a:rPr>
              <a:t>接口合计 234 行</a:t>
            </a:r>
            <a:endParaRPr lang="en-US" sz="1600" noProof="1"/>
          </a:p>
        </p:txBody>
      </p:sp>
      <p:sp>
        <p:nvSpPr>
          <p:cNvPr id="12" name="bd-a2"/>
          <p:cNvSpPr/>
          <p:nvPr/>
        </p:nvSpPr>
        <p:spPr>
          <a:xfrm>
            <a:off x="2959100" y="3872230"/>
            <a:ext cx="386080" cy="4572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36C0A"/>
          </a:solidFill>
          <a:ln>
            <a:noFill/>
          </a:ln>
        </p:spPr>
      </p:sp>
      <p:sp>
        <p:nvSpPr>
          <p:cNvPr id="13" name="bd-l3"/>
          <p:cNvSpPr/>
          <p:nvPr/>
        </p:nvSpPr>
        <p:spPr>
          <a:xfrm>
            <a:off x="838200" y="4333240"/>
            <a:ext cx="4572000" cy="812800"/>
          </a:xfrm>
          <a:prstGeom prst="roundRect">
            <a:avLst>
              <a:gd name="adj" fmla="val 7000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14" name="bd-l3-t"/>
          <p:cNvSpPr txBox="1"/>
          <p:nvPr/>
        </p:nvSpPr>
        <p:spPr>
          <a:xfrm>
            <a:off x="838200" y="4371975"/>
            <a:ext cx="4572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noProof="1">
                <a:solidFill>
                  <a:srgbClr val="333333"/>
                </a:solidFill>
                <a:latin typeface="MiSans" charset="-122"/>
                <a:ea typeface="MiSans" charset="-122"/>
              </a:rPr>
              <a:t>hal/riscv　｜　hal/loongarch</a:t>
            </a:r>
            <a:endParaRPr lang="en-US" sz="1600" noProof="1"/>
          </a:p>
          <a:p>
            <a:pPr algn="ctr">
              <a:lnSpc>
                <a:spcPct val="120000"/>
              </a:lnSpc>
            </a:pPr>
            <a:r>
              <a:rPr lang="en-US" sz="1600" noProof="1">
                <a:solidFill>
                  <a:srgbClr val="808080"/>
                </a:solidFill>
                <a:latin typeface="MiSans" charset="-122"/>
                <a:ea typeface="MiSans" charset="-122"/>
              </a:rPr>
              <a:t>1608 行　｜　1643 行</a:t>
            </a:r>
            <a:endParaRPr lang="en-US" sz="1600" noProof="1"/>
          </a:p>
        </p:txBody>
      </p:sp>
      <p:sp>
        <p:nvSpPr>
          <p:cNvPr id="16" name="cmp-title"/>
          <p:cNvSpPr txBox="1"/>
          <p:nvPr/>
        </p:nvSpPr>
        <p:spPr>
          <a:xfrm>
            <a:off x="5969000" y="1270000"/>
            <a:ext cx="5638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 noProof="1">
                <a:solidFill>
                  <a:srgbClr val="1F4E79"/>
                </a:solidFill>
                <a:latin typeface="MiSans" charset="-122"/>
                <a:ea typeface="MiSans" charset="-122"/>
              </a:rPr>
              <a:t>编译期 HAL vs 运行期 VFS</a:t>
            </a:r>
            <a:endParaRPr lang="en-US" sz="2000" noProof="1"/>
          </a:p>
        </p:txBody>
      </p:sp>
      <p:graphicFrame>
        <p:nvGraphicFramePr>
          <p:cNvPr id="17" name="cmp-table"/>
          <p:cNvGraphicFramePr>
            <a:graphicFrameLocks noGrp="1"/>
          </p:cNvGraphicFramePr>
          <p:nvPr/>
        </p:nvGraphicFramePr>
        <p:xfrm>
          <a:off x="5969000" y="1600200"/>
          <a:ext cx="5638800" cy="1498600"/>
        </p:xfrm>
        <a:graphic>
          <a:graphicData uri="http://schemas.openxmlformats.org/drawingml/2006/table">
            <a:tbl>
              <a:tblPr/>
              <a:tblGrid>
                <a:gridCol w="1466088"/>
                <a:gridCol w="1127760"/>
                <a:gridCol w="3044952"/>
              </a:tblGrid>
              <a:tr h="449580">
                <a:tc>
                  <a:txBody>
                    <a:bodyPr wrap="square" rtlCol="0"/>
                    <a:lstStyle/>
                    <a:p>
                      <a:pPr algn="ctr"/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150" b="1" noProof="1">
                          <a:solidFill>
                            <a:srgbClr val="FFFFFF"/>
                          </a:solidFill>
                          <a:latin typeface="MiSans" charset="-122"/>
                          <a:ea typeface="MiSans" charset="-122"/>
                        </a:rPr>
                        <a:t>绑定方式</a:t>
                      </a:r>
                      <a:endParaRPr lang="en-US" sz="1150" b="1" noProof="1">
                        <a:solidFill>
                          <a:srgbClr val="FFFFFF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150" b="1" noProof="1">
                          <a:solidFill>
                            <a:srgbClr val="FFFFFF"/>
                          </a:solidFill>
                          <a:latin typeface="MiSans" charset="-122"/>
                          <a:ea typeface="MiSans" charset="-122"/>
                        </a:rPr>
                        <a:t>机制</a:t>
                      </a:r>
                      <a:endParaRPr lang="en-US" sz="1150" b="1" noProof="1">
                        <a:solidFill>
                          <a:srgbClr val="FFFFFF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1F4E79"/>
                    </a:solidFill>
                  </a:tcPr>
                </a:tc>
              </a:tr>
              <a:tr h="524510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150" b="1" noProof="1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</a:rPr>
                        <a:t>VFS 加 FS</a:t>
                      </a:r>
                      <a:endParaRPr lang="en-US" sz="1150" b="1" noProof="1">
                        <a:solidFill>
                          <a:srgbClr val="333333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150" noProof="1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</a:rPr>
                        <a:t>运行期</a:t>
                      </a:r>
                      <a:endParaRPr lang="en-US" sz="1150" noProof="1">
                        <a:solidFill>
                          <a:srgbClr val="333333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050" noProof="1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</a:rPr>
                        <a:t>vfs_register 注册表</a:t>
                      </a:r>
                      <a:endParaRPr lang="en-US" sz="1050" noProof="1">
                        <a:solidFill>
                          <a:srgbClr val="333333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4510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150" b="1" noProof="1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</a:rPr>
                        <a:t>HAL 换 CPU</a:t>
                      </a:r>
                      <a:endParaRPr lang="en-US" sz="1150" b="1" noProof="1">
                        <a:solidFill>
                          <a:srgbClr val="333333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150" noProof="1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</a:rPr>
                        <a:t>编译期</a:t>
                      </a:r>
                      <a:endParaRPr lang="en-US" sz="1150" noProof="1">
                        <a:solidFill>
                          <a:srgbClr val="333333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000" noProof="1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</a:rPr>
                        <a:t>Makefile ARCH ?= riscv/loongarch + -DARCH_$(ARCH) + -Ihal/$(ARCH)</a:t>
                      </a:r>
                      <a:endParaRPr lang="en-US" sz="1000" noProof="1">
                        <a:solidFill>
                          <a:srgbClr val="333333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EAF2FA"/>
                    </a:solidFill>
                  </a:tcPr>
                </a:tc>
              </a:tr>
            </a:tbl>
          </a:graphicData>
        </a:graphic>
      </p:graphicFrame>
      <p:sp>
        <p:nvSpPr>
          <p:cNvPr id="18" name="contract-title"/>
          <p:cNvSpPr txBox="1"/>
          <p:nvPr/>
        </p:nvSpPr>
        <p:spPr>
          <a:xfrm>
            <a:off x="5969000" y="3327400"/>
            <a:ext cx="5638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1F4E79"/>
                </a:solidFill>
                <a:latin typeface="MiSans" charset="-122"/>
                <a:ea typeface="MiSans" charset="-122"/>
              </a:rPr>
              <a:t>HAL 契约清单（7 个头文件，221 行）</a:t>
            </a:r>
            <a:endParaRPr lang="en-US" sz="1400" noProof="1"/>
          </a:p>
        </p:txBody>
      </p:sp>
      <p:graphicFrame>
        <p:nvGraphicFramePr>
          <p:cNvPr id="19" name="contract-table"/>
          <p:cNvGraphicFramePr>
            <a:graphicFrameLocks noGrp="1"/>
          </p:cNvGraphicFramePr>
          <p:nvPr/>
        </p:nvGraphicFramePr>
        <p:xfrm>
          <a:off x="5969000" y="3657600"/>
          <a:ext cx="5638800" cy="2457450"/>
        </p:xfrm>
        <a:graphic>
          <a:graphicData uri="http://schemas.openxmlformats.org/drawingml/2006/table">
            <a:tbl>
              <a:tblPr/>
              <a:tblGrid>
                <a:gridCol w="1804416"/>
                <a:gridCol w="2819400"/>
                <a:gridCol w="1014984"/>
              </a:tblGrid>
              <a:tr h="273050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150" b="1" noProof="1">
                          <a:solidFill>
                            <a:srgbClr val="FFFFFF"/>
                          </a:solidFill>
                          <a:latin typeface="MiSans" charset="-122"/>
                          <a:ea typeface="MiSans" charset="-122"/>
                        </a:rPr>
                        <a:t>头文件</a:t>
                      </a:r>
                      <a:endParaRPr lang="en-US" sz="1150" b="1" noProof="1">
                        <a:solidFill>
                          <a:srgbClr val="FFFFFF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150" b="1" noProof="1">
                          <a:solidFill>
                            <a:srgbClr val="FFFFFF"/>
                          </a:solidFill>
                          <a:latin typeface="MiSans" charset="-122"/>
                          <a:ea typeface="MiSans" charset="-122"/>
                        </a:rPr>
                        <a:t>职责</a:t>
                      </a:r>
                      <a:endParaRPr lang="en-US" sz="1150" b="1" noProof="1">
                        <a:solidFill>
                          <a:srgbClr val="FFFFFF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150" b="1" noProof="1">
                          <a:solidFill>
                            <a:srgbClr val="FFFFFF"/>
                          </a:solidFill>
                          <a:latin typeface="MiSans" charset="-122"/>
                          <a:ea typeface="MiSans" charset="-122"/>
                        </a:rPr>
                        <a:t>行数</a:t>
                      </a:r>
                      <a:endParaRPr lang="en-US" sz="1150" b="1" noProof="1">
                        <a:solidFill>
                          <a:srgbClr val="FFFFFF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1F4E79"/>
                    </a:solidFill>
                  </a:tcPr>
                </a:tc>
              </a:tr>
              <a:tr h="273050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050" noProof="1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</a:rPr>
                        <a:t>hal.h</a:t>
                      </a:r>
                      <a:endParaRPr lang="en-US" sz="1050" noProof="1">
                        <a:solidFill>
                          <a:srgbClr val="333333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050" noProof="1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</a:rPr>
                        <a:t>聚合头</a:t>
                      </a:r>
                      <a:endParaRPr lang="en-US" sz="1050" noProof="1">
                        <a:solidFill>
                          <a:srgbClr val="333333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050" noProof="1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</a:rPr>
                        <a:t>22</a:t>
                      </a:r>
                      <a:endParaRPr lang="en-US" sz="1050" noProof="1">
                        <a:solidFill>
                          <a:srgbClr val="333333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3050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050" noProof="1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</a:rPr>
                        <a:t>hal_arch.h</a:t>
                      </a:r>
                      <a:endParaRPr lang="en-US" sz="1050" noProof="1">
                        <a:solidFill>
                          <a:srgbClr val="333333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050" noProof="1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</a:rPr>
                        <a:t>CPU 状态 / 中断开关</a:t>
                      </a:r>
                      <a:endParaRPr lang="en-US" sz="1050" noProof="1">
                        <a:solidFill>
                          <a:srgbClr val="333333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050" noProof="1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</a:rPr>
                        <a:t>38</a:t>
                      </a:r>
                      <a:endParaRPr lang="en-US" sz="1050" noProof="1">
                        <a:solidFill>
                          <a:srgbClr val="333333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EAF2FA"/>
                    </a:solidFill>
                  </a:tcPr>
                </a:tc>
              </a:tr>
              <a:tr h="273050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050" noProof="1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</a:rPr>
                        <a:t>hal_vm.h</a:t>
                      </a:r>
                      <a:endParaRPr lang="en-US" sz="1050" noProof="1">
                        <a:solidFill>
                          <a:srgbClr val="333333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050" noProof="1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</a:rPr>
                        <a:t>页表 / MMU / 低地址保留</a:t>
                      </a:r>
                      <a:endParaRPr lang="en-US" sz="1050" noProof="1">
                        <a:solidFill>
                          <a:srgbClr val="333333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050" noProof="1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</a:rPr>
                        <a:t>30</a:t>
                      </a:r>
                      <a:endParaRPr lang="en-US" sz="1050" noProof="1">
                        <a:solidFill>
                          <a:srgbClr val="333333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3050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050" noProof="1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</a:rPr>
                        <a:t>hal_ctx.h</a:t>
                      </a:r>
                      <a:endParaRPr lang="en-US" sz="1050" noProof="1">
                        <a:solidFill>
                          <a:srgbClr val="333333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050" noProof="1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</a:rPr>
                        <a:t>上下文切换 ABI</a:t>
                      </a:r>
                      <a:endParaRPr lang="en-US" sz="1050" noProof="1">
                        <a:solidFill>
                          <a:srgbClr val="333333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050" noProof="1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</a:rPr>
                        <a:t>83</a:t>
                      </a:r>
                      <a:endParaRPr lang="en-US" sz="1050" noProof="1">
                        <a:solidFill>
                          <a:srgbClr val="333333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EAF2FA"/>
                    </a:solidFill>
                  </a:tcPr>
                </a:tc>
              </a:tr>
              <a:tr h="273050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050" noProof="1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</a:rPr>
                        <a:t>hal_intr.h</a:t>
                      </a:r>
                      <a:endParaRPr lang="en-US" sz="1050" noProof="1">
                        <a:solidFill>
                          <a:srgbClr val="333333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050" noProof="1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</a:rPr>
                        <a:t>中断控制器 claim / complete</a:t>
                      </a:r>
                      <a:endParaRPr lang="en-US" sz="1050" noProof="1">
                        <a:solidFill>
                          <a:srgbClr val="333333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050" noProof="1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</a:rPr>
                        <a:t>14</a:t>
                      </a:r>
                      <a:endParaRPr lang="en-US" sz="1050" noProof="1">
                        <a:solidFill>
                          <a:srgbClr val="333333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3050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050" noProof="1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</a:rPr>
                        <a:t>hal_timer.h</a:t>
                      </a:r>
                      <a:endParaRPr lang="en-US" sz="1050" noProof="1">
                        <a:solidFill>
                          <a:srgbClr val="333333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050" noProof="1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</a:rPr>
                        <a:t>定时器 init / ack</a:t>
                      </a:r>
                      <a:endParaRPr lang="en-US" sz="1050" noProof="1">
                        <a:solidFill>
                          <a:srgbClr val="333333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050" noProof="1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</a:rPr>
                        <a:t>14</a:t>
                      </a:r>
                      <a:endParaRPr lang="en-US" sz="1050" noProof="1">
                        <a:solidFill>
                          <a:srgbClr val="333333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EAF2FA"/>
                    </a:solidFill>
                  </a:tcPr>
                </a:tc>
              </a:tr>
              <a:tr h="273050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050" noProof="1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</a:rPr>
                        <a:t>hal_console.h</a:t>
                      </a:r>
                      <a:endParaRPr lang="en-US" sz="1050" noProof="1">
                        <a:solidFill>
                          <a:srgbClr val="333333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050" noProof="1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</a:rPr>
                        <a:t>控制台收发</a:t>
                      </a:r>
                      <a:endParaRPr lang="en-US" sz="1050" noProof="1">
                        <a:solidFill>
                          <a:srgbClr val="333333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050" noProof="1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</a:rPr>
                        <a:t>13</a:t>
                      </a:r>
                      <a:endParaRPr lang="en-US" sz="1050" noProof="1">
                        <a:solidFill>
                          <a:srgbClr val="333333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30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50" noProof="1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</a:rPr>
                        <a:t>hal_disk.h</a:t>
                      </a:r>
                      <a:endParaRPr lang="en-US" altLang="zh-CN" sz="1050" noProof="1">
                        <a:solidFill>
                          <a:srgbClr val="333333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50" noProof="1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</a:rPr>
                        <a:t>块设备接口</a:t>
                      </a:r>
                      <a:endParaRPr lang="zh-CN" altLang="en-US" sz="1050" noProof="1">
                        <a:solidFill>
                          <a:srgbClr val="333333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050" noProof="1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</a:rPr>
                        <a:t>20</a:t>
                      </a:r>
                      <a:endParaRPr lang="en-US" altLang="en-US" sz="1050" noProof="1">
                        <a:solidFill>
                          <a:srgbClr val="333333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hl-line"/>
          <p:cNvSpPr/>
          <p:nvPr/>
        </p:nvSpPr>
        <p:spPr>
          <a:xfrm>
            <a:off x="584200" y="6223000"/>
            <a:ext cx="11023600" cy="25400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21" name="hl-text"/>
          <p:cNvSpPr txBox="1"/>
          <p:nvPr/>
        </p:nvSpPr>
        <p:spPr>
          <a:xfrm>
            <a:off x="2540000" y="6324600"/>
            <a:ext cx="9067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endParaRPr lang="en-US" sz="1600" noProof="1"/>
          </a:p>
        </p:txBody>
      </p:sp>
      <p:sp>
        <p:nvSpPr>
          <p:cNvPr id="22" name="pagenum"/>
          <p:cNvSpPr txBox="1"/>
          <p:nvPr/>
        </p:nvSpPr>
        <p:spPr>
          <a:xfrm>
            <a:off x="5588000" y="6629400"/>
            <a:ext cx="1016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808080"/>
                </a:solidFill>
                <a:latin typeface="MiSans" charset="-122"/>
                <a:ea typeface="MiSans" charset="-122"/>
              </a:rPr>
              <a:t>09</a:t>
            </a:r>
            <a:endParaRPr lang="en-US" sz="1600" noProof="1"/>
          </a:p>
        </p:txBody>
      </p:sp>
      <p:sp>
        <p:nvSpPr>
          <p:cNvPr id="23" name="文本框 22"/>
          <p:cNvSpPr txBox="1"/>
          <p:nvPr/>
        </p:nvSpPr>
        <p:spPr>
          <a:xfrm>
            <a:off x="1017270" y="5322570"/>
            <a:ext cx="6096000" cy="6553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2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平台差异位于</a:t>
            </a:r>
            <a:r>
              <a:rPr lang="en-US" altLang="zh-CN" sz="12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HAL</a:t>
            </a:r>
            <a:r>
              <a:rPr lang="zh-CN" altLang="en-US" sz="12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内部</a:t>
            </a:r>
            <a:endParaRPr lang="en-US" altLang="zh-CN" sz="12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r>
              <a:rPr lang="en-US" altLang="zh-CN" sz="12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kernel/</a:t>
            </a:r>
            <a:r>
              <a:rPr lang="zh-CN" altLang="en-US" sz="12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中</a:t>
            </a:r>
            <a:r>
              <a:rPr lang="zh-CN" altLang="en-US" sz="12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没有</a:t>
            </a:r>
            <a:r>
              <a:rPr lang="en-US" altLang="zh-CN" sz="12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ARCH_riscv </a:t>
            </a:r>
            <a:r>
              <a:rPr lang="zh-CN" altLang="en-US" sz="12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或</a:t>
            </a:r>
            <a:r>
              <a:rPr lang="en-US" altLang="zh-CN" sz="12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ARCH_loongarch </a:t>
            </a:r>
            <a:r>
              <a:rPr lang="zh-CN" altLang="en-US" sz="12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条件块</a:t>
            </a:r>
            <a:endParaRPr lang="zh-CN" altLang="en-US" sz="12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endParaRPr lang="zh-CN" altLang="en-US" sz="12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3" name="seclabel"/>
          <p:cNvSpPr txBox="1"/>
          <p:nvPr/>
        </p:nvSpPr>
        <p:spPr>
          <a:xfrm>
            <a:off x="584200" y="279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noProof="1">
                <a:solidFill>
                  <a:srgbClr val="E36C0A"/>
                </a:solidFill>
                <a:latin typeface="MiSans" charset="-122"/>
                <a:ea typeface="MiSans" charset="-122"/>
              </a:rPr>
              <a:t>▍</a:t>
            </a:r>
            <a:r>
              <a:rPr lang="en-US" sz="1100" noProof="1">
                <a:solidFill>
                  <a:srgbClr val="808080"/>
                </a:solidFill>
                <a:latin typeface="MiSans" charset="-122"/>
                <a:ea typeface="MiSans" charset="-122"/>
              </a:rPr>
              <a:t>HAL-2 · RISC-V 实现</a:t>
            </a:r>
            <a:endParaRPr lang="en-US" sz="1600" noProof="1"/>
          </a:p>
        </p:txBody>
      </p:sp>
      <p:sp>
        <p:nvSpPr>
          <p:cNvPr id="4" name="title"/>
          <p:cNvSpPr txBox="1"/>
          <p:nvPr/>
        </p:nvSpPr>
        <p:spPr>
          <a:xfrm>
            <a:off x="584200" y="533400"/>
            <a:ext cx="10922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 noProof="1">
                <a:solidFill>
                  <a:srgbClr val="1F4E79"/>
                </a:solidFill>
                <a:latin typeface="MiSans" charset="-122"/>
                <a:ea typeface="MiSans" charset="-122"/>
              </a:rPr>
              <a:t>RISC-V HAL：M 态启动、Sv39、PLIC/SSTC、三盘 virtio</a:t>
            </a:r>
            <a:endParaRPr lang="en-US" sz="2400" noProof="1"/>
          </a:p>
        </p:txBody>
      </p:sp>
      <p:sp>
        <p:nvSpPr>
          <p:cNvPr id="5" name="titleline"/>
          <p:cNvSpPr/>
          <p:nvPr/>
        </p:nvSpPr>
        <p:spPr>
          <a:xfrm>
            <a:off x="584200" y="1066800"/>
            <a:ext cx="11023600" cy="12700"/>
          </a:xfrm>
          <a:prstGeom prst="rect">
            <a:avLst/>
          </a:prstGeom>
          <a:solidFill>
            <a:srgbClr val="DCE6F0"/>
          </a:solidFill>
          <a:ln>
            <a:noFill/>
          </a:ln>
        </p:spPr>
      </p:sp>
      <p:sp>
        <p:nvSpPr>
          <p:cNvPr id="6" name="ph-box"/>
          <p:cNvSpPr/>
          <p:nvPr/>
        </p:nvSpPr>
        <p:spPr>
          <a:xfrm>
            <a:off x="584200" y="1320800"/>
            <a:ext cx="11023600" cy="4089400"/>
          </a:xfrm>
          <a:prstGeom prst="roundRect">
            <a:avLst>
              <a:gd name="adj" fmla="val 3000"/>
            </a:avLst>
          </a:prstGeom>
          <a:solidFill>
            <a:srgbClr val="F7FAFD"/>
          </a:solidFill>
          <a:ln w="19050">
            <a:solidFill>
              <a:srgbClr val="8FAECC"/>
            </a:solidFill>
            <a:prstDash val="dash"/>
          </a:ln>
        </p:spPr>
      </p:sp>
      <p:sp>
        <p:nvSpPr>
          <p:cNvPr id="9" name="io-path"/>
          <p:cNvSpPr txBox="1"/>
          <p:nvPr/>
        </p:nvSpPr>
        <p:spPr>
          <a:xfrm>
            <a:off x="584200" y="5588000"/>
            <a:ext cx="110236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>
                <a:solidFill>
                  <a:srgbClr val="808080"/>
                </a:solidFill>
                <a:latin typeface="MiSans" charset="-122"/>
                <a:ea typeface="MiSans" charset="-122"/>
              </a:rPr>
              <a:t>磁盘 I/O 路径　</a:t>
            </a:r>
            <a:r>
              <a:rPr lang="en-US" sz="1200" b="1" noProof="1">
                <a:solidFill>
                  <a:srgbClr val="1F4E79"/>
                </a:solidFill>
                <a:latin typeface="Consolas" panose="020B0609020204030204"/>
                <a:ea typeface="MiSans" charset="-122"/>
              </a:rPr>
              <a:t>bread → hal_disk_rw → virtqueue → disk intr → wakeup</a:t>
            </a:r>
            <a:endParaRPr lang="en-US" sz="1600" noProof="1"/>
          </a:p>
        </p:txBody>
      </p:sp>
      <p:sp>
        <p:nvSpPr>
          <p:cNvPr id="10" name="hl-line"/>
          <p:cNvSpPr/>
          <p:nvPr/>
        </p:nvSpPr>
        <p:spPr>
          <a:xfrm>
            <a:off x="584200" y="6223000"/>
            <a:ext cx="11023600" cy="25400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11" name="hl-text"/>
          <p:cNvSpPr txBox="1"/>
          <p:nvPr/>
        </p:nvSpPr>
        <p:spPr>
          <a:xfrm>
            <a:off x="2540000" y="6324600"/>
            <a:ext cx="9067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endParaRPr lang="en-US" sz="1600" noProof="1"/>
          </a:p>
        </p:txBody>
      </p:sp>
      <p:sp>
        <p:nvSpPr>
          <p:cNvPr id="12" name="pagenum"/>
          <p:cNvSpPr txBox="1"/>
          <p:nvPr/>
        </p:nvSpPr>
        <p:spPr>
          <a:xfrm>
            <a:off x="5588000" y="6629400"/>
            <a:ext cx="1016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808080"/>
                </a:solidFill>
                <a:latin typeface="MiSans" charset="-122"/>
                <a:ea typeface="MiSans" charset="-122"/>
              </a:rPr>
              <a:t>10</a:t>
            </a:r>
            <a:endParaRPr lang="en-US" sz="1600" noProof="1"/>
          </a:p>
        </p:txBody>
      </p:sp>
      <p:sp>
        <p:nvSpPr>
          <p:cNvPr id="13" name="TextBox 12"/>
          <p:cNvSpPr txBox="1"/>
          <p:nvPr/>
        </p:nvSpPr>
        <p:spPr>
          <a:xfrm>
            <a:off x="905256" y="1396810"/>
            <a:ext cx="3916680" cy="233045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4E79"/>
                </a:solidFill>
                <a:latin typeface="MiSans" charset="-122"/>
              </a:rPr>
              <a:t>RISC-V HAL：启动、VM/Trap、设备三条主通路</a:t>
            </a:r>
            <a:endParaRPr sz="1400" b="1">
              <a:solidFill>
                <a:srgbClr val="1F4E79"/>
              </a:solidFill>
              <a:latin typeface="MiSans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05256" y="1728216"/>
            <a:ext cx="3273552" cy="293522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F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5256" y="1728216"/>
            <a:ext cx="3273552" cy="384048"/>
          </a:xfrm>
          <a:prstGeom prst="rect">
            <a:avLst/>
          </a:prstGeom>
          <a:solidFill>
            <a:srgbClr val="1F4E79"/>
          </a:solidFill>
          <a:ln w="1397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1" y="1764792"/>
            <a:ext cx="3017520" cy="292608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MiSans" charset="-122"/>
              </a:rPr>
              <a:t>1  启动与特权级</a:t>
            </a:r>
            <a:endParaRPr sz="1550" b="1">
              <a:solidFill>
                <a:srgbClr val="FFFFFF"/>
              </a:solidFill>
              <a:latin typeface="MiSans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880360" y="1792224"/>
            <a:ext cx="1161288" cy="237744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DDEBF7"/>
                </a:solidFill>
                <a:latin typeface="MiSans" charset="-122"/>
              </a:rPr>
              <a:t>M → S</a:t>
            </a:r>
            <a:endParaRPr sz="1050" b="0">
              <a:solidFill>
                <a:srgbClr val="DDEBF7"/>
              </a:solidFill>
              <a:latin typeface="MiSans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443984" y="1728216"/>
            <a:ext cx="3300984" cy="293522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F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43984" y="1728216"/>
            <a:ext cx="3300984" cy="384048"/>
          </a:xfrm>
          <a:prstGeom prst="rect">
            <a:avLst/>
          </a:prstGeom>
          <a:solidFill>
            <a:srgbClr val="1F4E79"/>
          </a:solidFill>
          <a:ln w="1397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1764792"/>
            <a:ext cx="3044952" cy="292608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MiSans" charset="-122"/>
              </a:rPr>
              <a:t>2  页表与 Trap</a:t>
            </a:r>
            <a:endParaRPr sz="1550" b="1">
              <a:solidFill>
                <a:srgbClr val="FFFFFF"/>
              </a:solidFill>
              <a:latin typeface="MiSans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46520" y="1792224"/>
            <a:ext cx="1161288" cy="237744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DDEBF7"/>
                </a:solidFill>
                <a:latin typeface="MiSans" charset="-122"/>
              </a:rPr>
              <a:t>Sv39</a:t>
            </a:r>
            <a:endParaRPr sz="1050" b="0">
              <a:solidFill>
                <a:srgbClr val="DDEBF7"/>
              </a:solidFill>
              <a:latin typeface="MiSans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010144" y="1728216"/>
            <a:ext cx="3273552" cy="293522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F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10144" y="1728216"/>
            <a:ext cx="3273552" cy="384048"/>
          </a:xfrm>
          <a:prstGeom prst="rect">
            <a:avLst/>
          </a:prstGeom>
          <a:solidFill>
            <a:srgbClr val="1F4E79"/>
          </a:solidFill>
          <a:ln w="1397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0" y="1764792"/>
            <a:ext cx="3017520" cy="292608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MiSans" charset="-122"/>
              </a:rPr>
              <a:t>3  中断与设备</a:t>
            </a:r>
            <a:endParaRPr sz="1550" b="1">
              <a:solidFill>
                <a:srgbClr val="FFFFFF"/>
              </a:solidFill>
              <a:latin typeface="MiSans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985248" y="1792224"/>
            <a:ext cx="1161288" cy="237744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DDEBF7"/>
                </a:solidFill>
                <a:latin typeface="MiSans" charset="-122"/>
              </a:rPr>
              <a:t>PLIC/SSTC</a:t>
            </a:r>
            <a:endParaRPr sz="1050" b="0">
              <a:solidFill>
                <a:srgbClr val="DDEBF7"/>
              </a:solidFill>
              <a:latin typeface="MiSans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1170432" y="2231136"/>
            <a:ext cx="2743200" cy="420624"/>
          </a:xfrm>
          <a:prstGeom prst="roundRect">
            <a:avLst/>
          </a:prstGeom>
          <a:solidFill>
            <a:srgbClr val="EAF2F8"/>
          </a:solidFill>
          <a:ln w="13970">
            <a:solidFill>
              <a:srgbClr val="8F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07655" y="2232533"/>
            <a:ext cx="1468755" cy="417830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MiSans" charset="-122"/>
              </a:rPr>
              <a:t>hal_entry.S
每 hart 独立启动栈</a:t>
            </a:r>
            <a:endParaRPr sz="1300" b="1">
              <a:solidFill>
                <a:srgbClr val="1F4E79"/>
              </a:solidFill>
              <a:latin typeface="MiSans" charset="-122"/>
            </a:endParaRPr>
          </a:p>
        </p:txBody>
      </p:sp>
      <p:cxnSp>
        <p:nvCxnSpPr>
          <p:cNvPr id="28" name="Connector 27"/>
          <p:cNvCxnSpPr/>
          <p:nvPr/>
        </p:nvCxnSpPr>
        <p:spPr>
          <a:xfrm>
            <a:off x="2542032" y="2660904"/>
            <a:ext cx="0" cy="228600"/>
          </a:xfrm>
          <a:prstGeom prst="line">
            <a:avLst/>
          </a:prstGeom>
          <a:ln w="27940">
            <a:solidFill>
              <a:srgbClr val="E36C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170432" y="2916936"/>
            <a:ext cx="2743200" cy="5943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F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02195" y="3005201"/>
            <a:ext cx="2479675" cy="417830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F4E79"/>
                </a:solidFill>
                <a:latin typeface="MiSans" charset="-122"/>
              </a:rPr>
              <a:t>start(): MPP=S  ·  异常/中断委托
PMP 放行  ·  SSTC 授权</a:t>
            </a:r>
            <a:endParaRPr sz="1300" b="0">
              <a:solidFill>
                <a:srgbClr val="1F4E79"/>
              </a:solidFill>
              <a:latin typeface="MiSans" charset="-122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2542032" y="3520440"/>
            <a:ext cx="0" cy="283464"/>
          </a:xfrm>
          <a:prstGeom prst="line">
            <a:avLst/>
          </a:prstGeom>
          <a:ln w="27940">
            <a:solidFill>
              <a:srgbClr val="E36C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170432" y="3831336"/>
            <a:ext cx="2743200" cy="484632"/>
          </a:xfrm>
          <a:prstGeom prst="roundRect">
            <a:avLst/>
          </a:prstGeom>
          <a:solidFill>
            <a:srgbClr val="E2F0D9"/>
          </a:solidFill>
          <a:ln w="13970"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30160" y="3964750"/>
            <a:ext cx="2023745" cy="217805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48235"/>
                </a:solidFill>
                <a:latin typeface="MiSans" charset="-122"/>
              </a:rPr>
              <a:t>mret  →  main() </a:t>
            </a:r>
            <a:r>
              <a:rPr lang="en-US" sz="1300" b="1">
                <a:solidFill>
                  <a:srgbClr val="548235"/>
                </a:solidFill>
                <a:latin typeface="MiSans" charset="-122"/>
              </a:rPr>
              <a:t>[</a:t>
            </a:r>
            <a:r>
              <a:rPr sz="1300" b="1">
                <a:solidFill>
                  <a:srgbClr val="548235"/>
                </a:solidFill>
                <a:latin typeface="MiSans" charset="-122"/>
              </a:rPr>
              <a:t>S-mode</a:t>
            </a:r>
            <a:r>
              <a:rPr lang="en-US" sz="1300">
                <a:solidFill>
                  <a:srgbClr val="548235"/>
                </a:solidFill>
                <a:latin typeface="MiSans" charset="-122"/>
              </a:rPr>
              <a:t>]</a:t>
            </a:r>
            <a:endParaRPr lang="en-US" sz="1300">
              <a:solidFill>
                <a:srgbClr val="548235"/>
              </a:solidFill>
              <a:latin typeface="MiSans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4709160" y="2221992"/>
            <a:ext cx="2770632" cy="411480"/>
          </a:xfrm>
          <a:prstGeom prst="roundRect">
            <a:avLst/>
          </a:prstGeom>
          <a:solidFill>
            <a:srgbClr val="EAF2F8"/>
          </a:solidFill>
          <a:ln w="13970">
            <a:solidFill>
              <a:srgbClr val="8F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70271" y="2311210"/>
            <a:ext cx="1248410" cy="233045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4E79"/>
                </a:solidFill>
                <a:latin typeface="MiSans" charset="-122"/>
              </a:rPr>
              <a:t>Sv39 三级页表</a:t>
            </a:r>
            <a:endParaRPr sz="1400" b="1">
              <a:solidFill>
                <a:srgbClr val="1F4E79"/>
              </a:solidFill>
              <a:latin typeface="MiSans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754880" y="2761488"/>
            <a:ext cx="1234440" cy="246888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MiSans" charset="-122"/>
              </a:rPr>
              <a:t>内核映射</a:t>
            </a:r>
            <a:endParaRPr sz="1300" b="1">
              <a:solidFill>
                <a:srgbClr val="1F4E79"/>
              </a:solidFill>
              <a:latin typeface="MiSans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754880" y="3017520"/>
            <a:ext cx="1234440" cy="384048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MiSans" charset="-122"/>
              </a:rPr>
              <a:t>MMIO / RAM
内核栈</a:t>
            </a:r>
            <a:endParaRPr sz="1150" b="0">
              <a:solidFill>
                <a:srgbClr val="6B7280"/>
              </a:solidFill>
              <a:latin typeface="MiSans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080760" y="2761488"/>
            <a:ext cx="1234440" cy="246888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MiSans" charset="-122"/>
              </a:rPr>
              <a:t>用户映射</a:t>
            </a:r>
            <a:endParaRPr sz="1300" b="1">
              <a:solidFill>
                <a:srgbClr val="1F4E79"/>
              </a:solidFill>
              <a:latin typeface="MiSans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080760" y="3017520"/>
            <a:ext cx="1234440" cy="384048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MiSans" charset="-122"/>
              </a:rPr>
              <a:t>text / data
stack</a:t>
            </a:r>
            <a:endParaRPr sz="1150" b="0">
              <a:solidFill>
                <a:srgbClr val="6B7280"/>
              </a:solidFill>
              <a:latin typeface="MiSans" charset="-122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4645152" y="3511296"/>
            <a:ext cx="749808" cy="384048"/>
          </a:xfrm>
          <a:prstGeom prst="roundRect">
            <a:avLst/>
          </a:prstGeom>
          <a:solidFill>
            <a:srgbClr val="E2F0D9"/>
          </a:solidFill>
          <a:ln w="13970"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19396" y="3594418"/>
            <a:ext cx="401320" cy="217805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48235"/>
                </a:solidFill>
                <a:latin typeface="MiSans" charset="-122"/>
              </a:rPr>
              <a:t>user</a:t>
            </a:r>
            <a:endParaRPr sz="1300" b="1">
              <a:solidFill>
                <a:srgbClr val="548235"/>
              </a:solidFill>
              <a:latin typeface="MiSans" charset="-122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5669280" y="3511296"/>
            <a:ext cx="859536" cy="384048"/>
          </a:xfrm>
          <a:prstGeom prst="roundRect">
            <a:avLst/>
          </a:prstGeom>
          <a:solidFill>
            <a:srgbClr val="FCE4D6"/>
          </a:solidFill>
          <a:ln w="13970">
            <a:solidFill>
              <a:srgbClr val="E36C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65991" y="3594418"/>
            <a:ext cx="666115" cy="217805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36C0A"/>
                </a:solidFill>
                <a:latin typeface="MiSans" charset="-122"/>
              </a:rPr>
              <a:t>uservec</a:t>
            </a:r>
            <a:endParaRPr sz="1300" b="1">
              <a:solidFill>
                <a:srgbClr val="E36C0A"/>
              </a:solidFill>
              <a:latin typeface="MiSans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6784848" y="3511296"/>
            <a:ext cx="676656" cy="384048"/>
          </a:xfrm>
          <a:prstGeom prst="roundRect">
            <a:avLst/>
          </a:prstGeom>
          <a:solidFill>
            <a:srgbClr val="EAF2F8"/>
          </a:solidFill>
          <a:ln w="1397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68224" y="3594418"/>
            <a:ext cx="509905" cy="217805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MiSans" charset="-122"/>
              </a:rPr>
              <a:t>trap.c</a:t>
            </a:r>
            <a:endParaRPr sz="1300" b="1">
              <a:solidFill>
                <a:srgbClr val="1F4E79"/>
              </a:solidFill>
              <a:latin typeface="MiSans" charset="-122"/>
            </a:endParaRPr>
          </a:p>
        </p:txBody>
      </p:sp>
      <p:cxnSp>
        <p:nvCxnSpPr>
          <p:cNvPr id="46" name="Connector 45"/>
          <p:cNvCxnSpPr/>
          <p:nvPr/>
        </p:nvCxnSpPr>
        <p:spPr>
          <a:xfrm>
            <a:off x="5404104" y="3703320"/>
            <a:ext cx="228600" cy="0"/>
          </a:xfrm>
          <a:prstGeom prst="line">
            <a:avLst/>
          </a:prstGeom>
          <a:ln w="27940">
            <a:solidFill>
              <a:srgbClr val="E36C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537960" y="3703320"/>
            <a:ext cx="210312" cy="0"/>
          </a:xfrm>
          <a:prstGeom prst="line">
            <a:avLst/>
          </a:prstGeom>
          <a:ln w="27940">
            <a:solidFill>
              <a:srgbClr val="E36C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4901184" y="4151376"/>
            <a:ext cx="2359152" cy="3840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F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4120" y="4234497"/>
            <a:ext cx="2113280" cy="217805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MiSans" charset="-122"/>
              </a:rPr>
              <a:t>prepare_return  →  userret</a:t>
            </a:r>
            <a:endParaRPr sz="1300" b="1">
              <a:solidFill>
                <a:srgbClr val="1F4E79"/>
              </a:solidFill>
              <a:latin typeface="MiSans" charset="-122"/>
            </a:endParaRPr>
          </a:p>
        </p:txBody>
      </p:sp>
      <p:cxnSp>
        <p:nvCxnSpPr>
          <p:cNvPr id="50" name="Connector 49"/>
          <p:cNvCxnSpPr/>
          <p:nvPr/>
        </p:nvCxnSpPr>
        <p:spPr>
          <a:xfrm flipH="1">
            <a:off x="6934200" y="3913632"/>
            <a:ext cx="198120" cy="238125"/>
          </a:xfrm>
          <a:prstGeom prst="line">
            <a:avLst/>
          </a:prstGeom>
          <a:ln w="27940">
            <a:solidFill>
              <a:srgbClr val="4472C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 flipV="1">
            <a:off x="4942840" y="3895090"/>
            <a:ext cx="278130" cy="256540"/>
          </a:xfrm>
          <a:prstGeom prst="line">
            <a:avLst/>
          </a:prstGeom>
          <a:ln w="27940">
            <a:solidFill>
              <a:srgbClr val="5482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8284464" y="2221992"/>
            <a:ext cx="2734056" cy="420624"/>
          </a:xfrm>
          <a:prstGeom prst="roundRect">
            <a:avLst/>
          </a:prstGeom>
          <a:solidFill>
            <a:srgbClr val="EAF2F8"/>
          </a:solidFill>
          <a:ln w="13970">
            <a:solidFill>
              <a:srgbClr val="8F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21040" y="2240280"/>
            <a:ext cx="2660904" cy="384048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4E79"/>
                </a:solidFill>
                <a:latin typeface="MiSans" charset="-122"/>
              </a:rPr>
              <a:t>UART / virtio-mmio</a:t>
            </a:r>
            <a:endParaRPr sz="1400" b="1">
              <a:solidFill>
                <a:srgbClr val="1F4E79"/>
              </a:solidFill>
              <a:latin typeface="MiSans" charset="-122"/>
            </a:endParaRPr>
          </a:p>
        </p:txBody>
      </p:sp>
      <p:cxnSp>
        <p:nvCxnSpPr>
          <p:cNvPr id="54" name="Connector 53"/>
          <p:cNvCxnSpPr/>
          <p:nvPr/>
        </p:nvCxnSpPr>
        <p:spPr>
          <a:xfrm>
            <a:off x="8915400" y="2651760"/>
            <a:ext cx="0" cy="256032"/>
          </a:xfrm>
          <a:prstGeom prst="line">
            <a:avLst/>
          </a:prstGeom>
          <a:ln w="27940">
            <a:solidFill>
              <a:srgbClr val="E36C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8275320" y="2935224"/>
            <a:ext cx="1243584" cy="402336"/>
          </a:xfrm>
          <a:prstGeom prst="roundRect">
            <a:avLst/>
          </a:prstGeom>
          <a:solidFill>
            <a:srgbClr val="FCE4D6"/>
          </a:solidFill>
          <a:ln w="13970">
            <a:solidFill>
              <a:srgbClr val="E36C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11896" y="2953512"/>
            <a:ext cx="1170432" cy="365760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36C0A"/>
                </a:solidFill>
                <a:latin typeface="MiSans" charset="-122"/>
              </a:rPr>
              <a:t>PLIC</a:t>
            </a:r>
            <a:endParaRPr sz="1400" b="1">
              <a:solidFill>
                <a:srgbClr val="E36C0A"/>
              </a:solidFill>
              <a:latin typeface="MiSans" charset="-122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9784080" y="2935224"/>
            <a:ext cx="1234440" cy="402336"/>
          </a:xfrm>
          <a:prstGeom prst="roundRect">
            <a:avLst/>
          </a:prstGeom>
          <a:solidFill>
            <a:srgbClr val="FCE4D6"/>
          </a:solidFill>
          <a:ln w="13970">
            <a:solidFill>
              <a:srgbClr val="E36C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820655" y="2953512"/>
            <a:ext cx="1161288" cy="365760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36C0A"/>
                </a:solidFill>
                <a:latin typeface="MiSans" charset="-122"/>
              </a:rPr>
              <a:t>SSTC</a:t>
            </a:r>
            <a:endParaRPr sz="1400" b="1">
              <a:solidFill>
                <a:srgbClr val="E36C0A"/>
              </a:solidFill>
              <a:latin typeface="MiSans" charset="-122"/>
            </a:endParaRPr>
          </a:p>
        </p:txBody>
      </p:sp>
      <p:cxnSp>
        <p:nvCxnSpPr>
          <p:cNvPr id="59" name="Connector 58"/>
          <p:cNvCxnSpPr/>
          <p:nvPr/>
        </p:nvCxnSpPr>
        <p:spPr>
          <a:xfrm>
            <a:off x="8897112" y="3355848"/>
            <a:ext cx="0" cy="265176"/>
          </a:xfrm>
          <a:prstGeom prst="line">
            <a:avLst/>
          </a:prstGeom>
          <a:ln w="27940">
            <a:solidFill>
              <a:srgbClr val="5482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0405872" y="3355848"/>
            <a:ext cx="0" cy="265176"/>
          </a:xfrm>
          <a:prstGeom prst="line">
            <a:avLst/>
          </a:prstGeom>
          <a:ln w="27940">
            <a:solidFill>
              <a:srgbClr val="5482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8275320" y="3648456"/>
            <a:ext cx="2743200" cy="420624"/>
          </a:xfrm>
          <a:prstGeom prst="roundRect">
            <a:avLst/>
          </a:prstGeom>
          <a:solidFill>
            <a:srgbClr val="E2F0D9"/>
          </a:solidFill>
          <a:ln w="13970"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670290" y="3749865"/>
            <a:ext cx="1953260" cy="217805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48235"/>
                </a:solidFill>
                <a:latin typeface="MiSans" charset="-122"/>
              </a:rPr>
              <a:t>devintr() / hal_irq_claim()</a:t>
            </a:r>
            <a:endParaRPr sz="1300" b="1">
              <a:solidFill>
                <a:srgbClr val="548235"/>
              </a:solidFill>
              <a:latin typeface="MiSans" charset="-122"/>
            </a:endParaRPr>
          </a:p>
        </p:txBody>
      </p:sp>
      <p:cxnSp>
        <p:nvCxnSpPr>
          <p:cNvPr id="63" name="Connector 62"/>
          <p:cNvCxnSpPr/>
          <p:nvPr/>
        </p:nvCxnSpPr>
        <p:spPr>
          <a:xfrm>
            <a:off x="9646920" y="4078224"/>
            <a:ext cx="0" cy="228600"/>
          </a:xfrm>
          <a:prstGeom prst="line">
            <a:avLst/>
          </a:prstGeom>
          <a:ln w="27940">
            <a:solidFill>
              <a:srgbClr val="4472C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ounded Rectangle 63"/>
          <p:cNvSpPr/>
          <p:nvPr/>
        </p:nvSpPr>
        <p:spPr>
          <a:xfrm>
            <a:off x="8275320" y="4334256"/>
            <a:ext cx="2743200" cy="31089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F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640763" y="4380802"/>
            <a:ext cx="2012315" cy="217805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MiSans" charset="-122"/>
              </a:rPr>
              <a:t>consoleintr / hal_disk_intr</a:t>
            </a:r>
            <a:endParaRPr sz="1300" b="1">
              <a:solidFill>
                <a:srgbClr val="1F4E79"/>
              </a:solidFill>
              <a:latin typeface="MiSans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3" name="seclabel"/>
          <p:cNvSpPr txBox="1"/>
          <p:nvPr/>
        </p:nvSpPr>
        <p:spPr>
          <a:xfrm>
            <a:off x="584200" y="279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noProof="1">
                <a:solidFill>
                  <a:srgbClr val="E36C0A"/>
                </a:solidFill>
                <a:latin typeface="MiSans" charset="-122"/>
                <a:ea typeface="MiSans" charset="-122"/>
              </a:rPr>
              <a:t>▍</a:t>
            </a:r>
            <a:r>
              <a:rPr lang="en-US" sz="1100" noProof="1">
                <a:solidFill>
                  <a:srgbClr val="808080"/>
                </a:solidFill>
                <a:latin typeface="MiSans" charset="-122"/>
                <a:ea typeface="MiSans" charset="-122"/>
              </a:rPr>
              <a:t>HAL-3 · LoongArch（上）</a:t>
            </a:r>
            <a:endParaRPr lang="en-US" sz="1600" noProof="1"/>
          </a:p>
        </p:txBody>
      </p:sp>
      <p:sp>
        <p:nvSpPr>
          <p:cNvPr id="4" name="title"/>
          <p:cNvSpPr txBox="1"/>
          <p:nvPr/>
        </p:nvSpPr>
        <p:spPr>
          <a:xfrm>
            <a:off x="584200" y="533400"/>
            <a:ext cx="10922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 noProof="1">
                <a:solidFill>
                  <a:srgbClr val="1F4E79"/>
                </a:solidFill>
                <a:latin typeface="MiSans" charset="-122"/>
                <a:ea typeface="MiSans" charset="-122"/>
              </a:rPr>
              <a:t>LoongArch：Flash/RAM 启动、双 guard、软件 TLB refill</a:t>
            </a:r>
            <a:endParaRPr lang="en-US" sz="2400" noProof="1"/>
          </a:p>
        </p:txBody>
      </p:sp>
      <p:sp>
        <p:nvSpPr>
          <p:cNvPr id="5" name="titleline"/>
          <p:cNvSpPr/>
          <p:nvPr/>
        </p:nvSpPr>
        <p:spPr>
          <a:xfrm>
            <a:off x="584200" y="1066800"/>
            <a:ext cx="11023600" cy="12700"/>
          </a:xfrm>
          <a:prstGeom prst="rect">
            <a:avLst/>
          </a:prstGeom>
          <a:solidFill>
            <a:srgbClr val="DCE6F0"/>
          </a:solidFill>
          <a:ln>
            <a:noFill/>
          </a:ln>
        </p:spPr>
      </p:sp>
      <p:sp>
        <p:nvSpPr>
          <p:cNvPr id="6" name="ph-box"/>
          <p:cNvSpPr/>
          <p:nvPr/>
        </p:nvSpPr>
        <p:spPr>
          <a:xfrm>
            <a:off x="584200" y="1320800"/>
            <a:ext cx="11023600" cy="3810000"/>
          </a:xfrm>
          <a:prstGeom prst="roundRect">
            <a:avLst>
              <a:gd name="adj" fmla="val 3000"/>
            </a:avLst>
          </a:prstGeom>
          <a:solidFill>
            <a:srgbClr val="F7FAFD"/>
          </a:solidFill>
          <a:ln w="19050">
            <a:solidFill>
              <a:srgbClr val="8FAECC"/>
            </a:solidFill>
            <a:prstDash val="dash"/>
          </a:ln>
        </p:spPr>
      </p:sp>
      <p:sp>
        <p:nvSpPr>
          <p:cNvPr id="9" name="fact-strip"/>
          <p:cNvSpPr txBox="1"/>
          <p:nvPr/>
        </p:nvSpPr>
        <p:spPr>
          <a:xfrm>
            <a:off x="584200" y="5283200"/>
            <a:ext cx="110236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808080"/>
                </a:solidFill>
                <a:latin typeface="MiSans" charset="-122"/>
                <a:ea typeface="MiSans" charset="-122"/>
              </a:rPr>
              <a:t>· 无效地址填 V=0 项转普通缺页，vmfault() 只建 PTE</a:t>
            </a:r>
            <a:endParaRPr lang="en-US" sz="1200" noProof="1"/>
          </a:p>
        </p:txBody>
      </p:sp>
      <p:sp>
        <p:nvSpPr>
          <p:cNvPr id="10" name="hl-line"/>
          <p:cNvSpPr/>
          <p:nvPr/>
        </p:nvSpPr>
        <p:spPr>
          <a:xfrm>
            <a:off x="584200" y="6223000"/>
            <a:ext cx="11023600" cy="25400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11" name="hl-text"/>
          <p:cNvSpPr txBox="1"/>
          <p:nvPr/>
        </p:nvSpPr>
        <p:spPr>
          <a:xfrm>
            <a:off x="2540000" y="6324600"/>
            <a:ext cx="9067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endParaRPr lang="en-US" sz="1600" noProof="1"/>
          </a:p>
        </p:txBody>
      </p:sp>
      <p:sp>
        <p:nvSpPr>
          <p:cNvPr id="12" name="pagenum"/>
          <p:cNvSpPr txBox="1"/>
          <p:nvPr/>
        </p:nvSpPr>
        <p:spPr>
          <a:xfrm>
            <a:off x="5588000" y="6629400"/>
            <a:ext cx="1016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808080"/>
                </a:solidFill>
                <a:latin typeface="MiSans" charset="-122"/>
                <a:ea typeface="MiSans" charset="-122"/>
              </a:rPr>
              <a:t>11</a:t>
            </a:r>
            <a:endParaRPr lang="en-US" sz="1600" noProof="1"/>
          </a:p>
        </p:txBody>
      </p:sp>
      <p:sp>
        <p:nvSpPr>
          <p:cNvPr id="13" name="TextBox 12"/>
          <p:cNvSpPr txBox="1"/>
          <p:nvPr/>
        </p:nvSpPr>
        <p:spPr>
          <a:xfrm>
            <a:off x="905256" y="1400620"/>
            <a:ext cx="4730750" cy="225425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F4E79"/>
                </a:solidFill>
                <a:latin typeface="MiSans" charset="-122"/>
              </a:rPr>
              <a:t>LoongArch HAL：启动/地址分流、软件 TLB refill、双 guard</a:t>
            </a:r>
            <a:endParaRPr sz="1350" b="1">
              <a:solidFill>
                <a:srgbClr val="1F4E79"/>
              </a:solidFill>
              <a:latin typeface="MiSans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05256" y="1728216"/>
            <a:ext cx="3273552" cy="277977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F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5256" y="1728216"/>
            <a:ext cx="3273552" cy="384048"/>
          </a:xfrm>
          <a:prstGeom prst="rect">
            <a:avLst/>
          </a:prstGeom>
          <a:solidFill>
            <a:srgbClr val="1F4E79"/>
          </a:solidFill>
          <a:ln w="1397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1" y="1764792"/>
            <a:ext cx="3017520" cy="292608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MiSans" charset="-122"/>
              </a:rPr>
              <a:t>1  启动与地址分流</a:t>
            </a:r>
            <a:endParaRPr sz="1550" b="1">
              <a:solidFill>
                <a:srgbClr val="FFFFFF"/>
              </a:solidFill>
              <a:latin typeface="MiSans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443984" y="1728216"/>
            <a:ext cx="3300984" cy="277977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F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43984" y="1728216"/>
            <a:ext cx="3300984" cy="384048"/>
          </a:xfrm>
          <a:prstGeom prst="rect">
            <a:avLst/>
          </a:prstGeom>
          <a:solidFill>
            <a:srgbClr val="1F4E79"/>
          </a:solidFill>
          <a:ln w="1397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1764792"/>
            <a:ext cx="3044952" cy="292608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MiSans" charset="-122"/>
              </a:rPr>
              <a:t>2  软件 TLB refill</a:t>
            </a:r>
            <a:endParaRPr sz="1550" b="1">
              <a:solidFill>
                <a:srgbClr val="FFFFFF"/>
              </a:solidFill>
              <a:latin typeface="MiSans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010144" y="1728216"/>
            <a:ext cx="3273552" cy="277977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F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0144" y="1728216"/>
            <a:ext cx="3273552" cy="384048"/>
          </a:xfrm>
          <a:prstGeom prst="rect">
            <a:avLst/>
          </a:prstGeom>
          <a:solidFill>
            <a:srgbClr val="1F4E79"/>
          </a:solidFill>
          <a:ln w="1397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1783144"/>
            <a:ext cx="1345565" cy="255905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MiSans" charset="-122"/>
              </a:rPr>
              <a:t>3   guard 保护</a:t>
            </a:r>
            <a:endParaRPr sz="1550" b="1">
              <a:solidFill>
                <a:srgbClr val="FFFFFF"/>
              </a:solidFill>
              <a:latin typeface="MiSans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106424" y="2185416"/>
            <a:ext cx="2880360" cy="365760"/>
          </a:xfrm>
          <a:prstGeom prst="roundRect">
            <a:avLst/>
          </a:prstGeom>
          <a:solidFill>
            <a:srgbClr val="EAF2F8"/>
          </a:solidFill>
          <a:ln w="13970">
            <a:solidFill>
              <a:srgbClr val="8F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2203704"/>
            <a:ext cx="2807208" cy="329184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F4E79"/>
                </a:solidFill>
                <a:latin typeface="MiSans" charset="-122"/>
              </a:rPr>
              <a:t>-bios Flash 内核</a:t>
            </a:r>
            <a:endParaRPr sz="1350" b="1">
              <a:solidFill>
                <a:srgbClr val="1F4E79"/>
              </a:solidFill>
              <a:latin typeface="MiSans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2542032" y="2560320"/>
            <a:ext cx="0" cy="201168"/>
          </a:xfrm>
          <a:prstGeom prst="line">
            <a:avLst/>
          </a:prstGeom>
          <a:ln w="27940">
            <a:solidFill>
              <a:srgbClr val="E36C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106424" y="2788920"/>
            <a:ext cx="2880360" cy="4389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F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2679" y="2799461"/>
            <a:ext cx="1847850" cy="417830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F4E79"/>
                </a:solidFill>
                <a:latin typeface="MiSans" charset="-122"/>
              </a:rPr>
              <a:t>CPU0: 搬 .data / 清 .bss
AP: 等待 boot_done</a:t>
            </a:r>
            <a:endParaRPr sz="1300" b="0">
              <a:solidFill>
                <a:srgbClr val="1F4E79"/>
              </a:solidFill>
              <a:latin typeface="MiSans" charset="-122"/>
            </a:endParaRPr>
          </a:p>
        </p:txBody>
      </p:sp>
      <p:cxnSp>
        <p:nvCxnSpPr>
          <p:cNvPr id="28" name="Connector 27"/>
          <p:cNvCxnSpPr/>
          <p:nvPr/>
        </p:nvCxnSpPr>
        <p:spPr>
          <a:xfrm>
            <a:off x="2542032" y="3236976"/>
            <a:ext cx="0" cy="192024"/>
          </a:xfrm>
          <a:prstGeom prst="line">
            <a:avLst/>
          </a:prstGeom>
          <a:ln w="27940">
            <a:solidFill>
              <a:srgbClr val="E36C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106424" y="3456432"/>
            <a:ext cx="2880360" cy="356616"/>
          </a:xfrm>
          <a:prstGeom prst="roundRect">
            <a:avLst/>
          </a:prstGeom>
          <a:solidFill>
            <a:srgbClr val="E2F0D9"/>
          </a:solidFill>
          <a:ln w="13970"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3474720"/>
            <a:ext cx="2807208" cy="320040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48235"/>
                </a:solidFill>
                <a:latin typeface="MiSans" charset="-122"/>
              </a:rPr>
              <a:t>CPU0 / AP  →  main()</a:t>
            </a:r>
            <a:endParaRPr sz="1300" b="1">
              <a:solidFill>
                <a:srgbClr val="548235"/>
              </a:solidFill>
              <a:latin typeface="MiSans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152144" y="3913632"/>
            <a:ext cx="2743200" cy="228600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472C4"/>
                </a:solidFill>
                <a:latin typeface="MiSans" charset="-122"/>
              </a:rPr>
              <a:t>PLV0 低地址  →  DMW0</a:t>
            </a:r>
            <a:endParaRPr sz="1200" b="1">
              <a:solidFill>
                <a:srgbClr val="4472C4"/>
              </a:solidFill>
              <a:latin typeface="MiSans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152144" y="4173855"/>
            <a:ext cx="2790190" cy="201930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36C0A"/>
                </a:solidFill>
                <a:latin typeface="MiSans" charset="-122"/>
              </a:rPr>
              <a:t>PLV3 / PLV0 高地址  →  PGDL / PGDH</a:t>
            </a:r>
            <a:endParaRPr sz="1200" b="1">
              <a:solidFill>
                <a:srgbClr val="E36C0A"/>
              </a:solidFill>
              <a:latin typeface="MiSans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4709160" y="2185416"/>
            <a:ext cx="2770632" cy="347472"/>
          </a:xfrm>
          <a:prstGeom prst="roundRect">
            <a:avLst/>
          </a:prstGeom>
          <a:solidFill>
            <a:srgbClr val="FCE4D6"/>
          </a:solidFill>
          <a:ln w="13970">
            <a:solidFill>
              <a:srgbClr val="E36C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45736" y="2203704"/>
            <a:ext cx="2697479" cy="310896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36C0A"/>
                </a:solidFill>
                <a:latin typeface="MiSans" charset="-122"/>
              </a:rPr>
              <a:t>TLBR 异常</a:t>
            </a:r>
            <a:endParaRPr sz="1300" b="1">
              <a:solidFill>
                <a:srgbClr val="E36C0A"/>
              </a:solidFill>
              <a:latin typeface="MiSans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4709160" y="2724912"/>
            <a:ext cx="2770632" cy="347472"/>
          </a:xfrm>
          <a:prstGeom prst="roundRect">
            <a:avLst/>
          </a:prstGeom>
          <a:solidFill>
            <a:srgbClr val="EAF2F8"/>
          </a:solidFill>
          <a:ln w="1397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45736" y="2743200"/>
            <a:ext cx="2697479" cy="310896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472C4"/>
                </a:solidFill>
                <a:latin typeface="MiSans" charset="-122"/>
              </a:rPr>
              <a:t>hal_tlbrefill.S</a:t>
            </a:r>
            <a:endParaRPr sz="1300" b="1">
              <a:solidFill>
                <a:srgbClr val="4472C4"/>
              </a:solidFill>
              <a:latin typeface="MiSans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4709160" y="3264408"/>
            <a:ext cx="2770632" cy="34747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F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45736" y="3282696"/>
            <a:ext cx="2697479" cy="310896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MiSans" charset="-122"/>
              </a:rPr>
              <a:t>四级 PTE walk</a:t>
            </a:r>
            <a:endParaRPr sz="1300" b="1">
              <a:solidFill>
                <a:srgbClr val="C00000"/>
              </a:solidFill>
              <a:latin typeface="MiSans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4709160" y="3803904"/>
            <a:ext cx="2770632" cy="347472"/>
          </a:xfrm>
          <a:prstGeom prst="roundRect">
            <a:avLst/>
          </a:prstGeom>
          <a:solidFill>
            <a:srgbClr val="E2F0D9"/>
          </a:solidFill>
          <a:ln w="13970"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45736" y="3822191"/>
            <a:ext cx="2697479" cy="310896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48235"/>
                </a:solidFill>
                <a:latin typeface="MiSans" charset="-122"/>
              </a:rPr>
              <a:t>TLBELO0 / TLBELO1</a:t>
            </a:r>
            <a:endParaRPr sz="1300" b="1">
              <a:solidFill>
                <a:srgbClr val="548235"/>
              </a:solidFill>
              <a:latin typeface="MiSans" charset="-122"/>
            </a:endParaRPr>
          </a:p>
        </p:txBody>
      </p:sp>
      <p:cxnSp>
        <p:nvCxnSpPr>
          <p:cNvPr id="41" name="Connector 40"/>
          <p:cNvCxnSpPr/>
          <p:nvPr/>
        </p:nvCxnSpPr>
        <p:spPr>
          <a:xfrm>
            <a:off x="6099048" y="2542032"/>
            <a:ext cx="0" cy="155448"/>
          </a:xfrm>
          <a:prstGeom prst="line">
            <a:avLst/>
          </a:prstGeom>
          <a:ln w="27940">
            <a:solidFill>
              <a:srgbClr val="4472C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099048" y="3081528"/>
            <a:ext cx="0" cy="155448"/>
          </a:xfrm>
          <a:prstGeom prst="line">
            <a:avLst/>
          </a:prstGeom>
          <a:ln w="27940">
            <a:solidFill>
              <a:srgbClr val="4472C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099048" y="3621024"/>
            <a:ext cx="0" cy="155448"/>
          </a:xfrm>
          <a:prstGeom prst="line">
            <a:avLst/>
          </a:prstGeom>
          <a:ln w="27940">
            <a:solidFill>
              <a:srgbClr val="4472C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990209" y="4232529"/>
            <a:ext cx="199390" cy="194310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150" b="1">
              <a:solidFill>
                <a:srgbClr val="6B7280"/>
              </a:solidFill>
              <a:latin typeface="MiSans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 flipH="1">
            <a:off x="8898255" y="2367280"/>
            <a:ext cx="1147445" cy="330200"/>
          </a:xfrm>
          <a:prstGeom prst="rect">
            <a:avLst/>
          </a:prstGeom>
          <a:noFill/>
        </p:spPr>
        <p:txBody>
          <a:bodyPr wrap="none" lIns="36576" tIns="9144" rIns="36576" bIns="9144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MiSans" charset="-122"/>
              </a:rPr>
              <a:t>高地址内核栈</a:t>
            </a:r>
            <a:endParaRPr sz="1300" b="1">
              <a:solidFill>
                <a:srgbClr val="1F4E79"/>
              </a:solidFill>
              <a:latin typeface="MiSans" charset="-122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8743315" y="3191510"/>
            <a:ext cx="1436370" cy="401955"/>
          </a:xfrm>
          <a:prstGeom prst="roundRect">
            <a:avLst/>
          </a:prstGeom>
          <a:solidFill>
            <a:srgbClr val="E2F0D9"/>
          </a:solidFill>
          <a:ln w="13970"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70352" y="3302191"/>
            <a:ext cx="673735" cy="217805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1300" b="1">
                <a:solidFill>
                  <a:srgbClr val="548235"/>
                </a:solidFill>
                <a:latin typeface="MiSans" charset="-122"/>
              </a:rPr>
              <a:t>映射页</a:t>
            </a:r>
            <a:r>
              <a:rPr lang="en-US" altLang="zh-CN" sz="1300" b="1">
                <a:solidFill>
                  <a:srgbClr val="548235"/>
                </a:solidFill>
                <a:latin typeface="MiSans" charset="-122"/>
              </a:rPr>
              <a:t>0</a:t>
            </a:r>
            <a:endParaRPr lang="en-US" altLang="zh-CN" sz="1300" b="1">
              <a:solidFill>
                <a:srgbClr val="548235"/>
              </a:solidFill>
              <a:latin typeface="MiSans" charset="-122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8743315" y="3620770"/>
            <a:ext cx="1457325" cy="414655"/>
          </a:xfrm>
          <a:prstGeom prst="roundRect">
            <a:avLst/>
          </a:prstGeom>
          <a:solidFill>
            <a:srgbClr val="F4CCCC"/>
          </a:solidFill>
          <a:ln w="13970">
            <a:solidFill>
              <a:srgbClr val="B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98254" y="3695764"/>
            <a:ext cx="1080770" cy="217805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504D"/>
                </a:solidFill>
                <a:latin typeface="MiSans" charset="-122"/>
              </a:rPr>
              <a:t>无 PTE guard</a:t>
            </a:r>
            <a:endParaRPr sz="1300" b="1">
              <a:solidFill>
                <a:srgbClr val="B0504D"/>
              </a:solidFill>
              <a:latin typeface="MiSans" charset="-122"/>
            </a:endParaRPr>
          </a:p>
        </p:txBody>
      </p:sp>
      <p:cxnSp>
        <p:nvCxnSpPr>
          <p:cNvPr id="50" name="Connector 49"/>
          <p:cNvCxnSpPr/>
          <p:nvPr/>
        </p:nvCxnSpPr>
        <p:spPr>
          <a:xfrm>
            <a:off x="10307193" y="3383153"/>
            <a:ext cx="0" cy="411480"/>
          </a:xfrm>
          <a:prstGeom prst="line">
            <a:avLst/>
          </a:prstGeom>
          <a:ln w="27940">
            <a:solidFill>
              <a:srgbClr val="B0504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10398760" y="3385566"/>
            <a:ext cx="783590" cy="417830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504D"/>
                </a:solidFill>
                <a:latin typeface="MiSans" charset="-122"/>
              </a:rPr>
              <a:t>PIL/PIS
→ 紧急栈</a:t>
            </a:r>
            <a:endParaRPr sz="1300" b="1">
              <a:solidFill>
                <a:srgbClr val="B0504D"/>
              </a:solidFill>
              <a:latin typeface="MiSans" charset="-122"/>
            </a:endParaRPr>
          </a:p>
        </p:txBody>
      </p:sp>
      <p:sp>
        <p:nvSpPr>
          <p:cNvPr id="7" name="Rounded Rectangle 45"/>
          <p:cNvSpPr/>
          <p:nvPr/>
        </p:nvSpPr>
        <p:spPr>
          <a:xfrm>
            <a:off x="8743315" y="2761615"/>
            <a:ext cx="1436370" cy="401955"/>
          </a:xfrm>
          <a:prstGeom prst="roundRect">
            <a:avLst/>
          </a:prstGeom>
          <a:solidFill>
            <a:srgbClr val="E2F0D9"/>
          </a:solidFill>
          <a:ln w="13970"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1300" b="1">
                <a:solidFill>
                  <a:srgbClr val="548235"/>
                </a:solidFill>
                <a:latin typeface="MiSans" charset="-122"/>
                <a:sym typeface="+mn-ea"/>
              </a:rPr>
              <a:t>映射页</a:t>
            </a:r>
            <a:r>
              <a:rPr lang="en-US" altLang="zh-CN" sz="1300" b="1">
                <a:solidFill>
                  <a:srgbClr val="548235"/>
                </a:solidFill>
                <a:latin typeface="MiSans" charset="-122"/>
                <a:sym typeface="+mn-ea"/>
              </a:rPr>
              <a:t>1</a:t>
            </a:r>
            <a:endParaRPr lang="en-US" altLang="zh-CN" sz="1300" b="1">
              <a:solidFill>
                <a:srgbClr val="548235"/>
              </a:solidFill>
              <a:latin typeface="MiSans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3" name="seclabel"/>
          <p:cNvSpPr txBox="1"/>
          <p:nvPr/>
        </p:nvSpPr>
        <p:spPr>
          <a:xfrm>
            <a:off x="584200" y="279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noProof="1">
                <a:solidFill>
                  <a:srgbClr val="E36C0A"/>
                </a:solidFill>
                <a:latin typeface="MiSans" charset="-122"/>
                <a:ea typeface="MiSans" charset="-122"/>
              </a:rPr>
              <a:t>▍</a:t>
            </a:r>
            <a:r>
              <a:rPr lang="en-US" sz="1100" noProof="1">
                <a:solidFill>
                  <a:srgbClr val="808080"/>
                </a:solidFill>
                <a:latin typeface="MiSans" charset="-122"/>
                <a:ea typeface="MiSans" charset="-122"/>
              </a:rPr>
              <a:t>HAL-4 · LoongArch（下）</a:t>
            </a:r>
            <a:endParaRPr lang="en-US" sz="1600" noProof="1"/>
          </a:p>
        </p:txBody>
      </p:sp>
      <p:sp>
        <p:nvSpPr>
          <p:cNvPr id="4" name="title"/>
          <p:cNvSpPr txBox="1"/>
          <p:nvPr/>
        </p:nvSpPr>
        <p:spPr>
          <a:xfrm>
            <a:off x="584200" y="533400"/>
            <a:ext cx="10922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 noProof="1">
                <a:solidFill>
                  <a:srgbClr val="1F4E79"/>
                </a:solidFill>
                <a:latin typeface="MiSans" charset="-122"/>
                <a:ea typeface="MiSans" charset="-122"/>
              </a:rPr>
              <a:t>EIOINTC / IOCSR 修复 UART 中断 + 三盘 RAM disk</a:t>
            </a:r>
            <a:endParaRPr lang="en-US" sz="2400" noProof="1"/>
          </a:p>
        </p:txBody>
      </p:sp>
      <p:sp>
        <p:nvSpPr>
          <p:cNvPr id="5" name="titleline"/>
          <p:cNvSpPr/>
          <p:nvPr/>
        </p:nvSpPr>
        <p:spPr>
          <a:xfrm>
            <a:off x="584200" y="1066800"/>
            <a:ext cx="11023600" cy="12700"/>
          </a:xfrm>
          <a:prstGeom prst="rect">
            <a:avLst/>
          </a:prstGeom>
          <a:solidFill>
            <a:srgbClr val="DCE6F0"/>
          </a:solidFill>
          <a:ln>
            <a:noFill/>
          </a:ln>
        </p:spPr>
      </p:sp>
      <p:sp>
        <p:nvSpPr>
          <p:cNvPr id="6" name="ph-box"/>
          <p:cNvSpPr/>
          <p:nvPr/>
        </p:nvSpPr>
        <p:spPr>
          <a:xfrm>
            <a:off x="584200" y="1320800"/>
            <a:ext cx="11023600" cy="2870200"/>
          </a:xfrm>
          <a:prstGeom prst="roundRect">
            <a:avLst>
              <a:gd name="adj" fmla="val 3000"/>
            </a:avLst>
          </a:prstGeom>
          <a:solidFill>
            <a:srgbClr val="F7FAFD"/>
          </a:solidFill>
          <a:ln w="19050">
            <a:solidFill>
              <a:srgbClr val="8FAECC"/>
            </a:solidFill>
            <a:prstDash val="dash"/>
          </a:ln>
        </p:spPr>
      </p:sp>
      <p:sp>
        <p:nvSpPr>
          <p:cNvPr id="9" name="rd-title"/>
          <p:cNvSpPr txBox="1"/>
          <p:nvPr/>
        </p:nvSpPr>
        <p:spPr>
          <a:xfrm>
            <a:off x="584200" y="43688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1F4E79"/>
                </a:solidFill>
                <a:latin typeface="MiSans" charset="-122"/>
                <a:ea typeface="MiSans" charset="-122"/>
              </a:rPr>
              <a:t>三 RAM disk 窗口</a:t>
            </a:r>
            <a:endParaRPr lang="en-US" sz="1400" noProof="1"/>
          </a:p>
        </p:txBody>
      </p:sp>
      <p:sp>
        <p:nvSpPr>
          <p:cNvPr id="10" name="rd1"/>
          <p:cNvSpPr/>
          <p:nvPr/>
        </p:nvSpPr>
        <p:spPr>
          <a:xfrm>
            <a:off x="584200" y="4724400"/>
            <a:ext cx="3556000" cy="736600"/>
          </a:xfrm>
          <a:prstGeom prst="roundRect">
            <a:avLst>
              <a:gd name="adj" fmla="val 7000"/>
            </a:avLst>
          </a:prstGeom>
          <a:solidFill>
            <a:srgbClr val="EAF2FA"/>
          </a:solidFill>
          <a:ln>
            <a:noFill/>
          </a:ln>
        </p:spPr>
      </p:sp>
      <p:sp>
        <p:nvSpPr>
          <p:cNvPr id="11" name="rd1-t"/>
          <p:cNvSpPr txBox="1"/>
          <p:nvPr/>
        </p:nvSpPr>
        <p:spPr>
          <a:xfrm>
            <a:off x="584200" y="4724400"/>
            <a:ext cx="35560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1F4E79"/>
                </a:solidFill>
                <a:latin typeface="Consolas" panose="020B0609020204030204"/>
                <a:ea typeface="MiSans" charset="-122"/>
              </a:rPr>
              <a:t>fs.img 0x09000000</a:t>
            </a:r>
            <a:r>
              <a:rPr lang="en-US" sz="1300" noProof="1">
                <a:solidFill>
                  <a:srgbClr val="808080"/>
                </a:solidFill>
                <a:latin typeface="MiSans" charset="-122"/>
                <a:ea typeface="MiSans" charset="-122"/>
              </a:rPr>
              <a:t>　16 MiB · dev=1</a:t>
            </a:r>
            <a:endParaRPr lang="en-US" sz="1300" noProof="1"/>
          </a:p>
        </p:txBody>
      </p:sp>
      <p:sp>
        <p:nvSpPr>
          <p:cNvPr id="12" name="rd2"/>
          <p:cNvSpPr/>
          <p:nvPr/>
        </p:nvSpPr>
        <p:spPr>
          <a:xfrm>
            <a:off x="4318000" y="4724400"/>
            <a:ext cx="3556000" cy="736600"/>
          </a:xfrm>
          <a:prstGeom prst="roundRect">
            <a:avLst>
              <a:gd name="adj" fmla="val 7000"/>
            </a:avLst>
          </a:prstGeom>
          <a:solidFill>
            <a:srgbClr val="EAF2FA"/>
          </a:solidFill>
          <a:ln>
            <a:noFill/>
          </a:ln>
        </p:spPr>
      </p:sp>
      <p:sp>
        <p:nvSpPr>
          <p:cNvPr id="13" name="rd2-t"/>
          <p:cNvSpPr txBox="1"/>
          <p:nvPr/>
        </p:nvSpPr>
        <p:spPr>
          <a:xfrm>
            <a:off x="4318000" y="4724400"/>
            <a:ext cx="35560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1F4E79"/>
                </a:solidFill>
                <a:latin typeface="Consolas" panose="020B0609020204030204"/>
                <a:ea typeface="MiSans" charset="-122"/>
              </a:rPr>
              <a:t>ext2.img 0x0a000000</a:t>
            </a:r>
            <a:r>
              <a:rPr lang="en-US" sz="1300" noProof="1">
                <a:solidFill>
                  <a:srgbClr val="808080"/>
                </a:solidFill>
                <a:latin typeface="MiSans" charset="-122"/>
                <a:ea typeface="MiSans" charset="-122"/>
              </a:rPr>
              <a:t>　16 MiB · dev=2</a:t>
            </a:r>
            <a:endParaRPr lang="en-US" sz="1300" noProof="1"/>
          </a:p>
        </p:txBody>
      </p:sp>
      <p:sp>
        <p:nvSpPr>
          <p:cNvPr id="14" name="rd3"/>
          <p:cNvSpPr/>
          <p:nvPr/>
        </p:nvSpPr>
        <p:spPr>
          <a:xfrm>
            <a:off x="8051800" y="4724400"/>
            <a:ext cx="3556000" cy="736600"/>
          </a:xfrm>
          <a:prstGeom prst="roundRect">
            <a:avLst>
              <a:gd name="adj" fmla="val 7000"/>
            </a:avLst>
          </a:prstGeom>
          <a:solidFill>
            <a:srgbClr val="EAF2FA"/>
          </a:solidFill>
          <a:ln>
            <a:noFill/>
          </a:ln>
        </p:spPr>
      </p:sp>
      <p:sp>
        <p:nvSpPr>
          <p:cNvPr id="15" name="rd3-t"/>
          <p:cNvSpPr txBox="1"/>
          <p:nvPr/>
        </p:nvSpPr>
        <p:spPr>
          <a:xfrm>
            <a:off x="8051800" y="4724400"/>
            <a:ext cx="35560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1F4E79"/>
                </a:solidFill>
                <a:latin typeface="Consolas" panose="020B0609020204030204"/>
                <a:ea typeface="MiSans" charset="-122"/>
              </a:rPr>
              <a:t>fat32 .img 0x0b000000</a:t>
            </a:r>
            <a:r>
              <a:rPr lang="en-US" sz="1300" noProof="1">
                <a:solidFill>
                  <a:srgbClr val="808080"/>
                </a:solidFill>
                <a:latin typeface="MiSans" charset="-122"/>
                <a:ea typeface="MiSans" charset="-122"/>
              </a:rPr>
              <a:t>　16 MiB · dev=3</a:t>
            </a:r>
            <a:endParaRPr lang="en-US" sz="1300" noProof="1"/>
          </a:p>
        </p:txBody>
      </p:sp>
      <p:sp>
        <p:nvSpPr>
          <p:cNvPr id="16" name="rd-note"/>
          <p:cNvSpPr txBox="1"/>
          <p:nvPr/>
        </p:nvSpPr>
        <p:spPr>
          <a:xfrm>
            <a:off x="584200" y="5613400"/>
            <a:ext cx="11023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808080"/>
                </a:solidFill>
                <a:latin typeface="MiSans" charset="-122"/>
                <a:ea typeface="MiSans" charset="-122"/>
              </a:rPr>
              <a:t>hal_disk_rw 同步 memmove；写盘不跨 QEMU 进程持久化（已知约束）</a:t>
            </a:r>
            <a:endParaRPr lang="en-US" sz="1200" noProof="1"/>
          </a:p>
        </p:txBody>
      </p:sp>
      <p:sp>
        <p:nvSpPr>
          <p:cNvPr id="17" name="hl-line"/>
          <p:cNvSpPr/>
          <p:nvPr/>
        </p:nvSpPr>
        <p:spPr>
          <a:xfrm>
            <a:off x="584200" y="6223000"/>
            <a:ext cx="11023600" cy="25400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18" name="hl-text"/>
          <p:cNvSpPr txBox="1"/>
          <p:nvPr/>
        </p:nvSpPr>
        <p:spPr>
          <a:xfrm>
            <a:off x="2540000" y="6324600"/>
            <a:ext cx="9067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endParaRPr lang="en-US" sz="1600" noProof="1"/>
          </a:p>
        </p:txBody>
      </p:sp>
      <p:sp>
        <p:nvSpPr>
          <p:cNvPr id="19" name="pagenum"/>
          <p:cNvSpPr txBox="1"/>
          <p:nvPr/>
        </p:nvSpPr>
        <p:spPr>
          <a:xfrm>
            <a:off x="5588000" y="6629400"/>
            <a:ext cx="1016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808080"/>
                </a:solidFill>
                <a:latin typeface="MiSans" charset="-122"/>
                <a:ea typeface="MiSans" charset="-122"/>
              </a:rPr>
              <a:t>12</a:t>
            </a:r>
            <a:endParaRPr lang="en-US" sz="1600" noProof="1"/>
          </a:p>
        </p:txBody>
      </p:sp>
      <p:sp>
        <p:nvSpPr>
          <p:cNvPr id="20" name="TextBox 19"/>
          <p:cNvSpPr txBox="1"/>
          <p:nvPr/>
        </p:nvSpPr>
        <p:spPr>
          <a:xfrm>
            <a:off x="905256" y="1396810"/>
            <a:ext cx="4188460" cy="233045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4E79"/>
                </a:solidFill>
                <a:latin typeface="MiSans" charset="-122"/>
              </a:rPr>
              <a:t>LoongArch UART：EIOINTC 中断链修复前 / 修复后</a:t>
            </a:r>
            <a:endParaRPr sz="1400" b="1">
              <a:solidFill>
                <a:srgbClr val="1F4E79"/>
              </a:solidFill>
              <a:latin typeface="MiSans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905256" y="1728216"/>
            <a:ext cx="4407408" cy="19019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F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256" y="1728216"/>
            <a:ext cx="4407408" cy="384048"/>
          </a:xfrm>
          <a:prstGeom prst="rect">
            <a:avLst/>
          </a:prstGeom>
          <a:solidFill>
            <a:srgbClr val="B0504D"/>
          </a:solidFill>
          <a:ln w="13970">
            <a:solidFill>
              <a:srgbClr val="B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3271" y="1764792"/>
            <a:ext cx="4151376" cy="292608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MiSans" charset="-122"/>
              </a:rPr>
              <a:t>修复前  ✕  中断链断开</a:t>
            </a:r>
            <a:endParaRPr sz="1550" b="1">
              <a:solidFill>
                <a:srgbClr val="FFFFFF"/>
              </a:solidFill>
              <a:latin typeface="MiSans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254496" y="1728216"/>
            <a:ext cx="5029200" cy="19019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F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54496" y="1728216"/>
            <a:ext cx="5029200" cy="384048"/>
          </a:xfrm>
          <a:prstGeom prst="rect">
            <a:avLst/>
          </a:prstGeom>
          <a:solidFill>
            <a:srgbClr val="548235"/>
          </a:solidFill>
          <a:ln w="13970"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82512" y="1764792"/>
            <a:ext cx="4773168" cy="292608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MiSans" charset="-122"/>
              </a:rPr>
              <a:t>修复后  ✓  RX/TX 完整中断链</a:t>
            </a:r>
            <a:endParaRPr sz="1550" b="1">
              <a:solidFill>
                <a:srgbClr val="FFFFFF"/>
              </a:solidFill>
              <a:latin typeface="MiSans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1097280" y="2340864"/>
            <a:ext cx="960120" cy="384048"/>
          </a:xfrm>
          <a:prstGeom prst="roundRect">
            <a:avLst/>
          </a:prstGeom>
          <a:solidFill>
            <a:srgbClr val="F4CCCC"/>
          </a:solidFill>
          <a:ln w="13970">
            <a:solidFill>
              <a:srgbClr val="B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3958" y="2423986"/>
            <a:ext cx="786765" cy="217805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504D"/>
                </a:solidFill>
                <a:latin typeface="MiSans" charset="-122"/>
              </a:rPr>
              <a:t>CPU 配置</a:t>
            </a:r>
            <a:endParaRPr sz="1300" b="1">
              <a:solidFill>
                <a:srgbClr val="B0504D"/>
              </a:solidFill>
              <a:latin typeface="MiSans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2441448" y="2340864"/>
            <a:ext cx="1353312" cy="384048"/>
          </a:xfrm>
          <a:prstGeom prst="roundRect">
            <a:avLst/>
          </a:prstGeom>
          <a:solidFill>
            <a:srgbClr val="F4CCCC"/>
          </a:solidFill>
          <a:ln w="13970">
            <a:solidFill>
              <a:srgbClr val="B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02484" y="2323973"/>
            <a:ext cx="1031240" cy="417830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504D"/>
                </a:solidFill>
                <a:latin typeface="MiSans" charset="-122"/>
              </a:rPr>
              <a:t>0x0fe00000
普通 MMIO</a:t>
            </a:r>
            <a:endParaRPr sz="1300" b="1">
              <a:solidFill>
                <a:srgbClr val="B0504D"/>
              </a:solidFill>
              <a:latin typeface="MiSans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169663" y="2340864"/>
            <a:ext cx="960120" cy="384048"/>
          </a:xfrm>
          <a:prstGeom prst="roundRect">
            <a:avLst/>
          </a:prstGeom>
          <a:solidFill>
            <a:srgbClr val="F4CCCC"/>
          </a:solidFill>
          <a:ln w="13970">
            <a:solidFill>
              <a:srgbClr val="B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44277" y="2423986"/>
            <a:ext cx="810895" cy="217805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504D"/>
                </a:solidFill>
                <a:latin typeface="MiSans" charset="-122"/>
              </a:rPr>
              <a:t>低端 RAM</a:t>
            </a:r>
            <a:endParaRPr sz="1300" b="1">
              <a:solidFill>
                <a:srgbClr val="B0504D"/>
              </a:solidFill>
              <a:latin typeface="MiSans" charset="-122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2075688" y="2532888"/>
            <a:ext cx="329184" cy="0"/>
          </a:xfrm>
          <a:prstGeom prst="line">
            <a:avLst/>
          </a:prstGeom>
          <a:ln w="27940">
            <a:solidFill>
              <a:srgbClr val="B0504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813048" y="2532888"/>
            <a:ext cx="320039" cy="0"/>
          </a:xfrm>
          <a:prstGeom prst="line">
            <a:avLst/>
          </a:prstGeom>
          <a:ln w="27940">
            <a:solidFill>
              <a:srgbClr val="B0504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965960" y="2944368"/>
            <a:ext cx="2331720" cy="246888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504D"/>
                </a:solidFill>
                <a:latin typeface="MiSans" charset="-122"/>
              </a:rPr>
              <a:t>EIOINTC 未配置</a:t>
            </a:r>
            <a:endParaRPr sz="1300" b="1">
              <a:solidFill>
                <a:srgbClr val="B0504D"/>
              </a:solidFill>
              <a:latin typeface="MiSans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829118" y="3250311"/>
            <a:ext cx="2605405" cy="201930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MiSans" charset="-122"/>
              </a:rPr>
              <a:t>误判 ESTAT.IS12  →  RX/TX IRQ 丢失</a:t>
            </a:r>
            <a:endParaRPr sz="1200" b="0">
              <a:solidFill>
                <a:srgbClr val="6B7280"/>
              </a:solidFill>
              <a:latin typeface="MiSans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6455664" y="2340864"/>
            <a:ext cx="841248" cy="384048"/>
          </a:xfrm>
          <a:prstGeom prst="roundRect">
            <a:avLst/>
          </a:prstGeom>
          <a:solidFill>
            <a:srgbClr val="E2F0D9"/>
          </a:solidFill>
          <a:ln w="13970"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01651" y="2323973"/>
            <a:ext cx="549275" cy="417830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48235"/>
                </a:solidFill>
                <a:latin typeface="MiSans" charset="-122"/>
              </a:rPr>
              <a:t>UART
RX/TX</a:t>
            </a:r>
            <a:endParaRPr sz="1300" b="1">
              <a:solidFill>
                <a:srgbClr val="548235"/>
              </a:solidFill>
              <a:latin typeface="MiSans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7662672" y="2340864"/>
            <a:ext cx="978408" cy="384048"/>
          </a:xfrm>
          <a:prstGeom prst="roundRect">
            <a:avLst/>
          </a:prstGeom>
          <a:solidFill>
            <a:srgbClr val="E2F0D9"/>
          </a:solidFill>
          <a:ln w="13970"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93418" y="2323973"/>
            <a:ext cx="716915" cy="417830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48235"/>
                </a:solidFill>
                <a:latin typeface="MiSans" charset="-122"/>
              </a:rPr>
              <a:t>EIOINTC
IOCSR</a:t>
            </a:r>
            <a:endParaRPr sz="1300" b="1">
              <a:solidFill>
                <a:srgbClr val="548235"/>
              </a:solidFill>
              <a:latin typeface="MiSans" charset="-122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8997696" y="2340864"/>
            <a:ext cx="868680" cy="384048"/>
          </a:xfrm>
          <a:prstGeom prst="roundRect">
            <a:avLst/>
          </a:prstGeom>
          <a:solidFill>
            <a:srgbClr val="E2F0D9"/>
          </a:solidFill>
          <a:ln w="13970"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2159" y="2323973"/>
            <a:ext cx="579755" cy="417830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48235"/>
                </a:solidFill>
                <a:latin typeface="MiSans" charset="-122"/>
              </a:rPr>
              <a:t>ESTAT
IS2</a:t>
            </a:r>
            <a:endParaRPr sz="1300" b="1">
              <a:solidFill>
                <a:srgbClr val="548235"/>
              </a:solidFill>
              <a:latin typeface="MiSans" charset="-122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10241280" y="2340864"/>
            <a:ext cx="749808" cy="384048"/>
          </a:xfrm>
          <a:prstGeom prst="roundRect">
            <a:avLst/>
          </a:prstGeom>
          <a:solidFill>
            <a:srgbClr val="E2F0D9"/>
          </a:solidFill>
          <a:ln w="13970"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412666" y="2423986"/>
            <a:ext cx="407035" cy="217805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48235"/>
                </a:solidFill>
                <a:latin typeface="MiSans" charset="-122"/>
              </a:rPr>
              <a:t>CPU</a:t>
            </a:r>
            <a:endParaRPr sz="1300" b="1">
              <a:solidFill>
                <a:srgbClr val="548235"/>
              </a:solidFill>
              <a:latin typeface="MiSans" charset="-122"/>
            </a:endParaRPr>
          </a:p>
        </p:txBody>
      </p:sp>
      <p:cxnSp>
        <p:nvCxnSpPr>
          <p:cNvPr id="45" name="Connector 44"/>
          <p:cNvCxnSpPr/>
          <p:nvPr/>
        </p:nvCxnSpPr>
        <p:spPr>
          <a:xfrm>
            <a:off x="7324344" y="2532888"/>
            <a:ext cx="301752" cy="0"/>
          </a:xfrm>
          <a:prstGeom prst="line">
            <a:avLst/>
          </a:prstGeom>
          <a:ln w="27940">
            <a:solidFill>
              <a:srgbClr val="5482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668512" y="2532888"/>
            <a:ext cx="292608" cy="0"/>
          </a:xfrm>
          <a:prstGeom prst="line">
            <a:avLst/>
          </a:prstGeom>
          <a:ln w="27940">
            <a:solidFill>
              <a:srgbClr val="5482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893807" y="2532888"/>
            <a:ext cx="310897" cy="0"/>
          </a:xfrm>
          <a:prstGeom prst="line">
            <a:avLst/>
          </a:prstGeom>
          <a:ln w="27940">
            <a:solidFill>
              <a:srgbClr val="5482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0616184" y="2734056"/>
            <a:ext cx="0" cy="192024"/>
          </a:xfrm>
          <a:prstGeom prst="line">
            <a:avLst/>
          </a:prstGeom>
          <a:ln w="27940">
            <a:solidFill>
              <a:srgbClr val="4472C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6537960" y="2953512"/>
            <a:ext cx="4443984" cy="329184"/>
          </a:xfrm>
          <a:prstGeom prst="roundRect">
            <a:avLst/>
          </a:prstGeom>
          <a:solidFill>
            <a:srgbClr val="EAF2F8"/>
          </a:solidFill>
          <a:ln w="1397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94702" y="3009202"/>
            <a:ext cx="2730500" cy="217805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MiSans" charset="-122"/>
              </a:rPr>
              <a:t>devintr → irq_claim → console_intr</a:t>
            </a:r>
            <a:endParaRPr sz="1300" b="1">
              <a:solidFill>
                <a:srgbClr val="1F4E79"/>
              </a:solidFill>
              <a:latin typeface="MiSans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092505" y="3346323"/>
            <a:ext cx="3316605" cy="201930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MiSans" charset="-122"/>
              </a:rPr>
              <a:t>IOCSR 指令 + packed 路由字段 + 跨 CPU TX 锁</a:t>
            </a:r>
            <a:endParaRPr sz="1200" b="0">
              <a:solidFill>
                <a:srgbClr val="6B7280"/>
              </a:solidFill>
              <a:latin typeface="MiSans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3" name="seclabel"/>
          <p:cNvSpPr txBox="1"/>
          <p:nvPr/>
        </p:nvSpPr>
        <p:spPr>
          <a:xfrm>
            <a:off x="584200" y="279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noProof="1">
                <a:solidFill>
                  <a:srgbClr val="E36C0A"/>
                </a:solidFill>
                <a:latin typeface="MiSans" charset="-122"/>
                <a:ea typeface="MiSans" charset="-122"/>
              </a:rPr>
              <a:t>▍HAL-5 · 适配与验证</a:t>
            </a:r>
            <a:endParaRPr lang="en-US" sz="1600" noProof="1"/>
          </a:p>
        </p:txBody>
      </p:sp>
      <p:sp>
        <p:nvSpPr>
          <p:cNvPr id="4" name="title"/>
          <p:cNvSpPr txBox="1"/>
          <p:nvPr/>
        </p:nvSpPr>
        <p:spPr>
          <a:xfrm>
            <a:off x="584200" y="533400"/>
            <a:ext cx="10922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 noProof="1">
                <a:solidFill>
                  <a:srgbClr val="1F4E79"/>
                </a:solidFill>
                <a:latin typeface="MiSans" charset="-122"/>
                <a:ea typeface="MiSans" charset="-122"/>
              </a:rPr>
              <a:t>从“双平台适配”到“可证明、可诊断”</a:t>
            </a:r>
            <a:endParaRPr lang="en-US" sz="2400" noProof="1"/>
          </a:p>
        </p:txBody>
      </p:sp>
      <p:sp>
        <p:nvSpPr>
          <p:cNvPr id="5" name="titleline"/>
          <p:cNvSpPr/>
          <p:nvPr/>
        </p:nvSpPr>
        <p:spPr>
          <a:xfrm>
            <a:off x="584200" y="1066800"/>
            <a:ext cx="11023600" cy="12700"/>
          </a:xfrm>
          <a:prstGeom prst="rect">
            <a:avLst/>
          </a:prstGeom>
          <a:solidFill>
            <a:srgbClr val="DCE6F0"/>
          </a:solidFill>
          <a:ln>
            <a:noFill/>
          </a:ln>
        </p:spPr>
      </p:sp>
      <p:sp>
        <p:nvSpPr>
          <p:cNvPr id="22" name="hl-line"/>
          <p:cNvSpPr/>
          <p:nvPr/>
        </p:nvSpPr>
        <p:spPr>
          <a:xfrm>
            <a:off x="584200" y="6223000"/>
            <a:ext cx="11023600" cy="25400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23" name="hl-text"/>
          <p:cNvSpPr txBox="1"/>
          <p:nvPr/>
        </p:nvSpPr>
        <p:spPr>
          <a:xfrm>
            <a:off x="2540000" y="6324600"/>
            <a:ext cx="9067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endParaRPr lang="en-US" sz="1600" noProof="1"/>
          </a:p>
        </p:txBody>
      </p:sp>
      <p:sp>
        <p:nvSpPr>
          <p:cNvPr id="24" name="pagenum"/>
          <p:cNvSpPr txBox="1"/>
          <p:nvPr/>
        </p:nvSpPr>
        <p:spPr>
          <a:xfrm>
            <a:off x="5588000" y="6629400"/>
            <a:ext cx="1016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808080"/>
                </a:solidFill>
                <a:latin typeface="MiSans" charset="-122"/>
                <a:ea typeface="MiSans" charset="-122"/>
              </a:rPr>
              <a:t>13</a:t>
            </a:r>
            <a:endParaRPr lang="en-US" sz="1600" noProof="1"/>
          </a:p>
        </p:txBody>
      </p:sp>
      <p:sp>
        <p:nvSpPr>
          <p:cNvPr id="25" name="Rectangle 24"/>
          <p:cNvSpPr/>
          <p:nvPr/>
        </p:nvSpPr>
        <p:spPr>
          <a:xfrm>
            <a:off x="585216" y="1307592"/>
            <a:ext cx="6629400" cy="402336"/>
          </a:xfrm>
          <a:prstGeom prst="rect">
            <a:avLst/>
          </a:prstGeom>
          <a:solidFill>
            <a:srgbClr val="1F4E79"/>
          </a:solidFill>
          <a:ln w="1397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" y="1344168"/>
            <a:ext cx="6126480" cy="310896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Sans" charset="-122"/>
              </a:rPr>
              <a:t>双平台适配的六项关键决策</a:t>
            </a:r>
            <a:endParaRPr sz="1600" b="1">
              <a:solidFill>
                <a:srgbClr val="FFFFFF"/>
              </a:solidFill>
              <a:latin typeface="MiSans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543800" y="1307592"/>
            <a:ext cx="4059936" cy="402336"/>
          </a:xfrm>
          <a:prstGeom prst="rect">
            <a:avLst/>
          </a:prstGeom>
          <a:solidFill>
            <a:srgbClr val="548235"/>
          </a:solidFill>
          <a:ln w="13970"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44968" y="1344168"/>
            <a:ext cx="3657600" cy="310896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Sans" charset="-122"/>
              </a:rPr>
              <a:t>可证明、可诊断的三项措施</a:t>
            </a:r>
            <a:endParaRPr sz="1600" b="1">
              <a:solidFill>
                <a:srgbClr val="FFFFFF"/>
              </a:solidFill>
              <a:latin typeface="MiSans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85216" y="1810512"/>
            <a:ext cx="6629400" cy="603504"/>
          </a:xfrm>
          <a:prstGeom prst="roundRect">
            <a:avLst/>
          </a:prstGeom>
          <a:solidFill>
            <a:srgbClr val="EAF2F8"/>
          </a:solidFill>
          <a:ln w="13970">
            <a:solidFill>
              <a:srgbClr val="B4C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13232" y="1911095"/>
            <a:ext cx="384048" cy="384048"/>
          </a:xfrm>
          <a:prstGeom prst="roundRect">
            <a:avLst/>
          </a:prstGeom>
          <a:solidFill>
            <a:srgbClr val="1F4E79"/>
          </a:solidFill>
          <a:ln w="1397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" y="1911095"/>
            <a:ext cx="384048" cy="384048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Sans" charset="-122"/>
              </a:rPr>
              <a:t>1</a:t>
            </a:r>
            <a:endParaRPr sz="1200" b="1">
              <a:solidFill>
                <a:srgbClr val="FFFFFF"/>
              </a:solidFill>
              <a:latin typeface="MiSans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225296" y="1993899"/>
            <a:ext cx="1975104" cy="228600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F4E79"/>
                </a:solidFill>
                <a:latin typeface="MiSans" charset="-122"/>
              </a:rPr>
              <a:t>编译期静态绑定</a:t>
            </a:r>
            <a:endParaRPr sz="1350" b="1">
              <a:solidFill>
                <a:srgbClr val="1F4E79"/>
              </a:solidFill>
              <a:latin typeface="MiSans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218688" y="1994217"/>
            <a:ext cx="4003675" cy="217805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MiSans" charset="-122"/>
              </a:rPr>
              <a:t>Makefile 选择 hal/$(ARCH)，kernel/ 无 ARCH 条件块</a:t>
            </a:r>
            <a:endParaRPr sz="1300" b="0">
              <a:solidFill>
                <a:srgbClr val="6B7280"/>
              </a:solidFill>
              <a:latin typeface="MiSans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585216" y="2496312"/>
            <a:ext cx="6629400" cy="60350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4C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13232" y="2596896"/>
            <a:ext cx="384048" cy="384048"/>
          </a:xfrm>
          <a:prstGeom prst="roundRect">
            <a:avLst/>
          </a:prstGeom>
          <a:solidFill>
            <a:srgbClr val="1F4E79"/>
          </a:solidFill>
          <a:ln w="1397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3232" y="2596896"/>
            <a:ext cx="384048" cy="384048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Sans" charset="-122"/>
              </a:rPr>
              <a:t>2</a:t>
            </a:r>
            <a:endParaRPr sz="1200" b="1">
              <a:solidFill>
                <a:srgbClr val="FFFFFF"/>
              </a:solidFill>
              <a:latin typeface="MiSans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225296" y="2680335"/>
            <a:ext cx="1975104" cy="228600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F4E79"/>
                </a:solidFill>
                <a:latin typeface="MiSans" charset="-122"/>
              </a:rPr>
              <a:t>地址与页表参数化</a:t>
            </a:r>
            <a:endParaRPr sz="1350" b="1">
              <a:solidFill>
                <a:srgbClr val="1F4E79"/>
              </a:solidFill>
              <a:latin typeface="MiSans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218688" y="2680018"/>
            <a:ext cx="3514090" cy="217805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MiSans" charset="-122"/>
              </a:rPr>
              <a:t>Sv39 三级 / LA 四级；PA↔PTE 由 arch.h 编码</a:t>
            </a:r>
            <a:endParaRPr sz="1300" b="0">
              <a:solidFill>
                <a:srgbClr val="6B7280"/>
              </a:solidFill>
              <a:latin typeface="MiSans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585216" y="3182112"/>
            <a:ext cx="6629400" cy="603504"/>
          </a:xfrm>
          <a:prstGeom prst="roundRect">
            <a:avLst/>
          </a:prstGeom>
          <a:solidFill>
            <a:srgbClr val="EAF2F8"/>
          </a:solidFill>
          <a:ln w="13970">
            <a:solidFill>
              <a:srgbClr val="B4C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13232" y="3282696"/>
            <a:ext cx="384048" cy="384048"/>
          </a:xfrm>
          <a:prstGeom prst="roundRect">
            <a:avLst/>
          </a:prstGeom>
          <a:solidFill>
            <a:srgbClr val="1F4E79"/>
          </a:solidFill>
          <a:ln w="1397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3232" y="3282696"/>
            <a:ext cx="384048" cy="384048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Sans" charset="-122"/>
              </a:rPr>
              <a:t>3</a:t>
            </a:r>
            <a:endParaRPr sz="1200" b="1">
              <a:solidFill>
                <a:srgbClr val="FFFFFF"/>
              </a:solidFill>
              <a:latin typeface="MiSans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225296" y="3392170"/>
            <a:ext cx="1975104" cy="228600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F4E79"/>
                </a:solidFill>
                <a:latin typeface="MiSans" charset="-122"/>
              </a:rPr>
              <a:t>PTE 权限语义转换</a:t>
            </a:r>
            <a:endParaRPr sz="1350" b="1">
              <a:solidFill>
                <a:srgbClr val="1F4E79"/>
              </a:solidFill>
              <a:latin typeface="MiSans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218688" y="3365818"/>
            <a:ext cx="3488690" cy="217805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MiSans" charset="-122"/>
              </a:rPr>
              <a:t>通用 R/X → LA NR/NX；RISC-V 保持原生编码</a:t>
            </a:r>
            <a:endParaRPr sz="1300" b="0">
              <a:solidFill>
                <a:srgbClr val="6B7280"/>
              </a:solidFill>
              <a:latin typeface="MiSans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585216" y="3867912"/>
            <a:ext cx="6629400" cy="60350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4C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13232" y="3968496"/>
            <a:ext cx="384048" cy="384048"/>
          </a:xfrm>
          <a:prstGeom prst="roundRect">
            <a:avLst/>
          </a:prstGeom>
          <a:solidFill>
            <a:srgbClr val="1F4E79"/>
          </a:solidFill>
          <a:ln w="1397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3232" y="3968496"/>
            <a:ext cx="384048" cy="384048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Sans" charset="-122"/>
              </a:rPr>
              <a:t>4</a:t>
            </a:r>
            <a:endParaRPr sz="1200" b="1">
              <a:solidFill>
                <a:srgbClr val="FFFFFF"/>
              </a:solidFill>
              <a:latin typeface="MiSans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225296" y="4041140"/>
            <a:ext cx="1975104" cy="228600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F4E79"/>
                </a:solidFill>
                <a:latin typeface="MiSans" charset="-122"/>
              </a:rPr>
              <a:t>Trap 语义归一</a:t>
            </a:r>
            <a:endParaRPr sz="1350" b="1">
              <a:solidFill>
                <a:srgbClr val="1F4E79"/>
              </a:solidFill>
              <a:latin typeface="MiSans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218688" y="4051618"/>
            <a:ext cx="3373755" cy="217805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MiSans" charset="-122"/>
              </a:rPr>
              <a:t>PRMD/ESTAT → SPP/SPIE/scause 公共语义</a:t>
            </a:r>
            <a:endParaRPr sz="1300" b="0">
              <a:solidFill>
                <a:srgbClr val="6B7280"/>
              </a:solidFill>
              <a:latin typeface="MiSans" charset="-122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585216" y="4553712"/>
            <a:ext cx="6629400" cy="603504"/>
          </a:xfrm>
          <a:prstGeom prst="roundRect">
            <a:avLst/>
          </a:prstGeom>
          <a:solidFill>
            <a:srgbClr val="EAF2F8"/>
          </a:solidFill>
          <a:ln w="13970">
            <a:solidFill>
              <a:srgbClr val="B4C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13232" y="4654296"/>
            <a:ext cx="384048" cy="384048"/>
          </a:xfrm>
          <a:prstGeom prst="roundRect">
            <a:avLst/>
          </a:prstGeom>
          <a:solidFill>
            <a:srgbClr val="1F4E79"/>
          </a:solidFill>
          <a:ln w="1397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3232" y="4654296"/>
            <a:ext cx="384048" cy="384048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Sans" charset="-122"/>
              </a:rPr>
              <a:t>5</a:t>
            </a:r>
            <a:endParaRPr sz="1200" b="1">
              <a:solidFill>
                <a:srgbClr val="FFFFFF"/>
              </a:solidFill>
              <a:latin typeface="MiSans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225296" y="4737735"/>
            <a:ext cx="1975104" cy="228600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F4E79"/>
                </a:solidFill>
                <a:latin typeface="MiSans" charset="-122"/>
              </a:rPr>
              <a:t>TLB 职责单一</a:t>
            </a:r>
            <a:endParaRPr sz="1350" b="1">
              <a:solidFill>
                <a:srgbClr val="1F4E79"/>
              </a:solidFill>
              <a:latin typeface="MiSans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218688" y="4737418"/>
            <a:ext cx="3642360" cy="217805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MiSans" charset="-122"/>
              </a:rPr>
              <a:t>vmfault() 建 PTE；LA 汇编 refill 查表并装入 TLB</a:t>
            </a:r>
            <a:endParaRPr sz="1300" b="0">
              <a:solidFill>
                <a:srgbClr val="6B7280"/>
              </a:solidFill>
              <a:latin typeface="MiSans" charset="-122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585216" y="5239512"/>
            <a:ext cx="6629400" cy="60350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4C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713232" y="5340096"/>
            <a:ext cx="384048" cy="384048"/>
          </a:xfrm>
          <a:prstGeom prst="roundRect">
            <a:avLst/>
          </a:prstGeom>
          <a:solidFill>
            <a:srgbClr val="1F4E79"/>
          </a:solidFill>
          <a:ln w="1397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13232" y="5340096"/>
            <a:ext cx="384048" cy="384048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Sans" charset="-122"/>
              </a:rPr>
              <a:t>6</a:t>
            </a:r>
            <a:endParaRPr sz="1200" b="1">
              <a:solidFill>
                <a:srgbClr val="FFFFFF"/>
              </a:solidFill>
              <a:latin typeface="MiSans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225296" y="5412740"/>
            <a:ext cx="1975104" cy="228600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F4E79"/>
                </a:solidFill>
                <a:latin typeface="MiSans" charset="-122"/>
              </a:rPr>
              <a:t>设备与中断统一契约</a:t>
            </a:r>
            <a:endParaRPr sz="1350" b="1">
              <a:solidFill>
                <a:srgbClr val="1F4E79"/>
              </a:solidFill>
              <a:latin typeface="MiSans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3218688" y="5423218"/>
            <a:ext cx="3823970" cy="217805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MiSans" charset="-122"/>
              </a:rPr>
              <a:t>PLIC/virtio ↔ EIOINTC/RAM disk，共用 hal_* 契约</a:t>
            </a:r>
            <a:endParaRPr sz="1300" b="0">
              <a:solidFill>
                <a:srgbClr val="6B7280"/>
              </a:solidFill>
              <a:latin typeface="MiSans" charset="-122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7543800" y="1847215"/>
            <a:ext cx="4274820" cy="1225550"/>
          </a:xfrm>
          <a:prstGeom prst="roundRect">
            <a:avLst/>
          </a:prstGeom>
          <a:solidFill>
            <a:srgbClr val="EAF2F8"/>
          </a:solidFill>
          <a:ln w="1397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7708392" y="2002536"/>
            <a:ext cx="438912" cy="438912"/>
          </a:xfrm>
          <a:prstGeom prst="roundRect">
            <a:avLst/>
          </a:prstGeom>
          <a:solidFill>
            <a:srgbClr val="4472C4"/>
          </a:solidFill>
          <a:ln w="1397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708392" y="2002536"/>
            <a:ext cx="438912" cy="438912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Sans" charset="-122"/>
              </a:rPr>
              <a:t>1</a:t>
            </a:r>
            <a:endParaRPr sz="1300" b="1">
              <a:solidFill>
                <a:srgbClr val="FFFFFF"/>
              </a:solidFill>
              <a:latin typeface="MiSans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8284464" y="2094230"/>
            <a:ext cx="2971800" cy="320040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4472C4"/>
                </a:solidFill>
                <a:latin typeface="MiSans" charset="-122"/>
              </a:rPr>
              <a:t>编译/链接期断言</a:t>
            </a:r>
            <a:endParaRPr sz="1450" b="1">
              <a:solidFill>
                <a:srgbClr val="4472C4"/>
              </a:solidFill>
              <a:latin typeface="MiSans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653655" y="2496185"/>
            <a:ext cx="4323715" cy="461010"/>
          </a:xfrm>
          <a:prstGeom prst="rect">
            <a:avLst/>
          </a:prstGeom>
          <a:noFill/>
        </p:spPr>
        <p:txBody>
          <a:bodyPr wrap="square" lIns="36576" tIns="9144" rIns="36576" bIns="9144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MiSans" charset="-122"/>
              </a:rPr>
              <a:t>trapframe/context 偏移、栈窗口由 _Static_assert 校验</a:t>
            </a:r>
            <a:endParaRPr sz="1300" b="0">
              <a:solidFill>
                <a:srgbClr val="6B7280"/>
              </a:solidFill>
              <a:latin typeface="MiSans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MiSans" charset="-122"/>
              </a:rPr>
              <a:t>.tlbrefill 大小由链接脚本校验。</a:t>
            </a:r>
            <a:endParaRPr sz="1300" b="0">
              <a:solidFill>
                <a:srgbClr val="6B7280"/>
              </a:solidFill>
              <a:latin typeface="MiSans" charset="-122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7543800" y="3237230"/>
            <a:ext cx="4274820" cy="1225550"/>
          </a:xfrm>
          <a:prstGeom prst="roundRect">
            <a:avLst/>
          </a:prstGeom>
          <a:solidFill>
            <a:srgbClr val="FCE4D6"/>
          </a:solidFill>
          <a:ln w="13970">
            <a:solidFill>
              <a:srgbClr val="E36C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708392" y="3392424"/>
            <a:ext cx="438912" cy="438912"/>
          </a:xfrm>
          <a:prstGeom prst="roundRect">
            <a:avLst/>
          </a:prstGeom>
          <a:solidFill>
            <a:srgbClr val="E36C0A"/>
          </a:solidFill>
          <a:ln w="13970">
            <a:solidFill>
              <a:srgbClr val="E36C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708392" y="3392424"/>
            <a:ext cx="438912" cy="438912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Sans" charset="-122"/>
              </a:rPr>
              <a:t>2</a:t>
            </a:r>
            <a:endParaRPr sz="1300" b="1">
              <a:solidFill>
                <a:srgbClr val="FFFFFF"/>
              </a:solidFill>
              <a:latin typeface="MiSans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8284464" y="3465703"/>
            <a:ext cx="2971800" cy="320040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E36C0A"/>
                </a:solidFill>
                <a:latin typeface="MiSans" charset="-122"/>
              </a:rPr>
              <a:t>失败路径闭环</a:t>
            </a:r>
            <a:endParaRPr sz="1450" b="1">
              <a:solidFill>
                <a:srgbClr val="E36C0A"/>
              </a:solidFill>
              <a:latin typeface="MiSans" charset="-122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7726679" y="3960176"/>
            <a:ext cx="2254250" cy="217805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MiSans" charset="-122"/>
              </a:rPr>
              <a:t>trampoline 映射失败立即回滚</a:t>
            </a:r>
            <a:endParaRPr sz="1300" b="0">
              <a:solidFill>
                <a:srgbClr val="6B7280"/>
              </a:solidFill>
              <a:latin typeface="MiSans" charset="-122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7543800" y="4626610"/>
            <a:ext cx="4274820" cy="1225550"/>
          </a:xfrm>
          <a:prstGeom prst="roundRect">
            <a:avLst/>
          </a:prstGeom>
          <a:solidFill>
            <a:srgbClr val="E2F0D9"/>
          </a:solidFill>
          <a:ln w="13970"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7708392" y="4782312"/>
            <a:ext cx="438912" cy="438912"/>
          </a:xfrm>
          <a:prstGeom prst="roundRect">
            <a:avLst/>
          </a:prstGeom>
          <a:solidFill>
            <a:srgbClr val="548235"/>
          </a:solidFill>
          <a:ln w="13970"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708392" y="4782312"/>
            <a:ext cx="438912" cy="438912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Sans" charset="-122"/>
              </a:rPr>
              <a:t>3</a:t>
            </a:r>
            <a:endParaRPr sz="1300" b="1">
              <a:solidFill>
                <a:srgbClr val="FFFFFF"/>
              </a:solidFill>
              <a:latin typeface="MiSans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8284464" y="4837176"/>
            <a:ext cx="2971800" cy="320040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548235"/>
                </a:solidFill>
                <a:latin typeface="MiSans" charset="-122"/>
              </a:rPr>
              <a:t>Guard 故障可诊断</a:t>
            </a:r>
            <a:endParaRPr sz="1450" b="1">
              <a:solidFill>
                <a:srgbClr val="548235"/>
              </a:solidFill>
              <a:latin typeface="MiSans" charset="-122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7726679" y="5250053"/>
            <a:ext cx="2972435" cy="417830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MiSans" charset="-122"/>
              </a:rPr>
              <a:t>内核栈下方保留无 PTE guard；</a:t>
            </a:r>
            <a:endParaRPr sz="1300" b="0">
              <a:solidFill>
                <a:srgbClr val="6B7280"/>
              </a:solidFill>
              <a:latin typeface="MiSans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MiSans" charset="-122"/>
              </a:rPr>
              <a:t>越界后输出 pid、sp、BADV 后 panic。</a:t>
            </a:r>
            <a:endParaRPr sz="1300" b="0">
              <a:solidFill>
                <a:srgbClr val="6B7280"/>
              </a:solidFill>
              <a:latin typeface="MiSans" charset="-122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7619872" y="5961507"/>
            <a:ext cx="3862070" cy="201930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MiSans" charset="-122"/>
              </a:rPr>
              <a:t>架构差异集中于 HAL  ·  错误在构建期或故障现场显性化</a:t>
            </a:r>
            <a:endParaRPr sz="1200" b="0">
              <a:solidFill>
                <a:srgbClr val="6B7280"/>
              </a:solidFill>
              <a:latin typeface="MiSans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3" name="seclabel"/>
          <p:cNvSpPr txBox="1"/>
          <p:nvPr/>
        </p:nvSpPr>
        <p:spPr>
          <a:xfrm>
            <a:off x="584200" y="279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noProof="1">
                <a:solidFill>
                  <a:srgbClr val="E36C0A"/>
                </a:solidFill>
                <a:latin typeface="MiSans" charset="-122"/>
                <a:ea typeface="MiSans" charset="-122"/>
              </a:rPr>
              <a:t>▍</a:t>
            </a:r>
            <a:r>
              <a:rPr lang="en-US" sz="1100" noProof="1">
                <a:solidFill>
                  <a:srgbClr val="808080"/>
                </a:solidFill>
                <a:latin typeface="MiSans" charset="-122"/>
                <a:ea typeface="MiSans" charset="-122"/>
              </a:rPr>
              <a:t>HAL-6 · 验证与演进</a:t>
            </a:r>
            <a:endParaRPr lang="en-US" sz="1600" noProof="1"/>
          </a:p>
        </p:txBody>
      </p:sp>
      <p:sp>
        <p:nvSpPr>
          <p:cNvPr id="4" name="title"/>
          <p:cNvSpPr txBox="1"/>
          <p:nvPr/>
        </p:nvSpPr>
        <p:spPr>
          <a:xfrm>
            <a:off x="584200" y="533400"/>
            <a:ext cx="10160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 noProof="1">
                <a:solidFill>
                  <a:srgbClr val="1F4E79"/>
                </a:solidFill>
                <a:latin typeface="MiSans" charset="-122"/>
                <a:ea typeface="MiSans" charset="-122"/>
              </a:rPr>
              <a:t>HAL 测试、Git 演进与总结</a:t>
            </a:r>
            <a:endParaRPr lang="en-US" sz="2400" noProof="1"/>
          </a:p>
        </p:txBody>
      </p:sp>
      <p:sp>
        <p:nvSpPr>
          <p:cNvPr id="5" name="titleline"/>
          <p:cNvSpPr/>
          <p:nvPr/>
        </p:nvSpPr>
        <p:spPr>
          <a:xfrm>
            <a:off x="584200" y="1066800"/>
            <a:ext cx="11023600" cy="12700"/>
          </a:xfrm>
          <a:prstGeom prst="rect">
            <a:avLst/>
          </a:prstGeom>
          <a:solidFill>
            <a:srgbClr val="DCE6F0"/>
          </a:solidFill>
          <a:ln>
            <a:noFill/>
          </a:ln>
        </p:spPr>
      </p:sp>
      <p:sp>
        <p:nvSpPr>
          <p:cNvPr id="6" name="verify-title"/>
          <p:cNvSpPr txBox="1"/>
          <p:nvPr/>
        </p:nvSpPr>
        <p:spPr>
          <a:xfrm>
            <a:off x="584200" y="12700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1F4E79"/>
                </a:solidFill>
                <a:latin typeface="MiSans" charset="-122"/>
                <a:ea typeface="MiSans" charset="-122"/>
              </a:rPr>
              <a:t>最新验证</a:t>
            </a:r>
            <a:r>
              <a:rPr lang="en-US" sz="1100" b="1" noProof="1">
                <a:solidFill>
                  <a:srgbClr val="808080"/>
                </a:solidFill>
                <a:latin typeface="MiSans" charset="-122"/>
                <a:ea typeface="MiSans" charset="-122"/>
              </a:rPr>
              <a:t>（提交 a7f679c）</a:t>
            </a:r>
            <a:endParaRPr lang="en-US" sz="1400" noProof="1"/>
          </a:p>
        </p:txBody>
      </p:sp>
      <p:sp>
        <p:nvSpPr>
          <p:cNvPr id="7" name="verify-col1"/>
          <p:cNvSpPr txBox="1"/>
          <p:nvPr/>
        </p:nvSpPr>
        <p:spPr>
          <a:xfrm>
            <a:off x="584200" y="1625600"/>
            <a:ext cx="54610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75000"/>
              </a:lnSpc>
            </a:pPr>
            <a:r>
              <a:rPr lang="en-US" sz="1300" b="1" noProof="1">
                <a:solidFill>
                  <a:srgbClr val="2E7D32"/>
                </a:solidFill>
                <a:latin typeface="MiSans" charset="-122"/>
                <a:ea typeface="MiSans" charset="-122"/>
              </a:rPr>
              <a:t>✓</a:t>
            </a:r>
            <a:r>
              <a:rPr lang="en-US" sz="1300" noProof="1">
                <a:solidFill>
                  <a:srgbClr val="333333"/>
                </a:solidFill>
                <a:latin typeface="MiSans" charset="-122"/>
                <a:ea typeface="MiSans" charset="-122"/>
              </a:rPr>
              <a:t> RISC-V　usertests 　ALL PASSED</a:t>
            </a:r>
            <a:endParaRPr lang="en-US" sz="1300" noProof="1"/>
          </a:p>
          <a:p>
            <a:pPr>
              <a:lnSpc>
                <a:spcPct val="175000"/>
              </a:lnSpc>
            </a:pPr>
            <a:r>
              <a:rPr lang="en-US" sz="1300" b="1" noProof="1">
                <a:solidFill>
                  <a:srgbClr val="2E7D32"/>
                </a:solidFill>
                <a:latin typeface="MiSans" charset="-122"/>
                <a:ea typeface="MiSans" charset="-122"/>
              </a:rPr>
              <a:t>✓</a:t>
            </a:r>
            <a:r>
              <a:rPr lang="en-US" sz="1300" noProof="1">
                <a:solidFill>
                  <a:srgbClr val="333333"/>
                </a:solidFill>
                <a:latin typeface="MiSans" charset="-122"/>
                <a:ea typeface="MiSans" charset="-122"/>
              </a:rPr>
              <a:t> LoongArch　3 CPU 启动 + usertests -q　ALL PASSED</a:t>
            </a:r>
            <a:endParaRPr lang="en-US" sz="1300" noProof="1"/>
          </a:p>
          <a:p>
            <a:pPr>
              <a:lnSpc>
                <a:spcPct val="175000"/>
              </a:lnSpc>
            </a:pPr>
            <a:r>
              <a:rPr lang="en-US" sz="1300" b="1" noProof="1">
                <a:solidFill>
                  <a:srgbClr val="2E7D32"/>
                </a:solidFill>
                <a:latin typeface="MiSans" charset="-122"/>
                <a:ea typeface="MiSans" charset="-122"/>
              </a:rPr>
              <a:t>✓</a:t>
            </a:r>
            <a:r>
              <a:rPr lang="en-US" sz="1300" noProof="1">
                <a:solidFill>
                  <a:srgbClr val="333333"/>
                </a:solidFill>
                <a:latin typeface="MiSans" charset="-122"/>
                <a:ea typeface="MiSans" charset="-122"/>
              </a:rPr>
              <a:t> LoongArch　preempt 通过</a:t>
            </a:r>
            <a:endParaRPr lang="en-US" sz="1300" noProof="1"/>
          </a:p>
        </p:txBody>
      </p:sp>
      <p:sp>
        <p:nvSpPr>
          <p:cNvPr id="8" name="verify-col2"/>
          <p:cNvSpPr txBox="1"/>
          <p:nvPr/>
        </p:nvSpPr>
        <p:spPr>
          <a:xfrm>
            <a:off x="6350000" y="1625600"/>
            <a:ext cx="52578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75000"/>
              </a:lnSpc>
            </a:pPr>
            <a:r>
              <a:rPr lang="en-US" sz="1300" b="1" noProof="1">
                <a:solidFill>
                  <a:srgbClr val="2E7D32"/>
                </a:solidFill>
                <a:latin typeface="MiSans" charset="-122"/>
                <a:ea typeface="MiSans" charset="-122"/>
              </a:rPr>
              <a:t>✓</a:t>
            </a:r>
            <a:r>
              <a:rPr lang="en-US" sz="1300" noProof="1">
                <a:solidFill>
                  <a:srgbClr val="333333"/>
                </a:solidFill>
                <a:latin typeface="MiSans" charset="-122"/>
                <a:ea typeface="MiSans" charset="-122"/>
              </a:rPr>
              <a:t> RISC-V　HAL_NDISK=1/2/3 分别编译通过</a:t>
            </a:r>
            <a:endParaRPr lang="en-US" sz="1300" noProof="1"/>
          </a:p>
          <a:p>
            <a:pPr>
              <a:lnSpc>
                <a:spcPct val="175000"/>
              </a:lnSpc>
            </a:pPr>
            <a:r>
              <a:rPr lang="en-US" sz="1300" b="1" noProof="1">
                <a:solidFill>
                  <a:srgbClr val="2E7D32"/>
                </a:solidFill>
                <a:latin typeface="MiSans" charset="-122"/>
                <a:ea typeface="MiSans" charset="-122"/>
              </a:rPr>
              <a:t>✓</a:t>
            </a:r>
            <a:r>
              <a:rPr lang="en-US" sz="1300" noProof="1">
                <a:solidFill>
                  <a:srgbClr val="333333"/>
                </a:solidFill>
                <a:latin typeface="MiSans" charset="-122"/>
                <a:ea typeface="MiSans" charset="-122"/>
              </a:rPr>
              <a:t> git diff --check 通过</a:t>
            </a:r>
            <a:endParaRPr lang="en-US" sz="1300" noProof="1"/>
          </a:p>
        </p:txBody>
      </p:sp>
      <p:sp>
        <p:nvSpPr>
          <p:cNvPr id="9" name="tl-title"/>
          <p:cNvSpPr txBox="1"/>
          <p:nvPr/>
        </p:nvSpPr>
        <p:spPr>
          <a:xfrm>
            <a:off x="584200" y="33274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1F4E79"/>
                </a:solidFill>
                <a:latin typeface="MiSans" charset="-122"/>
                <a:ea typeface="MiSans" charset="-122"/>
              </a:rPr>
              <a:t>关键提交线</a:t>
            </a:r>
            <a:endParaRPr lang="en-US" sz="1400" noProof="1"/>
          </a:p>
        </p:txBody>
      </p:sp>
      <p:sp>
        <p:nvSpPr>
          <p:cNvPr id="10" name="tl-line"/>
          <p:cNvSpPr/>
          <p:nvPr/>
        </p:nvSpPr>
        <p:spPr>
          <a:xfrm>
            <a:off x="838200" y="4267200"/>
            <a:ext cx="10515600" cy="25400"/>
          </a:xfrm>
          <a:prstGeom prst="rect">
            <a:avLst/>
          </a:prstGeom>
          <a:solidFill>
            <a:srgbClr val="C9D8E8"/>
          </a:solidFill>
          <a:ln>
            <a:noFill/>
          </a:ln>
        </p:spPr>
      </p:sp>
      <p:sp>
        <p:nvSpPr>
          <p:cNvPr id="11" name="tn1"/>
          <p:cNvSpPr/>
          <p:nvPr/>
        </p:nvSpPr>
        <p:spPr>
          <a:xfrm>
            <a:off x="774700" y="4203700"/>
            <a:ext cx="127000" cy="1270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12" name="tn2"/>
          <p:cNvSpPr/>
          <p:nvPr/>
        </p:nvSpPr>
        <p:spPr>
          <a:xfrm>
            <a:off x="2273300" y="4203700"/>
            <a:ext cx="127000" cy="1270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13" name="tn3"/>
          <p:cNvSpPr/>
          <p:nvPr/>
        </p:nvSpPr>
        <p:spPr>
          <a:xfrm>
            <a:off x="3771900" y="4203700"/>
            <a:ext cx="127000" cy="1270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14" name="tn4"/>
          <p:cNvSpPr/>
          <p:nvPr/>
        </p:nvSpPr>
        <p:spPr>
          <a:xfrm>
            <a:off x="5270500" y="4203700"/>
            <a:ext cx="127000" cy="1270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15" name="tn5"/>
          <p:cNvSpPr/>
          <p:nvPr/>
        </p:nvSpPr>
        <p:spPr>
          <a:xfrm>
            <a:off x="6769100" y="4203700"/>
            <a:ext cx="127000" cy="1270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16" name="tn6"/>
          <p:cNvSpPr/>
          <p:nvPr/>
        </p:nvSpPr>
        <p:spPr>
          <a:xfrm>
            <a:off x="8267700" y="4203700"/>
            <a:ext cx="127000" cy="1270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17" name="tn7"/>
          <p:cNvSpPr/>
          <p:nvPr/>
        </p:nvSpPr>
        <p:spPr>
          <a:xfrm>
            <a:off x="9766300" y="4203700"/>
            <a:ext cx="127000" cy="1270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18" name="tn8"/>
          <p:cNvSpPr/>
          <p:nvPr/>
        </p:nvSpPr>
        <p:spPr>
          <a:xfrm>
            <a:off x="11264900" y="4203700"/>
            <a:ext cx="127000" cy="127000"/>
          </a:xfrm>
          <a:prstGeom prst="ellipse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19" name="tl-t1"/>
          <p:cNvSpPr txBox="1"/>
          <p:nvPr/>
        </p:nvSpPr>
        <p:spPr>
          <a:xfrm>
            <a:off x="101600" y="3708400"/>
            <a:ext cx="14732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algn="ctr">
              <a:lnSpc>
                <a:spcPct val="135000"/>
              </a:lnSpc>
            </a:pPr>
            <a:r>
              <a:rPr lang="en-US" sz="1200" b="1" noProof="1">
                <a:solidFill>
                  <a:srgbClr val="1F4E79"/>
                </a:solidFill>
                <a:latin typeface="Consolas" panose="020B0609020204030204"/>
                <a:ea typeface="MiSans" charset="-122"/>
              </a:rPr>
              <a:t>c7c4a1c</a:t>
            </a:r>
            <a:endParaRPr lang="en-US" sz="1200" noProof="1"/>
          </a:p>
          <a:p>
            <a:pPr algn="ctr">
              <a:lnSpc>
                <a:spcPct val="135000"/>
              </a:lnSpc>
            </a:pPr>
            <a:r>
              <a:rPr lang="en-US" sz="1200" noProof="1">
                <a:solidFill>
                  <a:srgbClr val="808080"/>
                </a:solidFill>
                <a:latin typeface="MiSans" charset="-122"/>
                <a:ea typeface="MiSans" charset="-122"/>
              </a:rPr>
              <a:t>loader 三镜像</a:t>
            </a:r>
            <a:endParaRPr lang="en-US" sz="1200" noProof="1"/>
          </a:p>
        </p:txBody>
      </p:sp>
      <p:sp>
        <p:nvSpPr>
          <p:cNvPr id="20" name="tl-t2"/>
          <p:cNvSpPr txBox="1"/>
          <p:nvPr/>
        </p:nvSpPr>
        <p:spPr>
          <a:xfrm>
            <a:off x="1600200" y="4419600"/>
            <a:ext cx="14732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35000"/>
              </a:lnSpc>
            </a:pPr>
            <a:r>
              <a:rPr lang="en-US" sz="1200" b="1" noProof="1">
                <a:solidFill>
                  <a:srgbClr val="1F4E79"/>
                </a:solidFill>
                <a:latin typeface="Consolas" panose="020B0609020204030204"/>
                <a:ea typeface="MiSans" charset="-122"/>
              </a:rPr>
              <a:t>abbdbb9</a:t>
            </a:r>
            <a:endParaRPr lang="en-US" sz="1200" noProof="1"/>
          </a:p>
          <a:p>
            <a:pPr algn="ctr">
              <a:lnSpc>
                <a:spcPct val="135000"/>
              </a:lnSpc>
            </a:pPr>
            <a:r>
              <a:rPr lang="en-US" sz="1200" noProof="1">
                <a:solidFill>
                  <a:srgbClr val="808080"/>
                </a:solidFill>
                <a:latin typeface="MiSans" charset="-122"/>
                <a:ea typeface="MiSans" charset="-122"/>
              </a:rPr>
              <a:t>dev=1/2/3</a:t>
            </a:r>
            <a:endParaRPr lang="en-US" sz="1200" noProof="1"/>
          </a:p>
        </p:txBody>
      </p:sp>
      <p:sp>
        <p:nvSpPr>
          <p:cNvPr id="21" name="tl-t3"/>
          <p:cNvSpPr txBox="1"/>
          <p:nvPr/>
        </p:nvSpPr>
        <p:spPr>
          <a:xfrm>
            <a:off x="3098800" y="3708400"/>
            <a:ext cx="14732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algn="ctr">
              <a:lnSpc>
                <a:spcPct val="135000"/>
              </a:lnSpc>
            </a:pPr>
            <a:r>
              <a:rPr lang="en-US" sz="1200" b="1" noProof="1">
                <a:solidFill>
                  <a:srgbClr val="1F4E79"/>
                </a:solidFill>
                <a:latin typeface="Consolas" panose="020B0609020204030204"/>
                <a:ea typeface="MiSans" charset="-122"/>
              </a:rPr>
              <a:t>63bed2d</a:t>
            </a:r>
            <a:endParaRPr lang="en-US" sz="1200" noProof="1"/>
          </a:p>
          <a:p>
            <a:pPr algn="ctr">
              <a:lnSpc>
                <a:spcPct val="135000"/>
              </a:lnSpc>
            </a:pPr>
            <a:r>
              <a:rPr lang="en-US" sz="1200" noProof="1">
                <a:solidFill>
                  <a:srgbClr val="808080"/>
                </a:solidFill>
                <a:latin typeface="MiSans" charset="-122"/>
                <a:ea typeface="MiSans" charset="-122"/>
              </a:rPr>
              <a:t>高地址栈 guard</a:t>
            </a:r>
            <a:endParaRPr lang="en-US" sz="1200" noProof="1"/>
          </a:p>
        </p:txBody>
      </p:sp>
      <p:sp>
        <p:nvSpPr>
          <p:cNvPr id="22" name="tl-t4"/>
          <p:cNvSpPr txBox="1"/>
          <p:nvPr/>
        </p:nvSpPr>
        <p:spPr>
          <a:xfrm>
            <a:off x="4265295" y="4419600"/>
            <a:ext cx="2394585" cy="819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35000"/>
              </a:lnSpc>
            </a:pPr>
            <a:r>
              <a:rPr lang="en-US" sz="1300" b="1" noProof="1">
                <a:solidFill>
                  <a:srgbClr val="1F4E79"/>
                </a:solidFill>
                <a:latin typeface="Consolas" panose="020B0609020204030204"/>
                <a:ea typeface="MiSans" charset="-122"/>
              </a:rPr>
              <a:t>0b463d3</a:t>
            </a:r>
            <a:endParaRPr lang="en-US" sz="1300" noProof="1"/>
          </a:p>
          <a:p>
            <a:pPr algn="ctr">
              <a:lnSpc>
                <a:spcPct val="135000"/>
              </a:lnSpc>
            </a:pPr>
            <a:r>
              <a:rPr lang="en-US" sz="1300" noProof="1">
                <a:solidFill>
                  <a:srgbClr val="808080"/>
                </a:solidFill>
                <a:latin typeface="MiSans" charset="-122"/>
                <a:ea typeface="MiSans" charset="-122"/>
              </a:rPr>
              <a:t>删krenel/手工 TLB 填充,</a:t>
            </a:r>
            <a:endParaRPr lang="en-US" sz="1300" noProof="1">
              <a:solidFill>
                <a:srgbClr val="808080"/>
              </a:solidFill>
              <a:latin typeface="MiSans" charset="-122"/>
              <a:ea typeface="MiSans" charset="-122"/>
            </a:endParaRPr>
          </a:p>
          <a:p>
            <a:pPr algn="ctr">
              <a:lnSpc>
                <a:spcPct val="135000"/>
              </a:lnSpc>
            </a:pPr>
            <a:r>
              <a:rPr lang="zh-CN" altLang="en-US" sz="1300" noProof="1">
                <a:solidFill>
                  <a:srgbClr val="808080"/>
                </a:solidFill>
                <a:latin typeface="MiSans" charset="-122"/>
                <a:ea typeface="MiSans" charset="-122"/>
              </a:rPr>
              <a:t>由</a:t>
            </a:r>
            <a:r>
              <a:rPr lang="en-US" altLang="zh-CN" sz="1300" noProof="1">
                <a:solidFill>
                  <a:srgbClr val="808080"/>
                </a:solidFill>
                <a:latin typeface="MiSans" charset="-122"/>
                <a:ea typeface="MiSans" charset="-122"/>
              </a:rPr>
              <a:t>hal_tlbrefill.S</a:t>
            </a:r>
            <a:r>
              <a:rPr lang="zh-CN" altLang="en-US" sz="1300" noProof="1">
                <a:solidFill>
                  <a:srgbClr val="808080"/>
                </a:solidFill>
                <a:latin typeface="MiSans" charset="-122"/>
                <a:ea typeface="MiSans" charset="-122"/>
              </a:rPr>
              <a:t>实际</a:t>
            </a:r>
            <a:r>
              <a:rPr lang="zh-CN" altLang="en-US" sz="1300" noProof="1">
                <a:solidFill>
                  <a:srgbClr val="808080"/>
                </a:solidFill>
                <a:latin typeface="MiSans" charset="-122"/>
                <a:ea typeface="MiSans" charset="-122"/>
              </a:rPr>
              <a:t>执行</a:t>
            </a:r>
            <a:endParaRPr lang="zh-CN" altLang="en-US" sz="1300" noProof="1">
              <a:solidFill>
                <a:srgbClr val="808080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23" name="tl-t5"/>
          <p:cNvSpPr txBox="1"/>
          <p:nvPr/>
        </p:nvSpPr>
        <p:spPr>
          <a:xfrm>
            <a:off x="6096000" y="3708400"/>
            <a:ext cx="14732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algn="ctr">
              <a:lnSpc>
                <a:spcPct val="135000"/>
              </a:lnSpc>
            </a:pPr>
            <a:r>
              <a:rPr lang="en-US" sz="1300" b="1" noProof="1">
                <a:solidFill>
                  <a:srgbClr val="1F4E79"/>
                </a:solidFill>
                <a:latin typeface="Consolas" panose="020B0609020204030204"/>
                <a:ea typeface="MiSans" charset="-122"/>
              </a:rPr>
              <a:t>c5cfd4b</a:t>
            </a:r>
            <a:endParaRPr lang="en-US" sz="1300" noProof="1"/>
          </a:p>
          <a:p>
            <a:pPr algn="ctr">
              <a:lnSpc>
                <a:spcPct val="135000"/>
              </a:lnSpc>
            </a:pPr>
            <a:r>
              <a:rPr lang="en-US" sz="1300" noProof="1">
                <a:solidFill>
                  <a:srgbClr val="808080"/>
                </a:solidFill>
                <a:latin typeface="MiSans" charset="-122"/>
                <a:ea typeface="MiSans" charset="-122"/>
              </a:rPr>
              <a:t>PTE NR/NX</a:t>
            </a:r>
            <a:endParaRPr lang="en-US" sz="1300" noProof="1"/>
          </a:p>
        </p:txBody>
      </p:sp>
      <p:sp>
        <p:nvSpPr>
          <p:cNvPr id="24" name="tl-t6"/>
          <p:cNvSpPr txBox="1"/>
          <p:nvPr/>
        </p:nvSpPr>
        <p:spPr>
          <a:xfrm>
            <a:off x="7594600" y="4419600"/>
            <a:ext cx="1473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35000"/>
              </a:lnSpc>
            </a:pPr>
            <a:r>
              <a:rPr lang="en-US" sz="1300" b="1" noProof="1">
                <a:solidFill>
                  <a:srgbClr val="1F4E79"/>
                </a:solidFill>
                <a:latin typeface="Consolas" panose="020B0609020204030204"/>
                <a:ea typeface="MiSans" charset="-122"/>
              </a:rPr>
              <a:t>f94c185</a:t>
            </a:r>
            <a:endParaRPr lang="en-US" sz="1300" noProof="1"/>
          </a:p>
          <a:p>
            <a:pPr algn="ctr">
              <a:lnSpc>
                <a:spcPct val="135000"/>
              </a:lnSpc>
            </a:pPr>
            <a:r>
              <a:rPr lang="en-US" sz="1300" noProof="1">
                <a:solidFill>
                  <a:srgbClr val="808080"/>
                </a:solidFill>
                <a:latin typeface="MiSans" charset="-122"/>
                <a:ea typeface="MiSans" charset="-122"/>
              </a:rPr>
              <a:t>EIOINTC/IOCSR+ UART 中断</a:t>
            </a:r>
            <a:endParaRPr lang="en-US" sz="1300" noProof="1"/>
          </a:p>
        </p:txBody>
      </p:sp>
      <p:sp>
        <p:nvSpPr>
          <p:cNvPr id="25" name="tl-t7"/>
          <p:cNvSpPr txBox="1"/>
          <p:nvPr/>
        </p:nvSpPr>
        <p:spPr>
          <a:xfrm>
            <a:off x="9093200" y="3708400"/>
            <a:ext cx="1473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algn="ctr">
              <a:lnSpc>
                <a:spcPct val="135000"/>
              </a:lnSpc>
            </a:pPr>
            <a:r>
              <a:rPr lang="en-US" sz="1300" b="1" noProof="1">
                <a:solidFill>
                  <a:srgbClr val="1F4E79"/>
                </a:solidFill>
                <a:latin typeface="Consolas" panose="020B0609020204030204"/>
                <a:ea typeface="MiSans" charset="-122"/>
              </a:rPr>
              <a:t>7c349d3</a:t>
            </a:r>
            <a:endParaRPr lang="en-US" sz="1300" noProof="1"/>
          </a:p>
          <a:p>
            <a:pPr algn="ctr">
              <a:lnSpc>
                <a:spcPct val="135000"/>
              </a:lnSpc>
            </a:pPr>
            <a:r>
              <a:rPr lang="en-US" sz="1300" noProof="1">
                <a:solidFill>
                  <a:srgbClr val="808080"/>
                </a:solidFill>
                <a:latin typeface="MiSans" charset="-122"/>
                <a:ea typeface="MiSans" charset="-122"/>
              </a:rPr>
              <a:t>AP 定时器+ trampoline 检查</a:t>
            </a:r>
            <a:endParaRPr lang="en-US" sz="1300" noProof="1"/>
          </a:p>
        </p:txBody>
      </p:sp>
      <p:sp>
        <p:nvSpPr>
          <p:cNvPr id="26" name="tl-t8"/>
          <p:cNvSpPr txBox="1"/>
          <p:nvPr/>
        </p:nvSpPr>
        <p:spPr>
          <a:xfrm>
            <a:off x="10591800" y="4419600"/>
            <a:ext cx="14732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35000"/>
              </a:lnSpc>
            </a:pPr>
            <a:r>
              <a:rPr lang="en-US" sz="1300" b="1" noProof="1">
                <a:solidFill>
                  <a:srgbClr val="E36C0A"/>
                </a:solidFill>
                <a:latin typeface="Consolas" panose="020B0609020204030204"/>
                <a:ea typeface="MiSans" charset="-122"/>
              </a:rPr>
              <a:t>a7f679c</a:t>
            </a:r>
            <a:endParaRPr lang="en-US" sz="1300" noProof="1"/>
          </a:p>
          <a:p>
            <a:pPr algn="ctr">
              <a:lnSpc>
                <a:spcPct val="135000"/>
              </a:lnSpc>
            </a:pPr>
            <a:r>
              <a:rPr lang="en-US" sz="1300" noProof="1">
                <a:solidFill>
                  <a:srgbClr val="808080"/>
                </a:solidFill>
                <a:latin typeface="MiSans" charset="-122"/>
                <a:ea typeface="MiSans" charset="-122"/>
              </a:rPr>
              <a:t>定时器 10Hz+ trapframe 断言</a:t>
            </a:r>
            <a:endParaRPr lang="en-US" sz="1300" noProof="1"/>
          </a:p>
        </p:txBody>
      </p:sp>
      <p:sp>
        <p:nvSpPr>
          <p:cNvPr id="27" name="hl-line"/>
          <p:cNvSpPr/>
          <p:nvPr/>
        </p:nvSpPr>
        <p:spPr>
          <a:xfrm>
            <a:off x="584200" y="6223000"/>
            <a:ext cx="11023600" cy="25400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28" name="hl-text"/>
          <p:cNvSpPr txBox="1"/>
          <p:nvPr/>
        </p:nvSpPr>
        <p:spPr>
          <a:xfrm>
            <a:off x="1778000" y="6324600"/>
            <a:ext cx="9829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endParaRPr lang="en-US" sz="1600" noProof="1"/>
          </a:p>
        </p:txBody>
      </p:sp>
      <p:sp>
        <p:nvSpPr>
          <p:cNvPr id="29" name="pagenum"/>
          <p:cNvSpPr txBox="1"/>
          <p:nvPr/>
        </p:nvSpPr>
        <p:spPr>
          <a:xfrm>
            <a:off x="5588000" y="6629400"/>
            <a:ext cx="1016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808080"/>
                </a:solidFill>
                <a:latin typeface="MiSans" charset="-122"/>
                <a:ea typeface="MiSans" charset="-122"/>
              </a:rPr>
              <a:t>14</a:t>
            </a:r>
            <a:endParaRPr lang="en-US" sz="1600" noProof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3" name="seclabel"/>
          <p:cNvSpPr txBox="1"/>
          <p:nvPr/>
        </p:nvSpPr>
        <p:spPr>
          <a:xfrm>
            <a:off x="584200" y="279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noProof="1">
                <a:solidFill>
                  <a:srgbClr val="E36C0A"/>
                </a:solidFill>
                <a:latin typeface="MiSans" charset="-122"/>
                <a:ea typeface="MiSans" charset="-122"/>
              </a:rPr>
              <a:t>▍</a:t>
            </a:r>
            <a:r>
              <a:rPr lang="en-US" sz="1100" noProof="1">
                <a:solidFill>
                  <a:srgbClr val="808080"/>
                </a:solidFill>
                <a:latin typeface="MiSans" charset="-122"/>
                <a:ea typeface="MiSans" charset="-122"/>
              </a:rPr>
              <a:t>验证 · 测试矩阵</a:t>
            </a:r>
            <a:endParaRPr lang="en-US" sz="1600" noProof="1"/>
          </a:p>
        </p:txBody>
      </p:sp>
      <p:sp>
        <p:nvSpPr>
          <p:cNvPr id="4" name="title"/>
          <p:cNvSpPr txBox="1"/>
          <p:nvPr/>
        </p:nvSpPr>
        <p:spPr>
          <a:xfrm>
            <a:off x="584200" y="533400"/>
            <a:ext cx="10160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 noProof="1">
                <a:solidFill>
                  <a:srgbClr val="1F4E79"/>
                </a:solidFill>
                <a:latin typeface="MiSans" charset="-122"/>
                <a:ea typeface="MiSans" charset="-122"/>
              </a:rPr>
              <a:t>测试矩阵：双平台全部通过</a:t>
            </a:r>
            <a:endParaRPr lang="en-US" sz="2400" noProof="1"/>
          </a:p>
        </p:txBody>
      </p:sp>
      <p:sp>
        <p:nvSpPr>
          <p:cNvPr id="5" name="titleline"/>
          <p:cNvSpPr/>
          <p:nvPr/>
        </p:nvSpPr>
        <p:spPr>
          <a:xfrm>
            <a:off x="584200" y="1066800"/>
            <a:ext cx="11023600" cy="12700"/>
          </a:xfrm>
          <a:prstGeom prst="rect">
            <a:avLst/>
          </a:prstGeom>
          <a:solidFill>
            <a:srgbClr val="DCE6F0"/>
          </a:solidFill>
          <a:ln>
            <a:noFill/>
          </a:ln>
        </p:spPr>
      </p:sp>
      <p:graphicFrame>
        <p:nvGraphicFramePr>
          <p:cNvPr id="6" name="mx-table"/>
          <p:cNvGraphicFramePr>
            <a:graphicFrameLocks noGrp="1"/>
          </p:cNvGraphicFramePr>
          <p:nvPr/>
        </p:nvGraphicFramePr>
        <p:xfrm>
          <a:off x="1854200" y="1498600"/>
          <a:ext cx="8483600" cy="3175000"/>
        </p:xfrm>
        <a:graphic>
          <a:graphicData uri="http://schemas.openxmlformats.org/drawingml/2006/table">
            <a:tbl>
              <a:tblPr/>
              <a:tblGrid>
                <a:gridCol w="4411472"/>
                <a:gridCol w="2036064"/>
                <a:gridCol w="2036064"/>
              </a:tblGrid>
              <a:tr h="635000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b="1" noProof="1">
                          <a:solidFill>
                            <a:srgbClr val="FFFFFF"/>
                          </a:solidFill>
                          <a:latin typeface="MiSans" charset="-122"/>
                          <a:ea typeface="MiSans" charset="-122"/>
                        </a:rPr>
                        <a:t>测试</a:t>
                      </a:r>
                      <a:endParaRPr lang="en-US" sz="1300" b="1" noProof="1">
                        <a:solidFill>
                          <a:srgbClr val="FFFFFF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b="1" noProof="1">
                          <a:solidFill>
                            <a:srgbClr val="FFFFFF"/>
                          </a:solidFill>
                          <a:latin typeface="MiSans" charset="-122"/>
                          <a:ea typeface="MiSans" charset="-122"/>
                        </a:rPr>
                        <a:t>RISC-V</a:t>
                      </a:r>
                      <a:endParaRPr lang="en-US" sz="1300" b="1" noProof="1">
                        <a:solidFill>
                          <a:srgbClr val="FFFFFF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b="1" noProof="1">
                          <a:solidFill>
                            <a:srgbClr val="FFFFFF"/>
                          </a:solidFill>
                          <a:latin typeface="MiSans" charset="-122"/>
                          <a:ea typeface="MiSans" charset="-122"/>
                        </a:rPr>
                        <a:t>LoongArch</a:t>
                      </a:r>
                      <a:endParaRPr lang="en-US" sz="1300" b="1" noProof="1">
                        <a:solidFill>
                          <a:srgbClr val="FFFFFF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1F4E79"/>
                    </a:solidFill>
                  </a:tcPr>
                </a:tc>
              </a:tr>
              <a:tr h="635000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</a:rPr>
                        <a:t>usertests -q</a:t>
                      </a:r>
                      <a:endParaRPr lang="en-US" sz="1250" noProof="1">
                        <a:solidFill>
                          <a:srgbClr val="333333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b="1" noProof="1">
                          <a:solidFill>
                            <a:srgbClr val="2E7D32"/>
                          </a:solidFill>
                          <a:latin typeface="MiSans" charset="-122"/>
                          <a:ea typeface="MiSans" charset="-122"/>
                        </a:rPr>
                        <a:t>✓</a:t>
                      </a:r>
                      <a:endParaRPr lang="en-US" sz="1300" b="1" noProof="1">
                        <a:solidFill>
                          <a:srgbClr val="2E7D32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b="1" noProof="1">
                          <a:solidFill>
                            <a:srgbClr val="2E7D32"/>
                          </a:solidFill>
                          <a:latin typeface="MiSans" charset="-122"/>
                          <a:ea typeface="MiSans" charset="-122"/>
                        </a:rPr>
                        <a:t>✓</a:t>
                      </a:r>
                      <a:endParaRPr lang="en-US" sz="1300" b="1" noProof="1">
                        <a:solidFill>
                          <a:srgbClr val="2E7D32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</a:rPr>
                        <a:t>赛方 test1 / test2</a:t>
                      </a:r>
                      <a:endParaRPr lang="en-US" sz="1250" noProof="1">
                        <a:solidFill>
                          <a:srgbClr val="333333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b="1" noProof="1">
                          <a:solidFill>
                            <a:srgbClr val="2E7D32"/>
                          </a:solidFill>
                          <a:latin typeface="MiSans" charset="-122"/>
                          <a:ea typeface="MiSans" charset="-122"/>
                        </a:rPr>
                        <a:t>✓</a:t>
                      </a:r>
                      <a:endParaRPr lang="en-US" sz="1300" b="1" noProof="1">
                        <a:solidFill>
                          <a:srgbClr val="2E7D32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b="1" noProof="1">
                          <a:solidFill>
                            <a:srgbClr val="2E7D32"/>
                          </a:solidFill>
                          <a:latin typeface="MiSans" charset="-122"/>
                          <a:ea typeface="MiSans" charset="-122"/>
                        </a:rPr>
                        <a:t>✓</a:t>
                      </a:r>
                      <a:endParaRPr lang="en-US" sz="1300" b="1" noProof="1">
                        <a:solidFill>
                          <a:srgbClr val="2E7D32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EAF2FA"/>
                    </a:solidFill>
                  </a:tcPr>
                </a:tc>
              </a:tr>
              <a:tr h="635000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</a:rPr>
                        <a:t>ext2test L1~L5（18 项，含 3 项并发）</a:t>
                      </a:r>
                      <a:endParaRPr lang="en-US" sz="1250" noProof="1">
                        <a:solidFill>
                          <a:srgbClr val="333333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150" b="1" noProof="1">
                          <a:solidFill>
                            <a:srgbClr val="2E7D32"/>
                          </a:solidFill>
                          <a:latin typeface="MiSans" charset="-122"/>
                          <a:ea typeface="MiSans" charset="-122"/>
                        </a:rPr>
                        <a:t>18/18</a:t>
                      </a:r>
                      <a:endParaRPr lang="en-US" sz="1150" b="1" noProof="1">
                        <a:solidFill>
                          <a:srgbClr val="2E7D32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150" b="1" noProof="1">
                          <a:solidFill>
                            <a:srgbClr val="2E7D32"/>
                          </a:solidFill>
                          <a:latin typeface="MiSans" charset="-122"/>
                          <a:ea typeface="MiSans" charset="-122"/>
                        </a:rPr>
                        <a:t>18/18</a:t>
                      </a:r>
                      <a:endParaRPr lang="en-US" sz="1150" b="1" noProof="1">
                        <a:solidFill>
                          <a:srgbClr val="2E7D32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333333"/>
                          </a:solidFill>
                          <a:latin typeface="MiSans" charset="-122"/>
                          <a:ea typeface="MiSans" charset="-122"/>
                        </a:rPr>
                        <a:t>fat32test（42 项基础 + 3 项并发）</a:t>
                      </a:r>
                      <a:endParaRPr lang="en-US" sz="1250" noProof="1">
                        <a:solidFill>
                          <a:srgbClr val="333333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150" b="1" noProof="1">
                          <a:solidFill>
                            <a:srgbClr val="2E7D32"/>
                          </a:solidFill>
                          <a:latin typeface="MiSans" charset="-122"/>
                          <a:ea typeface="MiSans" charset="-122"/>
                        </a:rPr>
                        <a:t>42/42</a:t>
                      </a:r>
                      <a:endParaRPr lang="en-US" sz="1150" b="1" noProof="1">
                        <a:solidFill>
                          <a:srgbClr val="2E7D32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150" b="1" noProof="1">
                          <a:solidFill>
                            <a:srgbClr val="2E7D32"/>
                          </a:solidFill>
                          <a:latin typeface="MiSans" charset="-122"/>
                          <a:ea typeface="MiSans" charset="-122"/>
                        </a:rPr>
                        <a:t>42/42</a:t>
                      </a:r>
                      <a:endParaRPr lang="en-US" sz="1150" b="1" noProof="1">
                        <a:solidFill>
                          <a:srgbClr val="2E7D32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C9D8E8"/>
                      </a:solidFill>
                    </a:lnL>
                    <a:lnR w="12700">
                      <a:solidFill>
                        <a:srgbClr val="C9D8E8"/>
                      </a:solidFill>
                    </a:lnR>
                    <a:lnT w="12700">
                      <a:solidFill>
                        <a:srgbClr val="C9D8E8"/>
                      </a:solidFill>
                    </a:lnT>
                    <a:lnB w="12700">
                      <a:solidFill>
                        <a:srgbClr val="C9D8E8"/>
                      </a:solidFill>
                    </a:lnB>
                    <a:solidFill>
                      <a:srgbClr val="EAF2FA"/>
                    </a:solidFill>
                  </a:tcPr>
                </a:tc>
              </a:tr>
            </a:tbl>
          </a:graphicData>
        </a:graphic>
      </p:graphicFrame>
      <p:sp>
        <p:nvSpPr>
          <p:cNvPr id="7" name="mx-note"/>
          <p:cNvSpPr txBox="1"/>
          <p:nvPr/>
        </p:nvSpPr>
        <p:spPr>
          <a:xfrm>
            <a:off x="1854200" y="4953000"/>
            <a:ext cx="8483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150" noProof="1">
                <a:solidFill>
                  <a:srgbClr val="808080"/>
                </a:solidFill>
                <a:latin typeface="MiSans" charset="-122"/>
                <a:ea typeface="MiSans" charset="-122"/>
              </a:rPr>
              <a:t>· 初赛 L4.1 并发写、L4.3 大文件间接块曾失败 → 决赛修复锁粒度与 bmap alloc=1 路径</a:t>
            </a:r>
            <a:endParaRPr lang="en-US" sz="1150" noProof="1"/>
          </a:p>
          <a:p>
            <a:pPr>
              <a:lnSpc>
                <a:spcPct val="160000"/>
              </a:lnSpc>
            </a:pPr>
            <a:r>
              <a:rPr lang="en-US" sz="1150" noProof="1">
                <a:solidFill>
                  <a:srgbClr val="808080"/>
                </a:solidFill>
                <a:latin typeface="MiSans" charset="-122"/>
                <a:ea typeface="MiSans" charset="-122"/>
              </a:rPr>
              <a:t>· 运行稳定性是迭代出来的</a:t>
            </a:r>
            <a:endParaRPr lang="en-US" sz="1150" noProof="1"/>
          </a:p>
        </p:txBody>
      </p:sp>
      <p:sp>
        <p:nvSpPr>
          <p:cNvPr id="8" name="hl-line"/>
          <p:cNvSpPr/>
          <p:nvPr/>
        </p:nvSpPr>
        <p:spPr>
          <a:xfrm>
            <a:off x="584200" y="6223000"/>
            <a:ext cx="11023600" cy="25400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" name="hl-text"/>
          <p:cNvSpPr txBox="1"/>
          <p:nvPr/>
        </p:nvSpPr>
        <p:spPr>
          <a:xfrm>
            <a:off x="2540000" y="6324600"/>
            <a:ext cx="9067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endParaRPr lang="en-US" sz="1600" noProof="1"/>
          </a:p>
        </p:txBody>
      </p:sp>
      <p:sp>
        <p:nvSpPr>
          <p:cNvPr id="10" name="pagenum"/>
          <p:cNvSpPr txBox="1"/>
          <p:nvPr/>
        </p:nvSpPr>
        <p:spPr>
          <a:xfrm>
            <a:off x="5588000" y="6629400"/>
            <a:ext cx="1016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808080"/>
                </a:solidFill>
                <a:latin typeface="MiSans" charset="-122"/>
                <a:ea typeface="MiSans" charset="-122"/>
              </a:rPr>
              <a:t>15</a:t>
            </a:r>
            <a:endParaRPr lang="en-US" sz="1600" noProof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3" name="seclabel"/>
          <p:cNvSpPr txBox="1"/>
          <p:nvPr/>
        </p:nvSpPr>
        <p:spPr>
          <a:xfrm>
            <a:off x="584200" y="279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noProof="1">
                <a:solidFill>
                  <a:srgbClr val="E36C0A"/>
                </a:solidFill>
                <a:latin typeface="MiSans" charset="-122"/>
                <a:ea typeface="MiSans" charset="-122"/>
              </a:rPr>
              <a:t>▍</a:t>
            </a:r>
            <a:r>
              <a:rPr lang="en-US" sz="1100" noProof="1">
                <a:solidFill>
                  <a:srgbClr val="808080"/>
                </a:solidFill>
                <a:latin typeface="MiSans" charset="-122"/>
                <a:ea typeface="MiSans" charset="-122"/>
              </a:rPr>
              <a:t>总结 · </a:t>
            </a:r>
            <a:r>
              <a:rPr lang="zh-CN" altLang="en-US" sz="1100" noProof="1">
                <a:solidFill>
                  <a:srgbClr val="808080"/>
                </a:solidFill>
                <a:latin typeface="MiSans" charset="-122"/>
                <a:ea typeface="MiSans" charset="-122"/>
              </a:rPr>
              <a:t>借鉴和创新性</a:t>
            </a:r>
            <a:r>
              <a:rPr lang="zh-CN" altLang="en-US" sz="1100" noProof="1">
                <a:solidFill>
                  <a:srgbClr val="808080"/>
                </a:solidFill>
                <a:latin typeface="MiSans" charset="-122"/>
                <a:ea typeface="MiSans" charset="-122"/>
              </a:rPr>
              <a:t>工作</a:t>
            </a:r>
            <a:endParaRPr lang="zh-CN" altLang="en-US" sz="1100" noProof="1">
              <a:solidFill>
                <a:srgbClr val="808080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5" name="fw-card"/>
          <p:cNvSpPr/>
          <p:nvPr/>
        </p:nvSpPr>
        <p:spPr>
          <a:xfrm>
            <a:off x="1428115" y="3305175"/>
            <a:ext cx="9836785" cy="2740660"/>
          </a:xfrm>
          <a:prstGeom prst="roundRect">
            <a:avLst>
              <a:gd name="adj" fmla="val 5000"/>
            </a:avLst>
          </a:prstGeom>
          <a:solidFill>
            <a:srgbClr val="EAF2FA"/>
          </a:solidFill>
          <a:ln>
            <a:noFill/>
          </a:ln>
        </p:spPr>
      </p:sp>
      <p:sp>
        <p:nvSpPr>
          <p:cNvPr id="7" name="fw-body"/>
          <p:cNvSpPr txBox="1"/>
          <p:nvPr/>
        </p:nvSpPr>
        <p:spPr>
          <a:xfrm>
            <a:off x="3276600" y="3886200"/>
            <a:ext cx="5638800" cy="167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70000"/>
              </a:lnSpc>
            </a:pPr>
            <a:endParaRPr lang="en-US" sz="1200" noProof="1"/>
          </a:p>
        </p:txBody>
      </p:sp>
      <p:sp>
        <p:nvSpPr>
          <p:cNvPr id="8" name="hl-line"/>
          <p:cNvSpPr/>
          <p:nvPr/>
        </p:nvSpPr>
        <p:spPr>
          <a:xfrm>
            <a:off x="584200" y="6223000"/>
            <a:ext cx="11023600" cy="25400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" name="hl-text"/>
          <p:cNvSpPr txBox="1"/>
          <p:nvPr/>
        </p:nvSpPr>
        <p:spPr>
          <a:xfrm>
            <a:off x="2540000" y="6324600"/>
            <a:ext cx="9067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endParaRPr lang="en-US" sz="1600" noProof="1"/>
          </a:p>
        </p:txBody>
      </p:sp>
      <p:sp>
        <p:nvSpPr>
          <p:cNvPr id="10" name="pagenum"/>
          <p:cNvSpPr txBox="1"/>
          <p:nvPr/>
        </p:nvSpPr>
        <p:spPr>
          <a:xfrm>
            <a:off x="5588000" y="6629400"/>
            <a:ext cx="1016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808080"/>
                </a:solidFill>
                <a:latin typeface="MiSans" charset="-122"/>
                <a:ea typeface="MiSans" charset="-122"/>
              </a:rPr>
              <a:t>17</a:t>
            </a:r>
            <a:endParaRPr lang="en-US" sz="1600" noProof="1"/>
          </a:p>
        </p:txBody>
      </p:sp>
      <p:graphicFrame>
        <p:nvGraphicFramePr>
          <p:cNvPr id="11" name="表格 10"/>
          <p:cNvGraphicFramePr/>
          <p:nvPr>
            <p:custDataLst>
              <p:tags r:id="rId2"/>
            </p:custDataLst>
          </p:nvPr>
        </p:nvGraphicFramePr>
        <p:xfrm>
          <a:off x="1428750" y="3305175"/>
          <a:ext cx="9836150" cy="2750820"/>
        </p:xfrm>
        <a:graphic>
          <a:graphicData uri="http://schemas.openxmlformats.org/drawingml/2006/table">
            <a:tbl>
              <a:tblPr/>
              <a:tblGrid>
                <a:gridCol w="4954905"/>
                <a:gridCol w="4881245"/>
              </a:tblGrid>
              <a:tr h="281940">
                <a:tc>
                  <a:txBody>
                    <a:bodyPr/>
                    <a:p>
                      <a:pPr marL="0" indent="0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创新</a:t>
                      </a:r>
                      <a:endParaRPr lang="zh-CN" altLang="en-US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7467" marR="57467" marT="57467" marB="5746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CN" altLang="en-US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7467" marR="57467" marT="57467" marB="5746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17220">
                <a:tc>
                  <a:txBody>
                    <a:bodyPr/>
                    <a:p>
                      <a:pPr marL="0" indent="0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① LoongArch 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全平台语义 </a:t>
                      </a: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HAL 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化</a:t>
                      </a:r>
                      <a:endParaRPr lang="zh-CN" altLang="en-US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7467" marR="57467" marT="57467" marB="5746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把 </a:t>
                      </a: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LA 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的四级页表、软件 </a:t>
                      </a: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TLB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</a:t>
                      </a: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DMW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</a:t>
                      </a: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PGDH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</a:t>
                      </a: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IOCSR 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中断、</a:t>
                      </a: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RAM 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镜像装载全部转换为与 </a:t>
                      </a: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RISC-V 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对等的 </a:t>
                      </a: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HAL 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接口</a:t>
                      </a: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——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通用内核零平台条件编译，</a:t>
                      </a: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trap.c/vm.c/proc.c/exec.c 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无一行平台分支</a:t>
                      </a:r>
                      <a:endParaRPr lang="zh-CN" altLang="en-US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7467" marR="57467" marT="57467" marB="5746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17220">
                <a:tc>
                  <a:txBody>
                    <a:bodyPr/>
                    <a:p>
                      <a:pPr marL="0" indent="0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② 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多核稳定性与构建期安全检查</a:t>
                      </a:r>
                      <a:endParaRPr lang="zh-CN" altLang="en-US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7467" marR="57467" marT="57467" marB="5746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AP 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定时器初始化、</a:t>
                      </a: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_Static_assert 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锁死 </a:t>
                      </a: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trapframe/hal_context 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偏移、链接脚本断言</a:t>
                      </a: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 .tlbrefill ≤ 4KiB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</a:t>
                      </a: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HAL_NDISK 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统一设备数</a:t>
                      </a: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——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把错误挡在编译期，而不只是运行时</a:t>
                      </a:r>
                      <a:endParaRPr lang="zh-CN" altLang="en-US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7467" marR="57467" marT="57467" marB="5746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17220">
                <a:tc>
                  <a:txBody>
                    <a:bodyPr/>
                    <a:p>
                      <a:pPr marL="0" indent="0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③ 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高地址内核栈真 </a:t>
                      </a: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guard page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7467" marR="57467" marT="57467" marB="5746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DMW0 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会绕过页表，故将内核栈搬入 </a:t>
                      </a: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PGDH 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高地址窗口，配合软件 </a:t>
                      </a: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TLB refill 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拒绝路径，栈溢出触发 </a:t>
                      </a: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PIL/PIS → 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切紧急栈打印原 </a:t>
                      </a: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SP/BADV 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再 </a:t>
                      </a: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panic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（同类教学 </a:t>
                      </a: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OS 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中罕见）</a:t>
                      </a:r>
                      <a:endParaRPr lang="zh-CN" altLang="en-US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7467" marR="57467" marT="57467" marB="5746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17220">
                <a:tc>
                  <a:txBody>
                    <a:bodyPr/>
                    <a:p>
                      <a:pPr marL="0" indent="0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④ 695 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行完整 </a:t>
                      </a: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VFS + 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三 </a:t>
                      </a: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FS 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全手写</a:t>
                      </a:r>
                      <a:endParaRPr lang="zh-CN" altLang="en-US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7467" marR="57467" marT="57467" marB="5746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vnode 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去重缓存 </a:t>
                      </a: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 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挂载点双向穿越 </a:t>
                      </a: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 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锁外延迟销毁；</a:t>
                      </a: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ext2 1198 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行（</a:t>
                      </a: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orphaned 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延迟释放）、</a:t>
                      </a: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FAT32 1147 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行（规范级 </a:t>
                      </a: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LFN + 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可承载 </a:t>
                      </a: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exec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）</a:t>
                      </a: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——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概念经典，实现极简</a:t>
                      </a:r>
                      <a:endParaRPr lang="zh-CN" altLang="en-US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7467" marR="57467" marT="57467" marB="5746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fw-card"/>
          <p:cNvSpPr/>
          <p:nvPr/>
        </p:nvSpPr>
        <p:spPr>
          <a:xfrm>
            <a:off x="1428750" y="1567815"/>
            <a:ext cx="9831705" cy="1251585"/>
          </a:xfrm>
          <a:prstGeom prst="roundRect">
            <a:avLst>
              <a:gd name="adj" fmla="val 5000"/>
            </a:avLst>
          </a:prstGeom>
          <a:solidFill>
            <a:srgbClr val="EAF2FA"/>
          </a:solidFill>
          <a:ln>
            <a:noFill/>
          </a:ln>
        </p:spPr>
      </p:sp>
      <p:sp>
        <p:nvSpPr>
          <p:cNvPr id="4" name="statement"/>
          <p:cNvSpPr txBox="1"/>
          <p:nvPr/>
        </p:nvSpPr>
        <p:spPr>
          <a:xfrm>
            <a:off x="1412240" y="1619885"/>
            <a:ext cx="9601835" cy="12439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zh-CN" altLang="en-US" sz="1600" noProof="1"/>
              <a:t>设计对标：</a:t>
            </a:r>
            <a:r>
              <a:rPr lang="en-US" altLang="zh-CN" sz="1600" noProof="1"/>
              <a:t>BSD 4.3 vnode </a:t>
            </a:r>
            <a:r>
              <a:rPr lang="zh-CN" altLang="en-US" sz="1600" noProof="1"/>
              <a:t>模型 + </a:t>
            </a:r>
            <a:r>
              <a:rPr lang="en-US" altLang="zh-CN" sz="1600" noProof="1"/>
              <a:t>Linux VFS（inode cache / vfsmount / ext3 orphan list）+ Linux arch/&lt;arch&gt; </a:t>
            </a:r>
            <a:r>
              <a:rPr lang="zh-CN" altLang="en-US" sz="1600" noProof="1"/>
              <a:t>分层；</a:t>
            </a:r>
            <a:endParaRPr lang="zh-CN" altLang="en-US" sz="1600" noProof="1"/>
          </a:p>
          <a:p>
            <a:pPr algn="l">
              <a:lnSpc>
                <a:spcPct val="160000"/>
              </a:lnSpc>
            </a:pPr>
            <a:r>
              <a:rPr lang="zh-CN" altLang="en-US" sz="1600" noProof="1"/>
              <a:t>基础复用 </a:t>
            </a:r>
            <a:r>
              <a:rPr lang="en-US" altLang="zh-CN" sz="1600" noProof="1"/>
              <a:t>MIT xv6-riscv rev5 </a:t>
            </a:r>
            <a:r>
              <a:rPr lang="zh-CN" altLang="en-US" sz="1600" noProof="1"/>
              <a:t>成熟路径（</a:t>
            </a:r>
            <a:r>
              <a:rPr lang="en-US" altLang="zh-CN" sz="1600" noProof="1"/>
              <a:t>fs.c / log.c / bio.c </a:t>
            </a:r>
            <a:r>
              <a:rPr lang="zh-CN" altLang="en-US" sz="1600" noProof="1"/>
              <a:t>零改动），与 </a:t>
            </a:r>
            <a:r>
              <a:rPr lang="en-US" altLang="zh-CN" sz="1600" noProof="1"/>
              <a:t>AI </a:t>
            </a:r>
            <a:r>
              <a:rPr lang="zh-CN" altLang="en-US" sz="1600" noProof="1"/>
              <a:t>工具协作开发并人工核验。</a:t>
            </a:r>
            <a:endParaRPr lang="zh-CN" altLang="en-US" sz="1600" noProof="1"/>
          </a:p>
        </p:txBody>
      </p:sp>
      <p:sp>
        <p:nvSpPr>
          <p:cNvPr id="13" name="文本框 12"/>
          <p:cNvSpPr txBox="1"/>
          <p:nvPr/>
        </p:nvSpPr>
        <p:spPr>
          <a:xfrm>
            <a:off x="1428115" y="833755"/>
            <a:ext cx="95497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借鉴与创新性工作</a:t>
            </a:r>
            <a:endParaRPr lang="zh-CN" altLang="en-US" sz="2800">
              <a:solidFill>
                <a:schemeClr val="accent5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411*266"/>
  <p:tag name="TABLE_ENDDRAG_RECT" val="520*132*411*266"/>
</p:tagLst>
</file>

<file path=ppt/tags/tag2.xml><?xml version="1.0" encoding="utf-8"?>
<p:tagLst xmlns:p="http://schemas.openxmlformats.org/presentationml/2006/main">
  <p:tag name="TABLE_ENDDRAG_ORIGIN_RECT" val="774*207"/>
  <p:tag name="TABLE_ENDDRAG_RECT" val="112*260*774*207"/>
</p:tagLst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5956</Words>
  <Application>WPS 演示</Application>
  <PresentationFormat/>
  <Paragraphs>679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Arial</vt:lpstr>
      <vt:lpstr>宋体</vt:lpstr>
      <vt:lpstr>Wingdings</vt:lpstr>
      <vt:lpstr>MiSans</vt:lpstr>
      <vt:lpstr>Consolas</vt:lpstr>
      <vt:lpstr>仿宋</vt:lpstr>
      <vt:lpstr>微软雅黑</vt:lpstr>
      <vt:lpstr>Arial Unicode MS</vt:lpstr>
      <vt:lpstr>Calibri</vt:lpstr>
      <vt:lpstr>PPTD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xv6 虚拟文件系统与硬件抽象层的设计与实现</dc:title>
  <dc:creator/>
  <cp:lastModifiedBy>杨子游</cp:lastModifiedBy>
  <cp:revision>22</cp:revision>
  <dcterms:created xsi:type="dcterms:W3CDTF">2026-08-16T11:24:00Z</dcterms:created>
  <dcterms:modified xsi:type="dcterms:W3CDTF">2026-08-17T20:17:01Z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/>
  </property>
  <property fmtid="{D5CDD505-2E9C-101B-9397-08002B2CF9AE}" pid="3" name="ICV">
    <vt:lpwstr>1A1CB6222E1D43CC975E85103EB23692_13</vt:lpwstr>
  </property>
  <property fmtid="{D5CDD505-2E9C-101B-9397-08002B2CF9AE}" pid="4" name="KSOProductBuildVer">
    <vt:lpwstr>2052-12.1.0.28043</vt:lpwstr>
  </property>
</Properties>
</file>