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embeddedFontLst>
    <p:embeddedFont>
      <p:font typeface="Liter" panose="02000503030000020004"/>
      <p:regular r:id="rId12"/>
    </p:embeddedFont>
    <p:embeddedFont>
      <p:font typeface="MiSans" charset="-122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651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01 · 阶段总览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阶段总览：双平台三文件系统全部测试通过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文件系统（FAT32 LFN 完善 · VDIRSIZ 目录长度扩展）× HAL（LoongArch 三 FS 突破 · 架构收敛）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graphicFrame>
        <p:nvGraphicFramePr>
          <p:cNvPr id="7" name="main-table"/>
          <p:cNvGraphicFramePr>
            <a:graphicFrameLocks noGrp="1"/>
          </p:cNvGraphicFramePr>
          <p:nvPr/>
        </p:nvGraphicFramePr>
        <p:xfrm>
          <a:off x="508000" y="1930400"/>
          <a:ext cx="11176000" cy="2489200"/>
        </p:xfrm>
        <a:graphic>
          <a:graphicData uri="http://schemas.openxmlformats.org/drawingml/2006/table">
            <a:tbl>
              <a:tblPr/>
              <a:tblGrid>
                <a:gridCol w="1564640"/>
                <a:gridCol w="4805680"/>
                <a:gridCol w="4805680"/>
              </a:tblGrid>
              <a:tr h="597408">
                <a:tc>
                  <a:txBody>
                    <a:bodyPr wrap="square" rtlCol="0"/>
                    <a:lstStyle/>
                    <a:p>
                      <a:pPr algn="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文件系统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HAL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</a:tr>
              <a:tr h="1145032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主线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FAT32 8.3 短名 → LFN 长名；VDIRSIZ 14 → 256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LoongArch 突破 4MB ROM 限制获得三 FS；内核架构条件块清零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74676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成果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双平台全部测试通过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双平台全部测试通过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metric-1-num"/>
          <p:cNvSpPr txBox="1"/>
          <p:nvPr/>
        </p:nvSpPr>
        <p:spPr>
          <a:xfrm>
            <a:off x="508000" y="48768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42 / 42</a:t>
            </a:r>
            <a:endParaRPr lang="en-US" sz="3000" noProof="1"/>
          </a:p>
        </p:txBody>
      </p:sp>
      <p:sp>
        <p:nvSpPr>
          <p:cNvPr id="9" name="metric-1-label"/>
          <p:cNvSpPr txBox="1"/>
          <p:nvPr/>
        </p:nvSpPr>
        <p:spPr>
          <a:xfrm>
            <a:off x="508000" y="52832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fat32test 全部通过（RISC-V 与 LoongArch 双平台）</a:t>
            </a:r>
            <a:endParaRPr lang="en-US" sz="1300" noProof="1"/>
          </a:p>
        </p:txBody>
      </p:sp>
      <p:sp>
        <p:nvSpPr>
          <p:cNvPr id="10" name="metric-div-1"/>
          <p:cNvSpPr/>
          <p:nvPr/>
        </p:nvSpPr>
        <p:spPr>
          <a:xfrm>
            <a:off x="4064000" y="4927600"/>
            <a:ext cx="9525" cy="7112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metric-2-num"/>
          <p:cNvSpPr txBox="1"/>
          <p:nvPr/>
        </p:nvSpPr>
        <p:spPr>
          <a:xfrm>
            <a:off x="4445000" y="48768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15 / 15</a:t>
            </a:r>
            <a:endParaRPr lang="en-US" sz="3000" noProof="1"/>
          </a:p>
        </p:txBody>
      </p:sp>
      <p:sp>
        <p:nvSpPr>
          <p:cNvPr id="12" name="metric-2-label"/>
          <p:cNvSpPr txBox="1"/>
          <p:nvPr/>
        </p:nvSpPr>
        <p:spPr>
          <a:xfrm>
            <a:off x="4445000" y="5283200"/>
            <a:ext cx="317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ext2test 全部通过（RISC-V 与 LoongArch 双平台）</a:t>
            </a:r>
            <a:endParaRPr lang="en-US" sz="1300" noProof="1"/>
          </a:p>
        </p:txBody>
      </p:sp>
      <p:sp>
        <p:nvSpPr>
          <p:cNvPr id="13" name="metric-div-2"/>
          <p:cNvSpPr/>
          <p:nvPr/>
        </p:nvSpPr>
        <p:spPr>
          <a:xfrm>
            <a:off x="7874000" y="4927600"/>
            <a:ext cx="9525" cy="7112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4" name="metric-3-num"/>
          <p:cNvSpPr txBox="1"/>
          <p:nvPr/>
        </p:nvSpPr>
        <p:spPr>
          <a:xfrm>
            <a:off x="8255000" y="48768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10 → 0</a:t>
            </a:r>
            <a:endParaRPr lang="en-US" sz="3000" noProof="1"/>
          </a:p>
        </p:txBody>
      </p:sp>
      <p:sp>
        <p:nvSpPr>
          <p:cNvPr id="15" name="metric-3-label"/>
          <p:cNvSpPr txBox="1"/>
          <p:nvPr/>
        </p:nvSpPr>
        <p:spPr>
          <a:xfrm>
            <a:off x="8255000" y="52832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kernel/ 目录下架构条件块清零，HAL 与内核完全正交</a:t>
            </a:r>
            <a:endParaRPr lang="en-US" sz="1300" noProof="1"/>
          </a:p>
        </p:txBody>
      </p:sp>
      <p:sp>
        <p:nvSpPr>
          <p:cNvPr id="16" name="bottom-rule"/>
          <p:cNvSpPr/>
          <p:nvPr/>
        </p:nvSpPr>
        <p:spPr>
          <a:xfrm>
            <a:off x="508000" y="5943600"/>
            <a:ext cx="11176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bottom-conclusion"/>
          <p:cNvSpPr txBox="1"/>
          <p:nvPr/>
        </p:nvSpPr>
        <p:spPr>
          <a:xfrm>
            <a:off x="508000" y="609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8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01 / 06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651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02 · 文件系统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FAT32 完善：完整 VFAT LFN 支持，测试 6 → 42 项全 PASS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fat32.c 301 → 953 行 · 长名创建 / 查找 / 删除 / 显示，最长 255 字符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left-heading"/>
          <p:cNvSpPr txBox="1"/>
          <p:nvPr/>
        </p:nvSpPr>
        <p:spPr>
          <a:xfrm>
            <a:off x="508000" y="1905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  测试覆盖：fat32test 42 项，双平台全部通过</a:t>
            </a:r>
            <a:endParaRPr lang="en-US" sz="1700" noProof="1"/>
          </a:p>
        </p:txBody>
      </p:sp>
      <p:graphicFrame>
        <p:nvGraphicFramePr>
          <p:cNvPr id="8" name="test-table"/>
          <p:cNvGraphicFramePr>
            <a:graphicFrameLocks noGrp="1"/>
          </p:cNvGraphicFramePr>
          <p:nvPr/>
        </p:nvGraphicFramePr>
        <p:xfrm>
          <a:off x="508000" y="2318385"/>
          <a:ext cx="6350000" cy="2793365"/>
        </p:xfrm>
        <a:graphic>
          <a:graphicData uri="http://schemas.openxmlformats.org/drawingml/2006/table">
            <a:tbl>
              <a:tblPr/>
              <a:tblGrid>
                <a:gridCol w="2667000"/>
                <a:gridCol w="3683000"/>
              </a:tblGrid>
              <a:tr h="495935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测试项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验证点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读写持久化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写入后重开，内容一致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O_APPEND / O_TRUNC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追加与截断语义正确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10KB 多簇读写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跨簇链式分配与读写正确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57277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LFN 按全名重开 · unlink 四态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长名查找命中；删除后目录项/簇链回收正确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st-note"/>
          <p:cNvSpPr txBox="1"/>
          <p:nvPr/>
        </p:nvSpPr>
        <p:spPr>
          <a:xfrm>
            <a:off x="508000" y="52324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注：LFN 长名重开校验按完整长名（非 8.3 别名）查找；42 项较初赛基线 6 项显著扩展，覆盖长名与边界场景。</a:t>
            </a:r>
            <a:endParaRPr lang="en-US" sz="1300" noProof="1"/>
          </a:p>
        </p:txBody>
      </p:sp>
      <p:sp>
        <p:nvSpPr>
          <p:cNvPr id="10" name="right-panel"/>
          <p:cNvSpPr/>
          <p:nvPr/>
        </p:nvSpPr>
        <p:spPr>
          <a:xfrm>
            <a:off x="7366000" y="1905000"/>
            <a:ext cx="4318000" cy="37338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11" name="right-h1"/>
          <p:cNvSpPr txBox="1"/>
          <p:nvPr/>
        </p:nvSpPr>
        <p:spPr>
          <a:xfrm>
            <a:off x="7670800" y="2133600"/>
            <a:ext cx="375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实现要点</a:t>
            </a:r>
            <a:endParaRPr lang="en-US" sz="1700" noProof="1"/>
          </a:p>
        </p:txBody>
      </p:sp>
      <p:sp>
        <p:nvSpPr>
          <p:cNvPr id="12" name="right-b1"/>
          <p:cNvSpPr txBox="1"/>
          <p:nvPr/>
        </p:nvSpPr>
        <p:spPr>
          <a:xfrm>
            <a:off x="7670800" y="2463800"/>
            <a:ext cx="3759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· 完整 VFAT LFN 编解码</a:t>
            </a:r>
            <a:endParaRPr lang="en-US" sz="1500" noProof="1"/>
          </a:p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· 长名创建 / 查找 / 删除 / 显示，≤ 255 字符</a:t>
            </a:r>
            <a:endParaRPr lang="en-US" sz="1500" noProof="1"/>
          </a:p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· fat32.c 由 301 行扩至 953 行</a:t>
            </a:r>
            <a:endParaRPr lang="en-US" sz="1500" noProof="1"/>
          </a:p>
        </p:txBody>
      </p:sp>
      <p:sp>
        <p:nvSpPr>
          <p:cNvPr id="13" name="right-div"/>
          <p:cNvSpPr/>
          <p:nvPr/>
        </p:nvSpPr>
        <p:spPr>
          <a:xfrm>
            <a:off x="7670800" y="3800475"/>
            <a:ext cx="3708400" cy="9525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4" name="right-h2"/>
          <p:cNvSpPr txBox="1"/>
          <p:nvPr/>
        </p:nvSpPr>
        <p:spPr>
          <a:xfrm>
            <a:off x="7670800" y="4165600"/>
            <a:ext cx="375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取舍</a:t>
            </a:r>
            <a:endParaRPr lang="en-US" sz="1700" noProof="1"/>
          </a:p>
        </p:txBody>
      </p:sp>
      <p:sp>
        <p:nvSpPr>
          <p:cNvPr id="15" name="right-b2"/>
          <p:cNvSpPr txBox="1"/>
          <p:nvPr/>
        </p:nvSpPr>
        <p:spPr>
          <a:xfrm>
            <a:off x="7670800" y="4495800"/>
            <a:ext cx="3759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· LFN 仅支持 ASCII 字符</a:t>
            </a:r>
            <a:endParaRPr lang="en-US" sz="1500" noProof="1"/>
          </a:p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· 教学定位有界：以清晰可读为先，不做全字符集支持</a:t>
            </a:r>
            <a:endParaRPr lang="en-US" sz="1500" noProof="1"/>
          </a:p>
        </p:txBody>
      </p:sp>
      <p:sp>
        <p:nvSpPr>
          <p:cNvPr id="16" name="bottom-rule"/>
          <p:cNvSpPr/>
          <p:nvPr/>
        </p:nvSpPr>
        <p:spPr>
          <a:xfrm>
            <a:off x="508000" y="5943600"/>
            <a:ext cx="11176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bottom-conclusion"/>
          <p:cNvSpPr txBox="1"/>
          <p:nvPr/>
        </p:nvSpPr>
        <p:spPr>
          <a:xfrm>
            <a:off x="508000" y="611378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8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02 / 06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651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03 · 漏洞修复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目录长度扩展：VDIRSIZ 14 → 256，修复长名触发的内核崩溃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漏洞定位 → 统一 ABI 修复 → 最小改动完成系统级升级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bug-heading"/>
          <p:cNvSpPr txBox="1"/>
          <p:nvPr/>
        </p:nvSpPr>
        <p:spPr>
          <a:xfrm>
            <a:off x="508000" y="1905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漏洞链：长文件名触发内核崩溃</a:t>
            </a:r>
            <a:endParaRPr lang="en-US" sz="1700" noProof="1"/>
          </a:p>
        </p:txBody>
      </p:sp>
      <p:sp>
        <p:nvSpPr>
          <p:cNvPr id="8" name="bug-box-1"/>
          <p:cNvSpPr/>
          <p:nvPr/>
        </p:nvSpPr>
        <p:spPr>
          <a:xfrm>
            <a:off x="508000" y="2336800"/>
            <a:ext cx="1879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</p:sp>
      <p:sp>
        <p:nvSpPr>
          <p:cNvPr id="9" name="bug-box-1-text"/>
          <p:cNvSpPr txBox="1"/>
          <p:nvPr/>
        </p:nvSpPr>
        <p:spPr>
          <a:xfrm>
            <a:off x="508000" y="2336800"/>
            <a:ext cx="1879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长文件名</a:t>
            </a:r>
            <a:endParaRPr lang="en-US" sz="1500" noProof="1"/>
          </a:p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（&gt; 14 字节）</a:t>
            </a:r>
            <a:endParaRPr lang="en-US" sz="1500" noProof="1"/>
          </a:p>
        </p:txBody>
      </p:sp>
      <p:sp>
        <p:nvSpPr>
          <p:cNvPr id="10" name="bug-arrow-1"/>
          <p:cNvSpPr/>
          <p:nvPr/>
        </p:nvSpPr>
        <p:spPr>
          <a:xfrm>
            <a:off x="2438400" y="26670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15875">
            <a:solidFill>
              <a:srgbClr val="001142"/>
            </a:solidFill>
            <a:tailEnd type="arrow"/>
          </a:ln>
        </p:spPr>
      </p:sp>
      <p:sp>
        <p:nvSpPr>
          <p:cNvPr id="11" name="bug-box-2"/>
          <p:cNvSpPr/>
          <p:nvPr/>
        </p:nvSpPr>
        <p:spPr>
          <a:xfrm>
            <a:off x="2819400" y="2336800"/>
            <a:ext cx="18796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</p:sp>
      <p:sp>
        <p:nvSpPr>
          <p:cNvPr id="12" name="bug-box-2-text"/>
          <p:cNvSpPr txBox="1"/>
          <p:nvPr/>
        </p:nvSpPr>
        <p:spPr>
          <a:xfrm>
            <a:off x="2819400" y="2336800"/>
            <a:ext cx="1879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name[14] 栈缓冲区</a:t>
            </a:r>
            <a:endParaRPr lang="en-US" sz="1500" noProof="1"/>
          </a:p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越界写入</a:t>
            </a:r>
            <a:endParaRPr lang="en-US" sz="1500" noProof="1"/>
          </a:p>
        </p:txBody>
      </p:sp>
      <p:sp>
        <p:nvSpPr>
          <p:cNvPr id="13" name="bug-arrow-2"/>
          <p:cNvSpPr/>
          <p:nvPr/>
        </p:nvSpPr>
        <p:spPr>
          <a:xfrm>
            <a:off x="4749800" y="26670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15875">
            <a:solidFill>
              <a:srgbClr val="001142"/>
            </a:solidFill>
            <a:tailEnd type="arrow"/>
          </a:ln>
        </p:spPr>
      </p:sp>
      <p:sp>
        <p:nvSpPr>
          <p:cNvPr id="14" name="bug-box-3"/>
          <p:cNvSpPr/>
          <p:nvPr/>
        </p:nvSpPr>
        <p:spPr>
          <a:xfrm>
            <a:off x="5130800" y="2336800"/>
            <a:ext cx="1879600" cy="711200"/>
          </a:xfrm>
          <a:prstGeom prst="rect">
            <a:avLst/>
          </a:prstGeom>
          <a:solidFill>
            <a:srgbClr val="001142"/>
          </a:solidFill>
          <a:ln>
            <a:noFill/>
          </a:ln>
        </p:spPr>
      </p:sp>
      <p:sp>
        <p:nvSpPr>
          <p:cNvPr id="15" name="bug-box-3-text"/>
          <p:cNvSpPr txBox="1"/>
          <p:nvPr/>
        </p:nvSpPr>
        <p:spPr>
          <a:xfrm>
            <a:off x="5130800" y="2336800"/>
            <a:ext cx="1879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FFFFFF"/>
                </a:solidFill>
                <a:latin typeface="Liter" panose="02000503030000020004"/>
                <a:ea typeface="MiSans" charset="-122"/>
              </a:rPr>
              <a:t>内核崩溃</a:t>
            </a:r>
            <a:endParaRPr lang="en-US" sz="1500" noProof="1"/>
          </a:p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FFFFFF"/>
                </a:solidFill>
                <a:latin typeface="Liter" panose="02000503030000020004"/>
                <a:ea typeface="MiSans" charset="-122"/>
              </a:rPr>
              <a:t>scause = 0xf</a:t>
            </a:r>
            <a:endParaRPr lang="en-US" sz="1500" noProof="1"/>
          </a:p>
        </p:txBody>
      </p:sp>
      <p:sp>
        <p:nvSpPr>
          <p:cNvPr id="16" name="fix-heading"/>
          <p:cNvSpPr txBox="1"/>
          <p:nvPr/>
        </p:nvSpPr>
        <p:spPr>
          <a:xfrm>
            <a:off x="508000" y="34544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修复：统一 VDIRSIZ = 256 ABI，全链路适配</a:t>
            </a:r>
            <a:endParaRPr lang="en-US" sz="1700" noProof="1"/>
          </a:p>
        </p:txBody>
      </p:sp>
      <p:sp>
        <p:nvSpPr>
          <p:cNvPr id="17" name="fix-box-1"/>
          <p:cNvSpPr/>
          <p:nvPr/>
        </p:nvSpPr>
        <p:spPr>
          <a:xfrm>
            <a:off x="508000" y="3886200"/>
            <a:ext cx="1473200" cy="6096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18" name="fix-box-1-text"/>
          <p:cNvSpPr txBox="1"/>
          <p:nvPr/>
        </p:nvSpPr>
        <p:spPr>
          <a:xfrm>
            <a:off x="508000" y="3886200"/>
            <a:ext cx="147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VFS 层</a:t>
            </a:r>
            <a:endParaRPr lang="en-US" sz="1500" noProof="1"/>
          </a:p>
        </p:txBody>
      </p:sp>
      <p:sp>
        <p:nvSpPr>
          <p:cNvPr id="19" name="fix-arrow-1"/>
          <p:cNvSpPr/>
          <p:nvPr/>
        </p:nvSpPr>
        <p:spPr>
          <a:xfrm>
            <a:off x="2032000" y="41656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5875">
            <a:solidFill>
              <a:srgbClr val="007ACC"/>
            </a:solidFill>
            <a:tailEnd type="arrow"/>
          </a:ln>
        </p:spPr>
      </p:sp>
      <p:sp>
        <p:nvSpPr>
          <p:cNvPr id="20" name="fix-box-2"/>
          <p:cNvSpPr/>
          <p:nvPr/>
        </p:nvSpPr>
        <p:spPr>
          <a:xfrm>
            <a:off x="2336800" y="3886200"/>
            <a:ext cx="1473200" cy="6096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21" name="fix-box-2-text"/>
          <p:cNvSpPr txBox="1"/>
          <p:nvPr/>
        </p:nvSpPr>
        <p:spPr>
          <a:xfrm>
            <a:off x="2336800" y="3886200"/>
            <a:ext cx="147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三个文件系统</a:t>
            </a:r>
            <a:endParaRPr lang="en-US" sz="1500" noProof="1"/>
          </a:p>
        </p:txBody>
      </p:sp>
      <p:sp>
        <p:nvSpPr>
          <p:cNvPr id="22" name="fix-arrow-2"/>
          <p:cNvSpPr/>
          <p:nvPr/>
        </p:nvSpPr>
        <p:spPr>
          <a:xfrm>
            <a:off x="3860800" y="41656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5875">
            <a:solidFill>
              <a:srgbClr val="007ACC"/>
            </a:solidFill>
            <a:tailEnd type="arrow"/>
          </a:ln>
        </p:spPr>
      </p:sp>
      <p:sp>
        <p:nvSpPr>
          <p:cNvPr id="23" name="fix-box-3"/>
          <p:cNvSpPr/>
          <p:nvPr/>
        </p:nvSpPr>
        <p:spPr>
          <a:xfrm>
            <a:off x="4165600" y="3886200"/>
            <a:ext cx="1473200" cy="6096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24" name="fix-box-3-text"/>
          <p:cNvSpPr txBox="1"/>
          <p:nvPr/>
        </p:nvSpPr>
        <p:spPr>
          <a:xfrm>
            <a:off x="4165600" y="3886200"/>
            <a:ext cx="147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syscall</a:t>
            </a:r>
            <a:endParaRPr lang="en-US" sz="1500" noProof="1"/>
          </a:p>
        </p:txBody>
      </p:sp>
      <p:sp>
        <p:nvSpPr>
          <p:cNvPr id="25" name="fix-arrow-3"/>
          <p:cNvSpPr/>
          <p:nvPr/>
        </p:nvSpPr>
        <p:spPr>
          <a:xfrm>
            <a:off x="5689600" y="41656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2"/>
                </a:moveTo>
                <a:lnTo>
                  <a:pt x="20" y="2"/>
                </a:lnTo>
              </a:path>
            </a:pathLst>
          </a:custGeom>
          <a:noFill/>
          <a:ln w="15875">
            <a:solidFill>
              <a:srgbClr val="007ACC"/>
            </a:solidFill>
            <a:tailEnd type="arrow"/>
          </a:ln>
        </p:spPr>
      </p:sp>
      <p:sp>
        <p:nvSpPr>
          <p:cNvPr id="26" name="fix-box-4"/>
          <p:cNvSpPr/>
          <p:nvPr/>
        </p:nvSpPr>
        <p:spPr>
          <a:xfrm>
            <a:off x="5994400" y="3886200"/>
            <a:ext cx="1473200" cy="6096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27" name="fix-box-4-text"/>
          <p:cNvSpPr txBox="1"/>
          <p:nvPr/>
        </p:nvSpPr>
        <p:spPr>
          <a:xfrm>
            <a:off x="5994400" y="3886200"/>
            <a:ext cx="147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用户态</a:t>
            </a:r>
            <a:endParaRPr lang="en-US" sz="1500" noProof="1"/>
          </a:p>
        </p:txBody>
      </p:sp>
      <p:sp>
        <p:nvSpPr>
          <p:cNvPr id="28" name="fix-note"/>
          <p:cNvSpPr txBox="1"/>
          <p:nvPr/>
        </p:nvSpPr>
        <p:spPr>
          <a:xfrm>
            <a:off x="508000" y="4724400"/>
            <a:ext cx="6502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目录项长度常量统一为 VDIRSIZ = 256，作为内核与用户态共享的 ABI；LFN 长名（≤ 255 字符）在该边界内安全传递。</a:t>
            </a:r>
            <a:endParaRPr lang="en-US" sz="1300" noProof="1"/>
          </a:p>
        </p:txBody>
      </p:sp>
      <p:sp>
        <p:nvSpPr>
          <p:cNvPr id="29" name="right-panel"/>
          <p:cNvSpPr/>
          <p:nvPr/>
        </p:nvSpPr>
        <p:spPr>
          <a:xfrm>
            <a:off x="7874000" y="1905000"/>
            <a:ext cx="3810000" cy="3327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0" name="right-h1"/>
          <p:cNvSpPr txBox="1"/>
          <p:nvPr/>
        </p:nvSpPr>
        <p:spPr>
          <a:xfrm>
            <a:off x="8178800" y="21336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改动量</a:t>
            </a:r>
            <a:endParaRPr lang="en-US" sz="1700" noProof="1"/>
          </a:p>
        </p:txBody>
      </p:sp>
      <p:sp>
        <p:nvSpPr>
          <p:cNvPr id="31" name="right-num-1"/>
          <p:cNvSpPr txBox="1"/>
          <p:nvPr/>
        </p:nvSpPr>
        <p:spPr>
          <a:xfrm>
            <a:off x="8178800" y="25146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11 个文件</a:t>
            </a:r>
            <a:endParaRPr lang="en-US" sz="3000" noProof="1"/>
          </a:p>
        </p:txBody>
      </p:sp>
      <p:sp>
        <p:nvSpPr>
          <p:cNvPr id="32" name="right-num-2"/>
          <p:cNvSpPr txBox="1"/>
          <p:nvPr/>
        </p:nvSpPr>
        <p:spPr>
          <a:xfrm>
            <a:off x="8178800" y="30226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+108 / −125 行</a:t>
            </a:r>
            <a:endParaRPr lang="en-US" sz="3000" noProof="1"/>
          </a:p>
        </p:txBody>
      </p:sp>
      <p:sp>
        <p:nvSpPr>
          <p:cNvPr id="33" name="right-div"/>
          <p:cNvSpPr/>
          <p:nvPr/>
        </p:nvSpPr>
        <p:spPr>
          <a:xfrm>
            <a:off x="8178800" y="3657600"/>
            <a:ext cx="3200400" cy="9525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34" name="right-b1"/>
          <p:cNvSpPr txBox="1"/>
          <p:nvPr/>
        </p:nvSpPr>
        <p:spPr>
          <a:xfrm>
            <a:off x="8178800" y="3835400"/>
            <a:ext cx="3200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净减 17 行完成系统级 ABI 升级：删除多于新增，源于常量统一后冗余适配代码随之消除。</a:t>
            </a:r>
            <a:endParaRPr lang="en-US" sz="1500" noProof="1"/>
          </a:p>
        </p:txBody>
      </p:sp>
      <p:sp>
        <p:nvSpPr>
          <p:cNvPr id="35" name="bottom-rule"/>
          <p:cNvSpPr/>
          <p:nvPr/>
        </p:nvSpPr>
        <p:spPr>
          <a:xfrm>
            <a:off x="508000" y="5943600"/>
            <a:ext cx="11176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36" name="bottom-conclusion"/>
          <p:cNvSpPr txBox="1"/>
          <p:nvPr/>
        </p:nvSpPr>
        <p:spPr>
          <a:xfrm>
            <a:off x="508000" y="609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37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03 / 06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905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04 · HAL · LoongArch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LoongArch 三文件系统突破：绕开 QEMU 4MB ROM 上限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内核改走 BIOS 加载 · 三个镜像由 QEMU loader 独立加载到保留 RAM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left-heading"/>
          <p:cNvSpPr txBox="1"/>
          <p:nvPr/>
        </p:nvSpPr>
        <p:spPr>
          <a:xfrm>
            <a:off x="508000" y="1905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初赛：受限于 4MB ROM</a:t>
            </a:r>
            <a:endParaRPr lang="en-US" sz="1700" noProof="1"/>
          </a:p>
        </p:txBody>
      </p:sp>
      <p:sp>
        <p:nvSpPr>
          <p:cNvPr id="8" name="left-box"/>
          <p:cNvSpPr/>
          <p:nvPr/>
        </p:nvSpPr>
        <p:spPr>
          <a:xfrm>
            <a:off x="508000" y="2336800"/>
            <a:ext cx="508000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</p:sp>
      <p:sp>
        <p:nvSpPr>
          <p:cNvPr id="9" name="left-box-label"/>
          <p:cNvSpPr txBox="1"/>
          <p:nvPr/>
        </p:nvSpPr>
        <p:spPr>
          <a:xfrm>
            <a:off x="711200" y="24638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QEMU ROM（上限 4MB）</a:t>
            </a:r>
            <a:endParaRPr lang="en-US" sz="1300" noProof="1"/>
          </a:p>
        </p:txBody>
      </p:sp>
      <p:sp>
        <p:nvSpPr>
          <p:cNvPr id="10" name="left-inner-kernel"/>
          <p:cNvSpPr/>
          <p:nvPr/>
        </p:nvSpPr>
        <p:spPr>
          <a:xfrm>
            <a:off x="711200" y="2768600"/>
            <a:ext cx="46736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" name="left-inner-kernel-text"/>
          <p:cNvSpPr txBox="1"/>
          <p:nvPr/>
        </p:nvSpPr>
        <p:spPr>
          <a:xfrm>
            <a:off x="914400" y="2768600"/>
            <a:ext cx="4267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内核</a:t>
            </a:r>
            <a:endParaRPr lang="en-US" sz="1500" noProof="1"/>
          </a:p>
        </p:txBody>
      </p:sp>
      <p:sp>
        <p:nvSpPr>
          <p:cNvPr id="12" name="left-inner-fs"/>
          <p:cNvSpPr/>
          <p:nvPr/>
        </p:nvSpPr>
        <p:spPr>
          <a:xfrm>
            <a:off x="711200" y="3352800"/>
            <a:ext cx="4673600" cy="50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" name="left-inner-fs-text"/>
          <p:cNvSpPr txBox="1"/>
          <p:nvPr/>
        </p:nvSpPr>
        <p:spPr>
          <a:xfrm>
            <a:off x="914400" y="3352800"/>
            <a:ext cx="4267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全部文件系统镜像（容量挤占，放不下）</a:t>
            </a:r>
            <a:endParaRPr lang="en-US" sz="1500" noProof="1"/>
          </a:p>
        </p:txBody>
      </p:sp>
      <p:sp>
        <p:nvSpPr>
          <p:cNvPr id="14" name="left-inner-note"/>
          <p:cNvSpPr txBox="1"/>
          <p:nvPr/>
        </p:nvSpPr>
        <p:spPr>
          <a:xfrm>
            <a:off x="711200" y="3962400"/>
            <a:ext cx="4673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内核与镜像打包进同一个 ROM，总量受 4MB 硬约束</a:t>
            </a:r>
            <a:endParaRPr lang="en-US" sz="1300" noProof="1"/>
          </a:p>
        </p:txBody>
      </p:sp>
      <p:sp>
        <p:nvSpPr>
          <p:cNvPr id="15" name="left-result"/>
          <p:cNvSpPr txBox="1"/>
          <p:nvPr/>
        </p:nvSpPr>
        <p:spPr>
          <a:xfrm>
            <a:off x="508000" y="4648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→ 仅 2 个 FS（dev = 1 / 2）</a:t>
            </a:r>
            <a:endParaRPr lang="en-US" sz="1600" noProof="1"/>
          </a:p>
        </p:txBody>
      </p:sp>
      <p:sp>
        <p:nvSpPr>
          <p:cNvPr id="16" name="mid-divider"/>
          <p:cNvSpPr/>
          <p:nvPr/>
        </p:nvSpPr>
        <p:spPr>
          <a:xfrm>
            <a:off x="5969000" y="1905000"/>
            <a:ext cx="9525" cy="33020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7" name="right-heading"/>
          <p:cNvSpPr txBox="1"/>
          <p:nvPr/>
        </p:nvSpPr>
        <p:spPr>
          <a:xfrm>
            <a:off x="6350000" y="1905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本阶段：内核与镜像分离加载</a:t>
            </a:r>
            <a:endParaRPr lang="en-US" sz="1700" noProof="1"/>
          </a:p>
        </p:txBody>
      </p:sp>
      <p:sp>
        <p:nvSpPr>
          <p:cNvPr id="18" name="right-kernel-box"/>
          <p:cNvSpPr/>
          <p:nvPr/>
        </p:nvSpPr>
        <p:spPr>
          <a:xfrm>
            <a:off x="6350000" y="2336800"/>
            <a:ext cx="5334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</p:sp>
      <p:sp>
        <p:nvSpPr>
          <p:cNvPr id="19" name="right-kernel-text"/>
          <p:cNvSpPr txBox="1"/>
          <p:nvPr/>
        </p:nvSpPr>
        <p:spPr>
          <a:xfrm>
            <a:off x="6553200" y="2336800"/>
            <a:ext cx="492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内核</a:t>
            </a: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：改走 BIOS 加载，不再占用 ROM</a:t>
            </a:r>
            <a:endParaRPr lang="en-US" sz="1500" noProof="1"/>
          </a:p>
        </p:txBody>
      </p:sp>
      <p:sp>
        <p:nvSpPr>
          <p:cNvPr id="20" name="right-ram-box"/>
          <p:cNvSpPr/>
          <p:nvPr/>
        </p:nvSpPr>
        <p:spPr>
          <a:xfrm>
            <a:off x="6350000" y="3073400"/>
            <a:ext cx="5334000" cy="13970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21" name="right-ram-label"/>
          <p:cNvSpPr txBox="1"/>
          <p:nvPr/>
        </p:nvSpPr>
        <p:spPr>
          <a:xfrm>
            <a:off x="6553200" y="31750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保留 RAM：QEMU loader 独立加载三镜像</a:t>
            </a:r>
            <a:endParaRPr lang="en-US" sz="1300" noProof="1"/>
          </a:p>
        </p:txBody>
      </p:sp>
      <p:sp>
        <p:nvSpPr>
          <p:cNvPr id="22" name="img-box-1"/>
          <p:cNvSpPr/>
          <p:nvPr/>
        </p:nvSpPr>
        <p:spPr>
          <a:xfrm>
            <a:off x="6553200" y="3454400"/>
            <a:ext cx="152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C"/>
            </a:solidFill>
          </a:ln>
        </p:spPr>
      </p:sp>
      <p:sp>
        <p:nvSpPr>
          <p:cNvPr id="23" name="img-text-1"/>
          <p:cNvSpPr txBox="1"/>
          <p:nvPr/>
        </p:nvSpPr>
        <p:spPr>
          <a:xfrm>
            <a:off x="6553200" y="3454400"/>
            <a:ext cx="152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镜像 1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0x09 保留区</a:t>
            </a:r>
            <a:endParaRPr lang="en-US" sz="1300" noProof="1"/>
          </a:p>
        </p:txBody>
      </p:sp>
      <p:sp>
        <p:nvSpPr>
          <p:cNvPr id="24" name="img-box-2"/>
          <p:cNvSpPr/>
          <p:nvPr/>
        </p:nvSpPr>
        <p:spPr>
          <a:xfrm>
            <a:off x="8255000" y="3454400"/>
            <a:ext cx="152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C"/>
            </a:solidFill>
          </a:ln>
        </p:spPr>
      </p:sp>
      <p:sp>
        <p:nvSpPr>
          <p:cNvPr id="25" name="img-text-2"/>
          <p:cNvSpPr txBox="1"/>
          <p:nvPr/>
        </p:nvSpPr>
        <p:spPr>
          <a:xfrm>
            <a:off x="8255000" y="3454400"/>
            <a:ext cx="152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镜像 2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0x0a 保留区</a:t>
            </a:r>
            <a:endParaRPr lang="en-US" sz="1300" noProof="1"/>
          </a:p>
        </p:txBody>
      </p:sp>
      <p:sp>
        <p:nvSpPr>
          <p:cNvPr id="26" name="img-box-3"/>
          <p:cNvSpPr/>
          <p:nvPr/>
        </p:nvSpPr>
        <p:spPr>
          <a:xfrm>
            <a:off x="9956800" y="3454400"/>
            <a:ext cx="152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C"/>
            </a:solidFill>
          </a:ln>
        </p:spPr>
      </p:sp>
      <p:sp>
        <p:nvSpPr>
          <p:cNvPr id="27" name="img-text-3"/>
          <p:cNvSpPr txBox="1"/>
          <p:nvPr/>
        </p:nvSpPr>
        <p:spPr>
          <a:xfrm>
            <a:off x="9956800" y="3454400"/>
            <a:ext cx="152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b="1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镜像 3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0x0b 保留区</a:t>
            </a:r>
            <a:endParaRPr lang="en-US" sz="1300" noProof="1"/>
          </a:p>
        </p:txBody>
      </p:sp>
      <p:sp>
        <p:nvSpPr>
          <p:cNvPr id="28" name="right-result"/>
          <p:cNvSpPr txBox="1"/>
          <p:nvPr/>
        </p:nvSpPr>
        <p:spPr>
          <a:xfrm>
            <a:off x="6350000" y="4648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→ dev = 1 / 2 / 3，LoongArch 获 3 个 FS</a:t>
            </a:r>
            <a:endParaRPr lang="en-US" sz="1600" noProof="1"/>
          </a:p>
        </p:txBody>
      </p:sp>
      <p:sp>
        <p:nvSpPr>
          <p:cNvPr id="29" name="right-note"/>
          <p:cNvSpPr txBox="1"/>
          <p:nvPr/>
        </p:nvSpPr>
        <p:spPr>
          <a:xfrm>
            <a:off x="508000" y="51054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注：三个镜像分别加载到保留 RAM 的 0x09 / 0x0a / 0x0b 区域，内核按设备号 dev = 1 / 2 / 3 挂载；设备语义与 RISC-V 完全一致。</a:t>
            </a:r>
            <a:endParaRPr lang="en-US" sz="1300" noProof="1"/>
          </a:p>
        </p:txBody>
      </p:sp>
      <p:sp>
        <p:nvSpPr>
          <p:cNvPr id="30" name="bottom-rule"/>
          <p:cNvSpPr/>
          <p:nvPr/>
        </p:nvSpPr>
        <p:spPr>
          <a:xfrm>
            <a:off x="508000" y="5943600"/>
            <a:ext cx="11176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31" name="bottom-conclusion"/>
          <p:cNvSpPr txBox="1"/>
          <p:nvPr/>
        </p:nvSpPr>
        <p:spPr>
          <a:xfrm>
            <a:off x="508000" y="609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32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04 / 06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651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05 · HAL 收敛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HAL 架构收敛：kernel/ 架构条件块 10 → 0，与内核完全正交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栈保护 · TLB 统一 · 边界收敛，三项重构让 HAL 承接全部架构差异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7" name="item-1-num"/>
          <p:cNvSpPr txBox="1"/>
          <p:nvPr/>
        </p:nvSpPr>
        <p:spPr>
          <a:xfrm>
            <a:off x="508000" y="19304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1</a:t>
            </a:r>
            <a:endParaRPr lang="en-US" sz="2200" noProof="1"/>
          </a:p>
        </p:txBody>
      </p:sp>
      <p:sp>
        <p:nvSpPr>
          <p:cNvPr id="8" name="item-1-head"/>
          <p:cNvSpPr txBox="1"/>
          <p:nvPr/>
        </p:nvSpPr>
        <p:spPr>
          <a:xfrm>
            <a:off x="1066800" y="1930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栈保护：越界从「静默破坏」变为「确定性 panic」</a:t>
            </a:r>
            <a:endParaRPr lang="en-US" sz="1700" noProof="1"/>
          </a:p>
        </p:txBody>
      </p:sp>
      <p:sp>
        <p:nvSpPr>
          <p:cNvPr id="9" name="item-1-body"/>
          <p:cNvSpPr txBox="1"/>
          <p:nvPr/>
        </p:nvSpPr>
        <p:spPr>
          <a:xfrm>
            <a:off x="1066800" y="22606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内核栈迁移到高地址 + 固定 PGDH + guard 页不映射；栈越界立即触发异常，问题在现场暴露，不再潜伏。</a:t>
            </a:r>
            <a:endParaRPr lang="en-US" sz="1300" noProof="1"/>
          </a:p>
        </p:txBody>
      </p:sp>
      <p:sp>
        <p:nvSpPr>
          <p:cNvPr id="10" name="item-div-1"/>
          <p:cNvSpPr/>
          <p:nvPr/>
        </p:nvSpPr>
        <p:spPr>
          <a:xfrm>
            <a:off x="1066800" y="2971800"/>
            <a:ext cx="5842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item-2-num"/>
          <p:cNvSpPr txBox="1"/>
          <p:nvPr/>
        </p:nvSpPr>
        <p:spPr>
          <a:xfrm>
            <a:off x="508000" y="32004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2</a:t>
            </a:r>
            <a:endParaRPr lang="en-US" sz="2200" noProof="1"/>
          </a:p>
        </p:txBody>
      </p:sp>
      <p:sp>
        <p:nvSpPr>
          <p:cNvPr id="12" name="item-2-head"/>
          <p:cNvSpPr txBox="1"/>
          <p:nvPr/>
        </p:nvSpPr>
        <p:spPr>
          <a:xfrm>
            <a:off x="1066800" y="3200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TLB 统一：删除手工填充双路径</a:t>
            </a:r>
            <a:endParaRPr lang="en-US" sz="1700" noProof="1"/>
          </a:p>
        </p:txBody>
      </p:sp>
      <p:sp>
        <p:nvSpPr>
          <p:cNvPr id="13" name="item-2-body"/>
          <p:cNvSpPr txBox="1"/>
          <p:nvPr/>
        </p:nvSpPr>
        <p:spPr>
          <a:xfrm>
            <a:off x="1066800" y="35306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TLB 填充只保留一条统一路径，消除手工填充与自动填充并存带来的页别名隐患。</a:t>
            </a:r>
            <a:endParaRPr lang="en-US" sz="1300" noProof="1"/>
          </a:p>
        </p:txBody>
      </p:sp>
      <p:sp>
        <p:nvSpPr>
          <p:cNvPr id="14" name="item-div-2"/>
          <p:cNvSpPr/>
          <p:nvPr/>
        </p:nvSpPr>
        <p:spPr>
          <a:xfrm>
            <a:off x="1066800" y="4241800"/>
            <a:ext cx="5842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5" name="item-3-num"/>
          <p:cNvSpPr txBox="1"/>
          <p:nvPr/>
        </p:nvSpPr>
        <p:spPr>
          <a:xfrm>
            <a:off x="508000" y="44704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3</a:t>
            </a:r>
            <a:endParaRPr lang="en-US" sz="2200" noProof="1"/>
          </a:p>
        </p:txBody>
      </p:sp>
      <p:sp>
        <p:nvSpPr>
          <p:cNvPr id="16" name="item-3-head"/>
          <p:cNvSpPr txBox="1"/>
          <p:nvPr/>
        </p:nvSpPr>
        <p:spPr>
          <a:xfrm>
            <a:off x="1066800" y="44704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边界收敛：架构条件块全部下沉至 HAL</a:t>
            </a:r>
            <a:endParaRPr lang="en-US" sz="1700" noProof="1"/>
          </a:p>
        </p:txBody>
      </p:sp>
      <p:sp>
        <p:nvSpPr>
          <p:cNvPr id="17" name="item-3-body"/>
          <p:cNvSpPr txBox="1"/>
          <p:nvPr/>
        </p:nvSpPr>
        <p:spPr>
          <a:xfrm>
            <a:off x="1066800" y="48006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kernel/ 中 10 个架构条件块先归纳为 7 项 HAL 职责，再由 HAL 完整承接，内核侧清零，HAL 与内核完全正交。</a:t>
            </a:r>
            <a:endParaRPr lang="en-US" sz="1300" noProof="1"/>
          </a:p>
        </p:txBody>
      </p:sp>
      <p:sp>
        <p:nvSpPr>
          <p:cNvPr id="18" name="right-panel"/>
          <p:cNvSpPr/>
          <p:nvPr/>
        </p:nvSpPr>
        <p:spPr>
          <a:xfrm>
            <a:off x="7493000" y="1905000"/>
            <a:ext cx="4191000" cy="3708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19" name="right-h1"/>
          <p:cNvSpPr txBox="1"/>
          <p:nvPr/>
        </p:nvSpPr>
        <p:spPr>
          <a:xfrm>
            <a:off x="7797800" y="2133600"/>
            <a:ext cx="3581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kernel/ 架构条件块收敛</a:t>
            </a:r>
            <a:endParaRPr lang="en-US" sz="1700" noProof="1"/>
          </a:p>
        </p:txBody>
      </p:sp>
      <p:sp>
        <p:nvSpPr>
          <p:cNvPr id="20" name="bar-1"/>
          <p:cNvSpPr/>
          <p:nvPr/>
        </p:nvSpPr>
        <p:spPr>
          <a:xfrm>
            <a:off x="7797800" y="2590800"/>
            <a:ext cx="3048000" cy="3302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1" name="bar-1-label"/>
          <p:cNvSpPr txBox="1"/>
          <p:nvPr/>
        </p:nvSpPr>
        <p:spPr>
          <a:xfrm>
            <a:off x="7899400" y="2590800"/>
            <a:ext cx="2844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FFFFFF"/>
                </a:solidFill>
                <a:latin typeface="Liter" panose="02000503030000020004"/>
                <a:ea typeface="MiSans" charset="-122"/>
              </a:rPr>
              <a:t>10 个 · 收敛前</a:t>
            </a:r>
            <a:endParaRPr lang="en-US" sz="1500" noProof="1"/>
          </a:p>
        </p:txBody>
      </p:sp>
      <p:sp>
        <p:nvSpPr>
          <p:cNvPr id="22" name="bar-2"/>
          <p:cNvSpPr/>
          <p:nvPr/>
        </p:nvSpPr>
        <p:spPr>
          <a:xfrm>
            <a:off x="7797800" y="3124200"/>
            <a:ext cx="2133600" cy="330200"/>
          </a:xfrm>
          <a:prstGeom prst="rect">
            <a:avLst/>
          </a:prstGeom>
          <a:solidFill>
            <a:srgbClr val="001142"/>
          </a:solidFill>
          <a:ln>
            <a:noFill/>
          </a:ln>
        </p:spPr>
      </p:sp>
      <p:sp>
        <p:nvSpPr>
          <p:cNvPr id="23" name="bar-2-label"/>
          <p:cNvSpPr txBox="1"/>
          <p:nvPr/>
        </p:nvSpPr>
        <p:spPr>
          <a:xfrm>
            <a:off x="7899400" y="3124200"/>
            <a:ext cx="1930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FFFFFF"/>
                </a:solidFill>
                <a:latin typeface="Liter" panose="02000503030000020004"/>
                <a:ea typeface="MiSans" charset="-122"/>
              </a:rPr>
              <a:t>7 项 · 归为 HAL 职责</a:t>
            </a:r>
            <a:endParaRPr lang="en-US" sz="1500" noProof="1"/>
          </a:p>
        </p:txBody>
      </p:sp>
      <p:sp>
        <p:nvSpPr>
          <p:cNvPr id="24" name="bar-3"/>
          <p:cNvSpPr/>
          <p:nvPr/>
        </p:nvSpPr>
        <p:spPr>
          <a:xfrm>
            <a:off x="7797800" y="3657600"/>
            <a:ext cx="76200" cy="33020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25" name="bar-3-label"/>
          <p:cNvSpPr txBox="1"/>
          <p:nvPr/>
        </p:nvSpPr>
        <p:spPr>
          <a:xfrm>
            <a:off x="8026400" y="36576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 个 · 内核侧清零</a:t>
            </a:r>
            <a:endParaRPr lang="en-US" sz="1500" noProof="1"/>
          </a:p>
        </p:txBody>
      </p:sp>
      <p:sp>
        <p:nvSpPr>
          <p:cNvPr id="26" name="right-div"/>
          <p:cNvSpPr/>
          <p:nvPr/>
        </p:nvSpPr>
        <p:spPr>
          <a:xfrm>
            <a:off x="7797800" y="4241800"/>
            <a:ext cx="3581400" cy="9525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27" name="right-b1"/>
          <p:cNvSpPr txBox="1"/>
          <p:nvPr/>
        </p:nvSpPr>
        <p:spPr>
          <a:xfrm>
            <a:off x="7797800" y="4419600"/>
            <a:ext cx="358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noProof="1">
                <a:solidFill>
                  <a:srgbClr val="000000"/>
                </a:solidFill>
                <a:latin typeface="Liter" panose="02000503030000020004"/>
                <a:ea typeface="MiSans" charset="-122"/>
              </a:rPr>
              <a:t>条件块全部下沉后，内核不再感知架构差异；新增架构只需实现 HAL 接口，内核零改动。</a:t>
            </a:r>
            <a:endParaRPr lang="en-US" sz="1500" noProof="1"/>
          </a:p>
        </p:txBody>
      </p:sp>
      <p:sp>
        <p:nvSpPr>
          <p:cNvPr id="28" name="bottom-rule"/>
          <p:cNvSpPr/>
          <p:nvPr/>
        </p:nvSpPr>
        <p:spPr>
          <a:xfrm>
            <a:off x="508000" y="5943600"/>
            <a:ext cx="11176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29" name="bottom-conclusion"/>
          <p:cNvSpPr txBox="1"/>
          <p:nvPr/>
        </p:nvSpPr>
        <p:spPr>
          <a:xfrm>
            <a:off x="508000" y="609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30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05 / 06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508000" y="431800"/>
            <a:ext cx="1651000" cy="2794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3" name="rail-label"/>
          <p:cNvSpPr txBox="1"/>
          <p:nvPr/>
        </p:nvSpPr>
        <p:spPr>
          <a:xfrm>
            <a:off x="660400" y="431800"/>
            <a:ext cx="1498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1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06 · 联调成果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508000" y="838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ACC"/>
                </a:solidFill>
                <a:latin typeface="Liter" panose="02000503030000020004"/>
                <a:ea typeface="MiSans" charset="-122"/>
              </a:rPr>
              <a:t>双平台联调：RISC-V 与 LoongArch 全部测试一致通过</a:t>
            </a:r>
            <a:endParaRPr lang="en-US" sz="2000" noProof="1"/>
          </a:p>
        </p:txBody>
      </p:sp>
      <p:sp>
        <p:nvSpPr>
          <p:cNvPr id="5" name="subtitle"/>
          <p:cNvSpPr txBox="1"/>
          <p:nvPr/>
        </p:nvSpPr>
        <p:spPr>
          <a:xfrm>
            <a:off x="508000" y="12700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usertests · ext2test · fat32test，双平台结果逐项一致</a:t>
            </a:r>
            <a:endParaRPr lang="en-US" sz="1200" noProof="1"/>
          </a:p>
        </p:txBody>
      </p:sp>
      <p:sp>
        <p:nvSpPr>
          <p:cNvPr id="6" name="title-rule"/>
          <p:cNvSpPr/>
          <p:nvPr/>
        </p:nvSpPr>
        <p:spPr>
          <a:xfrm>
            <a:off x="508000" y="1600200"/>
            <a:ext cx="11176000" cy="1905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graphicFrame>
        <p:nvGraphicFramePr>
          <p:cNvPr id="7" name="result-table"/>
          <p:cNvGraphicFramePr>
            <a:graphicFrameLocks noGrp="1"/>
          </p:cNvGraphicFramePr>
          <p:nvPr/>
        </p:nvGraphicFramePr>
        <p:xfrm>
          <a:off x="508000" y="1930400"/>
          <a:ext cx="11176000" cy="2667000"/>
        </p:xfrm>
        <a:graphic>
          <a:graphicData uri="http://schemas.openxmlformats.org/drawingml/2006/table">
            <a:tbl>
              <a:tblPr/>
              <a:tblGrid>
                <a:gridCol w="3799840"/>
                <a:gridCol w="2458720"/>
                <a:gridCol w="2458720"/>
                <a:gridCol w="2458720"/>
              </a:tblGrid>
              <a:tr h="58674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测试套件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RISC-V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LoongArch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双平台一致性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07ACC"/>
                      </a:solidFill>
                    </a:lnB>
                    <a:noFill/>
                  </a:tcPr>
                </a:tc>
              </a:tr>
              <a:tr h="6934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usertests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一致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6934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ext2test（15 / 15）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一致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6934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600" b="1" noProof="1">
                          <a:solidFill>
                            <a:srgbClr val="001142"/>
                          </a:solidFill>
                          <a:latin typeface="Liter" panose="02000503030000020004"/>
                          <a:ea typeface="MiSans" charset="-122"/>
                        </a:rPr>
                        <a:t>fat32test（42 / 42）</a:t>
                      </a:r>
                      <a:endParaRPr lang="en-US" sz="1600" b="1" noProof="1">
                        <a:solidFill>
                          <a:srgbClr val="001142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b="1" noProof="1">
                          <a:solidFill>
                            <a:srgbClr val="1E8E3E"/>
                          </a:solidFill>
                          <a:latin typeface="Liter" panose="02000503030000020004"/>
                          <a:ea typeface="MiSans" charset="-122"/>
                        </a:rPr>
                        <a:t>● 通过</a:t>
                      </a:r>
                      <a:endParaRPr lang="en-US" sz="1600" b="1" noProof="1">
                        <a:solidFill>
                          <a:srgbClr val="1E8E3E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600" noProof="1">
                          <a:solidFill>
                            <a:srgbClr val="000000"/>
                          </a:solidFill>
                          <a:latin typeface="Liter" panose="02000503030000020004"/>
                          <a:ea typeface="MiSans" charset="-122"/>
                        </a:rPr>
                        <a:t>一致</a:t>
                      </a:r>
                      <a:endParaRPr lang="en-US" sz="1600" noProof="1">
                        <a:solidFill>
                          <a:srgbClr val="000000"/>
                        </a:solidFill>
                        <a:latin typeface="Liter" panose="02000503030000020004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able-note"/>
          <p:cNvSpPr txBox="1"/>
          <p:nvPr/>
        </p:nvSpPr>
        <p:spPr>
          <a:xfrm>
            <a:off x="508000" y="4749800"/>
            <a:ext cx="1117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注：三套测试均在 RISC-V 与 LoongArch 双平台完整运行，通过项数与失败项数逐项一致。</a:t>
            </a:r>
            <a:endParaRPr lang="en-US" sz="1300" noProof="1"/>
          </a:p>
        </p:txBody>
      </p:sp>
      <p:sp>
        <p:nvSpPr>
          <p:cNvPr id="9" name="summary-band"/>
          <p:cNvSpPr/>
          <p:nvPr/>
        </p:nvSpPr>
        <p:spPr>
          <a:xfrm>
            <a:off x="508000" y="5232400"/>
            <a:ext cx="11176000" cy="711200"/>
          </a:xfrm>
          <a:prstGeom prst="rect">
            <a:avLst/>
          </a:prstGeom>
          <a:solidFill>
            <a:srgbClr val="C2E6FF"/>
          </a:solidFill>
          <a:ln>
            <a:noFill/>
          </a:ln>
        </p:spPr>
      </p:sp>
      <p:sp>
        <p:nvSpPr>
          <p:cNvPr id="10" name="summary-accent"/>
          <p:cNvSpPr/>
          <p:nvPr/>
        </p:nvSpPr>
        <p:spPr>
          <a:xfrm>
            <a:off x="508000" y="5232400"/>
            <a:ext cx="50800" cy="711200"/>
          </a:xfrm>
          <a:prstGeom prst="rect">
            <a:avLst/>
          </a:prstGeom>
          <a:solidFill>
            <a:srgbClr val="007ACC"/>
          </a:solidFill>
          <a:ln>
            <a:noFill/>
          </a:ln>
        </p:spPr>
      </p:sp>
      <p:sp>
        <p:nvSpPr>
          <p:cNvPr id="11" name="summary-text"/>
          <p:cNvSpPr txBox="1"/>
          <p:nvPr/>
        </p:nvSpPr>
        <p:spPr>
          <a:xfrm>
            <a:off x="812800" y="5232400"/>
            <a:ext cx="10617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总结</a:t>
            </a:r>
            <a:r>
              <a:rPr lang="en-US" sz="1600" noProof="1">
                <a:solidFill>
                  <a:srgbClr val="001142"/>
                </a:solidFill>
                <a:latin typeface="Liter" panose="02000503030000020004"/>
                <a:ea typeface="MiSans" charset="-122"/>
              </a:rPr>
              <a:t>：FS 侧以最小改动实现三 FS 完整能力，HAL 侧架构重构让三 FS 在双平台稳定一致 —— 共同支撑「精巧教学 OS」赛题目标。</a:t>
            </a:r>
            <a:endParaRPr lang="en-US" sz="1600" noProof="1"/>
          </a:p>
        </p:txBody>
      </p:sp>
      <p:sp>
        <p:nvSpPr>
          <p:cNvPr id="12" name="page-num"/>
          <p:cNvSpPr txBox="1"/>
          <p:nvPr/>
        </p:nvSpPr>
        <p:spPr>
          <a:xfrm>
            <a:off x="508000" y="6527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595959"/>
                </a:solidFill>
                <a:latin typeface="Liter" panose="02000503030000020004"/>
                <a:ea typeface="MiSans" charset="-122"/>
              </a:rPr>
              <a:t>06 / 06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2230</Words>
  <Application>WPS 演示</Application>
  <PresentationFormat/>
  <Paragraphs>237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Liter</vt:lpstr>
      <vt:lpstr>MiSans</vt:lpstr>
      <vt:lpstr>微软雅黑</vt:lpstr>
      <vt:lpstr>Arial Unicode MS</vt:lpstr>
      <vt:lpstr>Calibri</vt:lpstr>
      <vt:lpstr>MS PGothic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代码项目阶段汇报</dc:title>
  <dc:creator/>
  <cp:lastModifiedBy>CQ</cp:lastModifiedBy>
  <cp:revision>2</cp:revision>
  <dcterms:created xsi:type="dcterms:W3CDTF">2026-08-11T13:02:01Z</dcterms:created>
  <dcterms:modified xsi:type="dcterms:W3CDTF">2026-08-11T13:02:39Z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0BBFB2ABAC4A42D6878567CFC65F2D04_12</vt:lpwstr>
  </property>
  <property fmtid="{D5CDD505-2E9C-101B-9397-08002B2CF9AE}" pid="4" name="KSOProductBuildVer">
    <vt:lpwstr>2052-12.1.0.28043</vt:lpwstr>
  </property>
</Properties>
</file>