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7" r:id="rId7"/>
    <p:sldId id="26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6256000" cy="9144000"/>
  <p:notesSz cx="9144000" cy="16256000"/>
  <p:embeddedFontLst>
    <p:embeddedFont>
      <p:font typeface="微软雅黑" panose="020B0503020204020204" charset="-122"/>
      <p:regular r:id="rId19"/>
    </p:embeddedFont>
    <p:embeddedFont>
      <p:font typeface="MiSans" pitchFamily="34" charset="-122"/>
      <p:regular r:id="rId20"/>
    </p:embeddedFont>
    <p:embeddedFont>
      <p:font typeface="MiSans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  <p:embeddedFont>
      <p:font typeface="等线" panose="02010600030101010101" charset="-122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84500"/>
            <a:ext cx="2540000" cy="381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3" name="Text 1"/>
          <p:cNvSpPr/>
          <p:nvPr/>
        </p:nvSpPr>
        <p:spPr>
          <a:xfrm>
            <a:off x="1143000" y="3276600"/>
            <a:ext cx="1397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kern="0" spc="100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xv6 多文件系统支持</a:t>
            </a:r>
            <a:endParaRPr lang="en-US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" y="4127500"/>
            <a:ext cx="1397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VFS + HAL 架构</a:t>
            </a:r>
            <a:endParaRPr lang="en-US" sz="2600" dirty="0">
              <a:solidFill>
                <a:srgbClr val="2D3A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0" y="4889500"/>
            <a:ext cx="2540000" cy="381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6" name="Shape 4"/>
          <p:cNvSpPr/>
          <p:nvPr/>
        </p:nvSpPr>
        <p:spPr>
          <a:xfrm>
            <a:off x="4318000" y="5486400"/>
            <a:ext cx="7620000" cy="12700"/>
          </a:xfrm>
          <a:prstGeom prst="rect">
            <a:avLst/>
          </a:prstGeom>
          <a:solidFill>
            <a:srgbClr val="D4D0CA"/>
          </a:solidFill>
        </p:spPr>
      </p:sp>
      <p:sp>
        <p:nvSpPr>
          <p:cNvPr id="7" name="Text 5"/>
          <p:cNvSpPr/>
          <p:nvPr/>
        </p:nvSpPr>
        <p:spPr>
          <a:xfrm>
            <a:off x="1143000" y="5740400"/>
            <a:ext cx="1397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全国大学生计算机系统能力大赛 · 操作系统功能挑战赛道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7874000"/>
            <a:ext cx="1397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8255000"/>
            <a:ext cx="1397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591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分支演进路线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7" name="Text 5"/>
          <p:cNvSpPr/>
          <p:nvPr/>
        </p:nvSpPr>
        <p:spPr>
          <a:xfrm>
            <a:off x="762000" y="1524000"/>
            <a:ext cx="609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vfs</a:t>
            </a:r>
            <a:r>
              <a:rPr lang="zh-CN" altLang="en-US" sz="24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（陈权）</a:t>
            </a:r>
            <a:endParaRPr lang="zh-CN" altLang="en-US" sz="2400" b="1" dirty="0">
              <a:solidFill>
                <a:srgbClr val="2D3A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98000" y="1524000"/>
            <a:ext cx="609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HAL（</a:t>
            </a:r>
            <a:r>
              <a:rPr lang="zh-CN" altLang="en-US" sz="24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杨子游</a:t>
            </a:r>
            <a:r>
              <a:rPr lang="en-US" sz="24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65580" y="1993900"/>
            <a:ext cx="4826000" cy="698500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7000" y="1968500"/>
            <a:ext cx="482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ext2 + VFS 实现</a:t>
            </a:r>
            <a:endParaRPr lang="en-US" sz="1800" dirty="0">
              <a:solidFill>
                <a:srgbClr val="1C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964420" y="2066290"/>
            <a:ext cx="4826000" cy="698500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33000" y="1968500"/>
            <a:ext cx="482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RISC-V / LoongArch 平台抽象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28000" y="2311400"/>
            <a:ext cx="0" cy="635000"/>
          </a:xfrm>
          <a:prstGeom prst="straightConnector1">
            <a:avLst/>
          </a:prstGeom>
          <a:noFill/>
          <a:ln w="254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128000" y="2311400"/>
            <a:ext cx="0" cy="635000"/>
          </a:xfrm>
          <a:prstGeom prst="straightConnector1">
            <a:avLst/>
          </a:prstGeom>
          <a:noFill/>
          <a:ln w="254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128000" y="2946400"/>
            <a:ext cx="0" cy="508000"/>
          </a:xfrm>
          <a:prstGeom prst="straightConnector1">
            <a:avLst/>
          </a:prstGeom>
          <a:noFill/>
          <a:ln w="25400">
            <a:solidFill>
              <a:srgbClr val="2D3A3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937000" y="3492500"/>
            <a:ext cx="8382000" cy="698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sp>
      <p:sp>
        <p:nvSpPr>
          <p:cNvPr id="17" name="Text 15"/>
          <p:cNvSpPr/>
          <p:nvPr/>
        </p:nvSpPr>
        <p:spPr>
          <a:xfrm>
            <a:off x="3937000" y="3492500"/>
            <a:ext cx="8382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integrate-vfs-hal</a:t>
            </a: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—  早期合并，打通双平台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28000" y="4191000"/>
            <a:ext cx="0" cy="508000"/>
          </a:xfrm>
          <a:prstGeom prst="straightConnector1">
            <a:avLst/>
          </a:prstGeom>
          <a:noFill/>
          <a:ln w="25400">
            <a:solidFill>
              <a:srgbClr val="2D3A3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937000" y="4762500"/>
            <a:ext cx="8382000" cy="698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sp>
      <p:sp>
        <p:nvSpPr>
          <p:cNvPr id="20" name="Text 18"/>
          <p:cNvSpPr/>
          <p:nvPr/>
        </p:nvSpPr>
        <p:spPr>
          <a:xfrm>
            <a:off x="3937000" y="4762500"/>
            <a:ext cx="8382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merge-vfs-hal</a:t>
            </a: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—  RISC-V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loongarch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双平台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28000" y="5461000"/>
            <a:ext cx="0" cy="508000"/>
          </a:xfrm>
          <a:prstGeom prst="straightConnector1">
            <a:avLst/>
          </a:prstGeom>
          <a:noFill/>
          <a:ln w="25400">
            <a:solidFill>
              <a:srgbClr val="B85450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937000" y="6032500"/>
            <a:ext cx="8382000" cy="698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sp>
      <p:sp>
        <p:nvSpPr>
          <p:cNvPr id="23" name="Text 21"/>
          <p:cNvSpPr/>
          <p:nvPr/>
        </p:nvSpPr>
        <p:spPr>
          <a:xfrm>
            <a:off x="3937000" y="6032500"/>
            <a:ext cx="8382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final-submission</a:t>
            </a: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—  + FAT32 框架，面向最终提交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339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VFS + HAL 架构设计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7" name="Text 5"/>
          <p:cNvSpPr/>
          <p:nvPr/>
        </p:nvSpPr>
        <p:spPr>
          <a:xfrm>
            <a:off x="2286000" y="1498600"/>
            <a:ext cx="11684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用户态 </a:t>
            </a:r>
            <a:r>
              <a:rPr lang="en-US" sz="1800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7A8B8B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(syscall: open/read/write/...)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128000" y="1879600"/>
            <a:ext cx="0" cy="279400"/>
          </a:xfrm>
          <a:prstGeom prst="straightConnector1">
            <a:avLst/>
          </a:prstGeom>
          <a:noFill/>
          <a:ln w="254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048000" y="2222500"/>
            <a:ext cx="10160000" cy="7874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10" name="Text 8"/>
          <p:cNvSpPr/>
          <p:nvPr/>
        </p:nvSpPr>
        <p:spPr>
          <a:xfrm>
            <a:off x="3048000" y="2222500"/>
            <a:ext cx="10160000" cy="787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VFS</a:t>
            </a:r>
            <a:r>
              <a:rPr 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vnode_ops (14个) + vfs_ops (mount/unmount/root)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8000" y="3048000"/>
            <a:ext cx="0" cy="279400"/>
          </a:xfrm>
          <a:prstGeom prst="straightConnector1">
            <a:avLst/>
          </a:prstGeom>
          <a:noFill/>
          <a:ln w="254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270000" y="3390900"/>
            <a:ext cx="3556000" cy="660400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0000" y="33909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xv6fs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0000" y="3390900"/>
            <a:ext cx="3556000" cy="660400"/>
          </a:xfrm>
          <a:prstGeom prst="rect">
            <a:avLst/>
          </a:prstGeom>
          <a:solidFill>
            <a:srgbClr val="EDECE8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0000" y="33909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ext2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430000" y="3378200"/>
            <a:ext cx="3556000" cy="660400"/>
          </a:xfrm>
          <a:prstGeom prst="rect">
            <a:avLst/>
          </a:prstGeom>
          <a:solidFill>
            <a:srgbClr val="EDECE8"/>
          </a:solidFill>
          <a:ln w="12700">
            <a:solidFill>
              <a:srgbClr val="C49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0" y="33909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fat32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8000" y="4102100"/>
            <a:ext cx="1016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各文件系统独立实现 vnode_ops 接口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48000" y="4419600"/>
            <a:ext cx="0" cy="279400"/>
          </a:xfrm>
          <a:prstGeom prst="straightConnector1">
            <a:avLst/>
          </a:prstGeom>
          <a:noFill/>
          <a:ln w="127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128000" y="4419600"/>
            <a:ext cx="0" cy="279400"/>
          </a:xfrm>
          <a:prstGeom prst="straightConnector1">
            <a:avLst/>
          </a:prstGeom>
          <a:noFill/>
          <a:ln w="127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3208000" y="4419600"/>
            <a:ext cx="0" cy="279400"/>
          </a:xfrm>
          <a:prstGeom prst="straightConnector1">
            <a:avLst/>
          </a:prstGeom>
          <a:noFill/>
          <a:ln w="127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048000" y="4762500"/>
            <a:ext cx="10160000" cy="660400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8000" y="4762500"/>
            <a:ext cx="10160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7A8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统一磁盘驱动层  </a:t>
            </a:r>
            <a:r>
              <a:rPr lang="en-US" sz="1400" dirty="0">
                <a:solidFill>
                  <a:srgbClr val="7A8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(bdev_read / bdev_write)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28000" y="5461000"/>
            <a:ext cx="0" cy="279400"/>
          </a:xfrm>
          <a:prstGeom prst="straightConnector1">
            <a:avLst/>
          </a:prstGeom>
          <a:noFill/>
          <a:ln w="25400">
            <a:solidFill>
              <a:srgbClr val="7A8B8B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048000" y="5803900"/>
            <a:ext cx="10160000" cy="6604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26" name="Text 24"/>
          <p:cNvSpPr/>
          <p:nvPr/>
        </p:nvSpPr>
        <p:spPr>
          <a:xfrm>
            <a:off x="3048000" y="5803900"/>
            <a:ext cx="10160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</a:t>
            </a: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AL</a:t>
            </a:r>
            <a:r>
              <a:rPr 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  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virtio (RISC-V) / ramdisk (LoongArch)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339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 架构设计--</a:t>
            </a:r>
            <a:r>
              <a:rPr lang="zh-CN" alt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三层</a:t>
            </a:r>
            <a:r>
              <a:rPr lang="zh-CN" alt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架构</a:t>
            </a:r>
            <a:endParaRPr lang="zh-CN" altLang="en-US" sz="2800" b="1" dirty="0">
              <a:solidFill>
                <a:srgbClr val="2D3A3A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7" name="Text 5"/>
          <p:cNvSpPr/>
          <p:nvPr/>
        </p:nvSpPr>
        <p:spPr>
          <a:xfrm>
            <a:off x="2286000" y="1498600"/>
            <a:ext cx="11684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48000" y="2222500"/>
            <a:ext cx="10160000" cy="787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30353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0000" y="33909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0" y="33909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8000" y="4102100"/>
            <a:ext cx="1016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48000" y="4762500"/>
            <a:ext cx="10160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48000" y="5803900"/>
            <a:ext cx="10160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10</a:t>
            </a:r>
            <a:endParaRPr lang="en-US" sz="1200" dirty="0"/>
          </a:p>
        </p:txBody>
      </p:sp>
      <p:sp>
        <p:nvSpPr>
          <p:cNvPr id="8" name="Rounded Rectangle 6"/>
          <p:cNvSpPr/>
          <p:nvPr/>
        </p:nvSpPr>
        <p:spPr>
          <a:xfrm>
            <a:off x="1371600" y="1645920"/>
            <a:ext cx="13258800" cy="1645920"/>
          </a:xfrm>
          <a:prstGeom prst="roundRect">
            <a:avLst/>
          </a:prstGeom>
          <a:solidFill>
            <a:srgbClr val="F2F4F4"/>
          </a:solidFill>
          <a:ln w="6350">
            <a:solidFill>
              <a:srgbClr val="D0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" name="TextBox 7"/>
          <p:cNvSpPr txBox="1"/>
          <p:nvPr/>
        </p:nvSpPr>
        <p:spPr>
          <a:xfrm>
            <a:off x="1693545" y="1783080"/>
            <a:ext cx="12479655" cy="14446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lang="en-US" sz="2400" b="1">
                <a:solidFill>
                  <a:srgbClr val="2D3A3A"/>
                </a:solidFill>
                <a:latin typeface="微软雅黑" panose="020B0503020204020204" charset="-122"/>
              </a:rPr>
              <a:t> </a:t>
            </a:r>
            <a:r>
              <a:rPr sz="2400" b="1">
                <a:solidFill>
                  <a:srgbClr val="2D3A3A"/>
                </a:solidFill>
                <a:latin typeface="微软雅黑" panose="020B0503020204020204" charset="-122"/>
              </a:rPr>
              <a:t>顶层 · kernel/</a:t>
            </a:r>
            <a:endParaRPr sz="2400" b="1">
              <a:solidFill>
                <a:srgbClr val="2D3A3A"/>
              </a:solidFill>
              <a:latin typeface="微软雅黑" panose="020B0503020204020204" charset="-122"/>
            </a:endParaRPr>
          </a:p>
          <a:p>
            <a:endParaRPr sz="2400" b="1">
              <a:solidFill>
                <a:srgbClr val="2D3A3A"/>
              </a:solidFill>
              <a:latin typeface="微软雅黑" panose="020B0503020204020204" charset="-122"/>
            </a:endParaRPr>
          </a:p>
          <a:p>
            <a:r>
              <a:rPr sz="2000">
                <a:solidFill>
                  <a:srgbClr val="1C1E1E"/>
                </a:solidFill>
                <a:latin typeface="微软雅黑" panose="020B0503020204020204" charset="-122"/>
                <a:sym typeface="+mn-ea"/>
              </a:rPr>
              <a:t>只调用 hal_* 前缀接口</a:t>
            </a:r>
            <a:r>
              <a:rPr lang="zh-CN" sz="2000">
                <a:solidFill>
                  <a:srgbClr val="1C1E1E"/>
                </a:solidFill>
                <a:latin typeface="微软雅黑" panose="020B0503020204020204" charset="-122"/>
                <a:sym typeface="+mn-ea"/>
              </a:rPr>
              <a:t>，</a:t>
            </a:r>
            <a:r>
              <a:rPr sz="2000">
                <a:solidFill>
                  <a:srgbClr val="1C1E1E"/>
                </a:solidFill>
                <a:latin typeface="微软雅黑" panose="020B0503020204020204" charset="-122"/>
                <a:sym typeface="+mn-ea"/>
              </a:rPr>
              <a:t>不知道运行在哪个架构上</a:t>
            </a:r>
            <a:endParaRPr sz="2400" b="0">
              <a:solidFill>
                <a:srgbClr val="1C1E1E"/>
              </a:solidFill>
              <a:latin typeface="微软雅黑" panose="020B0503020204020204" charset="-122"/>
            </a:endParaRPr>
          </a:p>
          <a:p>
            <a:endParaRPr sz="2400" b="1">
              <a:solidFill>
                <a:srgbClr val="2D3A3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1371600" y="3657600"/>
            <a:ext cx="13258800" cy="1645920"/>
          </a:xfrm>
          <a:prstGeom prst="roundRect">
            <a:avLst/>
          </a:prstGeom>
          <a:solidFill>
            <a:srgbClr val="F2F4F4"/>
          </a:solidFill>
          <a:ln w="6350">
            <a:solidFill>
              <a:srgbClr val="D0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TextBox 10"/>
          <p:cNvSpPr txBox="1"/>
          <p:nvPr/>
        </p:nvSpPr>
        <p:spPr>
          <a:xfrm>
            <a:off x="1630680" y="3794760"/>
            <a:ext cx="12542520" cy="14090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lang="en-US" sz="2400" b="1">
                <a:solidFill>
                  <a:srgbClr val="3A6B8C"/>
                </a:solidFill>
                <a:latin typeface="微软雅黑" panose="020B0503020204020204" charset="-122"/>
              </a:rPr>
              <a:t> </a:t>
            </a:r>
            <a:r>
              <a:rPr sz="2400" b="1">
                <a:solidFill>
                  <a:srgbClr val="3A6B8C"/>
                </a:solidFill>
                <a:latin typeface="微软雅黑" panose="020B0503020204020204" charset="-122"/>
              </a:rPr>
              <a:t>中层 · hal/hal_*.h</a:t>
            </a:r>
            <a:endParaRPr sz="2400" b="1">
              <a:solidFill>
                <a:srgbClr val="3A6B8C"/>
              </a:solidFill>
              <a:latin typeface="微软雅黑" panose="020B0503020204020204" charset="-122"/>
            </a:endParaRPr>
          </a:p>
          <a:p>
            <a:endParaRPr sz="2400" b="1">
              <a:solidFill>
                <a:srgbClr val="3A6B8C"/>
              </a:solidFill>
              <a:latin typeface="微软雅黑" panose="020B0503020204020204" charset="-122"/>
            </a:endParaRPr>
          </a:p>
          <a:p>
            <a:r>
              <a:rPr sz="2000">
                <a:solidFill>
                  <a:srgbClr val="1C1E1E"/>
                </a:solidFill>
                <a:latin typeface="微软雅黑" panose="020B0503020204020204" charset="-122"/>
                <a:sym typeface="+mn-ea"/>
              </a:rPr>
              <a:t>7 个统一接口声明文件
hal_arch / hal_vm / hal_intr / hal_timer / hal_console / hal_ctx / hal_memlayout</a:t>
            </a:r>
            <a:endParaRPr sz="2000" b="0">
              <a:solidFill>
                <a:srgbClr val="1C1E1E"/>
              </a:solidFill>
              <a:latin typeface="微软雅黑" panose="020B0503020204020204" charset="-122"/>
            </a:endParaRPr>
          </a:p>
          <a:p>
            <a:endParaRPr sz="2000" b="1">
              <a:solidFill>
                <a:srgbClr val="3A6B8C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1371600" y="5669280"/>
            <a:ext cx="13258800" cy="1971675"/>
          </a:xfrm>
          <a:prstGeom prst="roundRect">
            <a:avLst/>
          </a:prstGeom>
          <a:solidFill>
            <a:srgbClr val="F2F4F4"/>
          </a:solidFill>
          <a:ln w="6350">
            <a:solidFill>
              <a:srgbClr val="D0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TextBox 13"/>
          <p:cNvSpPr txBox="1"/>
          <p:nvPr/>
        </p:nvSpPr>
        <p:spPr>
          <a:xfrm>
            <a:off x="1828800" y="5806440"/>
            <a:ext cx="12344400" cy="128397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sz="2400" b="1">
                <a:solidFill>
                  <a:srgbClr val="4A8C6F"/>
                </a:solidFill>
                <a:latin typeface="微软雅黑" panose="020B0503020204020204" charset="-122"/>
              </a:rPr>
              <a:t>底层 · hal/riscv/ + hal/loongarch/</a:t>
            </a:r>
            <a:endParaRPr sz="2400" b="1">
              <a:solidFill>
                <a:srgbClr val="4A8C6F"/>
              </a:solidFill>
              <a:latin typeface="微软雅黑" panose="020B0503020204020204" charset="-122"/>
            </a:endParaRPr>
          </a:p>
          <a:p>
            <a:endParaRPr sz="2400" b="1">
              <a:solidFill>
                <a:srgbClr val="4A8C6F"/>
              </a:solidFill>
              <a:latin typeface="微软雅黑" panose="020B0503020204020204" charset="-122"/>
            </a:endParaRPr>
          </a:p>
          <a:p>
            <a:r>
              <a:rPr sz="2000">
                <a:solidFill>
                  <a:srgbClr val="1C1E1E"/>
                </a:solidFill>
                <a:latin typeface="微软雅黑" panose="020B0503020204020204" charset="-122"/>
                <a:sym typeface="+mn-ea"/>
              </a:rPr>
              <a:t>每个架构独立实现所有 hal_* 函数
• RISC-V: 11 个文件, ~1460 行
• LoongArch: 13 个文件, ~1380 行</a:t>
            </a:r>
            <a:endParaRPr sz="2000" b="0">
              <a:solidFill>
                <a:srgbClr val="1C1E1E"/>
              </a:solidFill>
              <a:latin typeface="微软雅黑" panose="020B0503020204020204" charset="-122"/>
            </a:endParaRPr>
          </a:p>
          <a:p>
            <a:endParaRPr sz="2000" b="1">
              <a:solidFill>
                <a:srgbClr val="4A8C6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1371600" y="7863840"/>
            <a:ext cx="1325880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sz="2000" b="0">
                <a:solidFill>
                  <a:srgbClr val="7A8B8B"/>
                </a:solidFill>
                <a:latin typeface="Quattrocento Sans"/>
              </a:rPr>
              <a:t>核心原则：只有 7 个文件需要 ARCH 条件编译，其余 20+ 个内核文件完全平台无关</a:t>
            </a:r>
            <a:endParaRPr sz="2000" b="0">
              <a:solidFill>
                <a:srgbClr val="7A8B8B"/>
              </a:solidFill>
              <a:latin typeface="Quattrocento Sans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339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Riscv架</a:t>
            </a:r>
            <a:r>
              <a:rPr lang="zh-CN" alt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构</a:t>
            </a:r>
            <a:r>
              <a:rPr lang="en-US" altLang="zh-CN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vs Loongarch</a:t>
            </a:r>
            <a:r>
              <a:rPr lang="zh-CN" alt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架构</a:t>
            </a:r>
            <a:endParaRPr lang="zh-CN" altLang="en-US" sz="2800" b="1" dirty="0">
              <a:solidFill>
                <a:srgbClr val="2D3A3A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3048000" y="2222500"/>
            <a:ext cx="10160000" cy="787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30353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0000" y="33909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0" y="3390900"/>
            <a:ext cx="3556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8000" y="4102100"/>
            <a:ext cx="1016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48000" y="4762500"/>
            <a:ext cx="10160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48000" y="5803900"/>
            <a:ext cx="10160000" cy="660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10</a:t>
            </a:r>
            <a:endParaRPr lang="en-US" sz="1200" dirty="0"/>
          </a:p>
        </p:txBody>
      </p:sp>
      <p:graphicFrame>
        <p:nvGraphicFramePr>
          <p:cNvPr id="20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5800" y="1478280"/>
          <a:ext cx="14829155" cy="608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665"/>
                <a:gridCol w="5097145"/>
                <a:gridCol w="6951345"/>
              </a:tblGrid>
              <a:tr h="507365"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差异维度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42E2E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RISC-V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42E2E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LoongArch 实现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42E2E"/>
                    </a:solidFill>
                  </a:tcPr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特权级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M/S/U 三级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PLV0/PLV3 两级，无M态，start()极简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页表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Sv39 三级，硬件自动walk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LA64 四级 + 软件TLB重填 (hal_tlbrefill.S 72行)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异常返回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sret / mret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ertn 统一指令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CSR指令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csrr/csrw/csrci/csrsi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csrrd/csrwr/csrxchg — 所有内联重写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异常码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scause直接可用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estat_to_scause()转换: ADE(8)≠syscall(8)!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中断控制器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PLIC MMIO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EIOINTC MMIO — hal_intr.c完全重写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定时器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CLINT + stimecmp CSR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TCFG/TVAL纯CSR定时器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块设备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MMIO virtio @0x10001000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RAM-disk (objcopy嵌入) — 无PCI virtio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callee-saved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14个 (ra,sp,s0-s11)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12个 (ra,sp,fp,s0-s8) — hal_ctx.h条件编译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PTE PPN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连续 [53:10]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分两段! PTE[59:12] + PTE[11:7] — PA2PTE/PTE2PA重写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4F4"/>
                    </a:solidFill>
                  </a:tcPr>
                </a:tc>
              </a:tr>
              <a:tr h="507365"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用户链接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从 0x0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1C1E1E"/>
                          </a:solidFill>
                          <a:latin typeface="微软雅黑" panose="020B0503020204020204" charset="-122"/>
                        </a:rPr>
                        <a:t>从 0x2000 — 跳过保护页</a:t>
                      </a:r>
                      <a:endParaRPr sz="1300">
                        <a:solidFill>
                          <a:srgbClr val="1C1E1E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层进展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7" name="Shape 5"/>
          <p:cNvSpPr/>
          <p:nvPr/>
        </p:nvSpPr>
        <p:spPr>
          <a:xfrm>
            <a:off x="762000" y="1524000"/>
            <a:ext cx="50800" cy="698500"/>
          </a:xfrm>
          <a:prstGeom prst="rect">
            <a:avLst/>
          </a:prstGeom>
          <a:solidFill>
            <a:srgbClr val="4A7C59"/>
          </a:solidFill>
        </p:spPr>
      </p:sp>
      <p:sp>
        <p:nvSpPr>
          <p:cNvPr id="8" name="Text 6"/>
          <p:cNvSpPr/>
          <p:nvPr/>
        </p:nvSpPr>
        <p:spPr>
          <a:xfrm>
            <a:off x="965200" y="15240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已完成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5200" y="1866900"/>
            <a:ext cx="14528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RISC-V plic + virtio-mmio、LoongArch intr + virtio + TLB refill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2540000"/>
            <a:ext cx="50800" cy="1016000"/>
          </a:xfrm>
          <a:prstGeom prst="rect">
            <a:avLst/>
          </a:prstGeom>
          <a:solidFill>
            <a:srgbClr val="4A7C59"/>
          </a:solidFill>
        </p:spPr>
      </p:sp>
      <p:sp>
        <p:nvSpPr>
          <p:cNvPr id="11" name="Text 9"/>
          <p:cNvSpPr/>
          <p:nvPr/>
        </p:nvSpPr>
        <p:spPr>
          <a:xfrm>
            <a:off x="965200" y="2540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RISC-V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5200" y="2882900"/>
            <a:ext cx="14528800" cy="673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C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多磁盘 virtio（3 disks）— 完整支持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873500"/>
            <a:ext cx="50800" cy="1016000"/>
          </a:xfrm>
          <a:prstGeom prst="rect">
            <a:avLst/>
          </a:prstGeom>
          <a:solidFill>
            <a:srgbClr val="C4903D"/>
          </a:solidFill>
        </p:spPr>
      </p:sp>
      <p:sp>
        <p:nvSpPr>
          <p:cNvPr id="14" name="Text 12"/>
          <p:cNvSpPr/>
          <p:nvPr/>
        </p:nvSpPr>
        <p:spPr>
          <a:xfrm>
            <a:off x="965200" y="38735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LoongArch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5200" y="4216400"/>
            <a:ext cx="14528800" cy="673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C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当前</a:t>
            </a:r>
            <a:r>
              <a:rPr lang="en-US" sz="18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单磁盘</a:t>
            </a:r>
            <a:r>
              <a:rPr lang="en-US" sz="1800" dirty="0">
                <a:solidFill>
                  <a:srgbClr val="1C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（fs 镜像嵌入内核 ramdisk）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207000"/>
            <a:ext cx="50800" cy="1016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7" name="Text 15"/>
          <p:cNvSpPr/>
          <p:nvPr/>
        </p:nvSpPr>
        <p:spPr>
          <a:xfrm>
            <a:off x="965200" y="5207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待做</a:t>
            </a:r>
            <a:endParaRPr lang="en-US" sz="2000" b="1" dirty="0">
              <a:solidFill>
                <a:srgbClr val="2D3A3A"/>
              </a:solidFill>
              <a:latin typeface="微软雅黑" panose="020B0503020204020204" charset="-122"/>
              <a:ea typeface="微软雅黑" panose="020B0503020204020204" charset="-122"/>
              <a:cs typeface="Liter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5200" y="5549900"/>
            <a:ext cx="14528800" cy="673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LoongArch 多磁盘 virtio 支持</a:t>
            </a:r>
            <a:endParaRPr lang="en-US" sz="1800" dirty="0">
              <a:solidFill>
                <a:srgbClr val="1C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6604000"/>
            <a:ext cx="14732000" cy="12700"/>
          </a:xfrm>
          <a:prstGeom prst="rect">
            <a:avLst/>
          </a:prstGeom>
          <a:solidFill>
            <a:srgbClr val="D4D0CA"/>
          </a:solidFill>
        </p:spPr>
      </p:sp>
      <p:sp>
        <p:nvSpPr>
          <p:cNvPr id="20" name="Text 18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7A8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HAL 层负责硬件抽象，为上层文件系统提供统一的块设备接口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7A8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RISC-V 平台已完全打通多磁盘，LoongArch 是当前瓶颈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581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ext2 — </a:t>
            </a:r>
            <a:r>
              <a:rPr lang="zh-CN" altLang="en-US" sz="2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</a:t>
            </a:r>
            <a:r>
              <a:rPr lang="en-US" sz="2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7" name="Text 5"/>
          <p:cNvSpPr/>
          <p:nvPr/>
        </p:nvSpPr>
        <p:spPr>
          <a:xfrm>
            <a:off x="762000" y="1460500"/>
            <a:ext cx="685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vnode_ops 实现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6858000" cy="1168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lookup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read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write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stat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readdir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create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unlink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mkdir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link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mknod　</a:t>
            </a:r>
            <a:r>
              <a:rPr lang="en-US" sz="24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truncate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4826000"/>
            <a:ext cx="685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磁盘模型（权宜之计）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5270500"/>
            <a:ext cx="68580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 ext2.img &gt;&gt; fs.img → 同一 disk0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FSSIZE 偏移寻址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保证双平台正常工作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8000" y="1460500"/>
            <a:ext cx="7366000" cy="5016500"/>
          </a:xfrm>
          <a:prstGeom prst="rect">
            <a:avLst/>
          </a:prstGeom>
          <a:solidFill>
            <a:srgbClr val="EDECE8"/>
          </a:solidFill>
        </p:spPr>
      </p:sp>
      <p:sp>
        <p:nvSpPr>
          <p:cNvPr id="12" name="Text 10"/>
          <p:cNvSpPr/>
          <p:nvPr/>
        </p:nvSpPr>
        <p:spPr>
          <a:xfrm>
            <a:off x="8382000" y="1587500"/>
            <a:ext cx="685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测试状态</a:t>
            </a:r>
            <a:r>
              <a:rPr lang="zh-CN" altLang="en-US" sz="20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（自建测试）</a:t>
            </a:r>
            <a:endParaRPr lang="zh-CN" altLang="en-US" sz="2000" b="1" dirty="0">
              <a:solidFill>
                <a:srgbClr val="2D3A3A"/>
              </a:solidFill>
              <a:latin typeface="微软雅黑" panose="020B0503020204020204" charset="-122"/>
              <a:ea typeface="微软雅黑" panose="020B0503020204020204" charset="-122"/>
              <a:cs typeface="Liter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82000" y="2133600"/>
            <a:ext cx="2286000" cy="457200"/>
          </a:xfrm>
          <a:prstGeom prst="rect">
            <a:avLst/>
          </a:prstGeom>
          <a:solidFill>
            <a:srgbClr val="4A7C59"/>
          </a:solidFill>
        </p:spPr>
      </p:sp>
      <p:sp>
        <p:nvSpPr>
          <p:cNvPr id="14" name="Text 12"/>
          <p:cNvSpPr/>
          <p:nvPr/>
        </p:nvSpPr>
        <p:spPr>
          <a:xfrm>
            <a:off x="8382000" y="2133600"/>
            <a:ext cx="228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/ 15 通过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4685" y="3098800"/>
            <a:ext cx="685800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9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●</a:t>
            </a:r>
            <a:r>
              <a:rPr lang="en-US" sz="16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L1: mount / umount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en-US" sz="16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L2: create / lookup / read / write / mkdir / unlink / link / mknod / stat / truncate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en-US" sz="16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L3: namei 路径遍历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4A7C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en-US" sz="16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L4: concurrent-write / unlink-while-open / large-file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2202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FAT32 — 基础完成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7" name="Text 5"/>
          <p:cNvSpPr/>
          <p:nvPr/>
        </p:nvSpPr>
        <p:spPr>
          <a:xfrm>
            <a:off x="762000" y="1460500"/>
            <a:ext cx="685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Liter" pitchFamily="34" charset="-120"/>
              </a:rPr>
              <a:t>已实现功能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6858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4A7C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全部 vnode_ops: lookup/read/write/stat/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1C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 readdir/create/mkdir/unlink/truncate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4A7C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短 8.3 文件名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4A7C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400" dirty="0">
                <a:solidFill>
                  <a:srgbClr val="1C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FAT 链管理、扇区→块映射 (sread/swrite)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000" y="4318000"/>
            <a:ext cx="685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磁盘模型</a:t>
            </a:r>
            <a:endParaRPr lang="en-US" sz="2400" b="1" dirty="0">
              <a:solidFill>
                <a:srgbClr val="2D3A3A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4762500"/>
            <a:ext cx="6858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独立磁盘（dev=3，fat32.img）</a:t>
            </a:r>
            <a:endParaRPr lang="en-US" sz="1600" dirty="0"/>
          </a:p>
          <a:p>
            <a:pPr algn="l">
              <a:lnSpc>
                <a:spcPct val="16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1460500"/>
            <a:ext cx="7366000" cy="4445000"/>
          </a:xfrm>
          <a:prstGeom prst="rect">
            <a:avLst/>
          </a:prstGeom>
          <a:solidFill>
            <a:srgbClr val="EDECE8"/>
          </a:solidFill>
        </p:spPr>
      </p:sp>
      <p:sp>
        <p:nvSpPr>
          <p:cNvPr id="12" name="Text 10"/>
          <p:cNvSpPr/>
          <p:nvPr/>
        </p:nvSpPr>
        <p:spPr>
          <a:xfrm>
            <a:off x="8382000" y="1587500"/>
            <a:ext cx="685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待完善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82000" y="2159000"/>
            <a:ext cx="6858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490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C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完整测试套件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490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C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长文件名支持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3683000"/>
            <a:ext cx="6858000" cy="12700"/>
          </a:xfrm>
          <a:prstGeom prst="rect">
            <a:avLst/>
          </a:prstGeom>
          <a:solidFill>
            <a:srgbClr val="D4D0CA"/>
          </a:solidFill>
        </p:spPr>
      </p:sp>
      <p:sp>
        <p:nvSpPr>
          <p:cNvPr id="15" name="Text 13"/>
          <p:cNvSpPr/>
          <p:nvPr/>
        </p:nvSpPr>
        <p:spPr>
          <a:xfrm>
            <a:off x="8382000" y="3873500"/>
            <a:ext cx="6858000" cy="171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7950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磁盘模型问题与规划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762000" y="1397000"/>
          <a:ext cx="14732000" cy="3937000"/>
        </p:xfrm>
        <a:graphic>
          <a:graphicData uri="http://schemas.openxmlformats.org/drawingml/2006/table">
            <a:tbl>
              <a:tblPr/>
              <a:tblGrid>
                <a:gridCol w="2651760"/>
                <a:gridCol w="5598160"/>
                <a:gridCol w="5598160"/>
                <a:gridCol w="883920"/>
              </a:tblGrid>
              <a:tr h="6299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模块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当前（权宜之计）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最终目标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</a:tr>
              <a:tr h="8267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ext2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拼接到 fs.img 尾部（disk0）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独立磁盘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，去掉 FSSIZE 偏移</a:t>
                      </a:r>
                      <a:endParaRPr lang="en-US"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54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⚠</a:t>
                      </a:r>
                      <a:endParaRPr lang="en-US" sz="1600" dirty="0">
                        <a:solidFill>
                          <a:srgbClr val="B854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67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FAT32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独立磁盘 ✓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保持不变 ✓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solidFill>
                          <a:srgbClr val="4A7C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8267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LoongArch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单磁盘 ramdisk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多磁盘 virtio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，与 RISC-V 统一</a:t>
                      </a:r>
                      <a:endParaRPr lang="en-US"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54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⚠</a:t>
                      </a:r>
                      <a:endParaRPr lang="en-US" sz="1600" dirty="0">
                        <a:solidFill>
                          <a:srgbClr val="B854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67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磁盘驱动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 FS 直接调 bread/bwrite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统一磁盘驱动抽象层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54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⚠</a:t>
                      </a:r>
                      <a:endParaRPr lang="en-US" sz="1600" dirty="0">
                        <a:solidFill>
                          <a:srgbClr val="B854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762000" y="5651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后续核心工作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000" y="6096000"/>
            <a:ext cx="14732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</a:t>
            </a: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统一磁盘驱动层（所有 FS 通过 </a:t>
            </a: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bdev_read/bdev_write 访问）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854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去掉 ext2 的 FSSIZE 偏移，改为独立磁盘挂载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854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LoongArch 多磁盘 virtio 适配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854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删掉 </a:t>
            </a:r>
            <a:r>
              <a:rPr lang="en-US" sz="1800" dirty="0">
                <a:solidFill>
                  <a:srgbClr val="1C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 ext2.img &gt;&gt; fs.img 拼接逻辑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571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跨平台适配状态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62000" y="1524000"/>
          <a:ext cx="14732000" cy="4699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6578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特性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RISC-V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LoongArch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</a:tr>
              <a:tr h="80822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VFS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822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ext2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通过比赛案例和</a:t>
                      </a:r>
                      <a:r>
                        <a:rPr lang="zh-CN" altLang="en-US" sz="1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自测</a:t>
                      </a:r>
                      <a:endParaRPr lang="zh-CN" alt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490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⚠️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需多磁盘后验证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80822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FAT32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框架完成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490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⚠️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需多磁盘后验证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822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多磁盘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 disks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❌ →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计划实现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80822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统一磁盘驱动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❌ →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计划实现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❌ →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计划实现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A8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LoongArch 平台的多磁盘支持是当前跨平台统一的关键瓶颈。一旦 HAL 层完成多磁盘 virtio，ext2 和 FAT32 的 LoongArch 适配将同步验证通过。</a:t>
            </a:r>
            <a:endParaRPr lang="en-US" sz="1600" dirty="0">
              <a:solidFill>
                <a:srgbClr val="7A8B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6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分支演进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HAL进展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ext2状态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FAT32状态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磁盘规划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成果总结</a:t>
            </a:r>
            <a:r>
              <a:rPr lang="en-US" sz="1400" dirty="0">
                <a:solidFill>
                  <a:srgbClr val="7A8B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·  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931900" y="469900"/>
            <a:ext cx="1016000" cy="25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当前成果总结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1684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587500"/>
          <a:ext cx="14483080" cy="4445000"/>
        </p:xfrm>
        <a:graphic>
          <a:graphicData uri="http://schemas.openxmlformats.org/drawingml/2006/table">
            <a:tbl>
              <a:tblPr/>
              <a:tblGrid>
                <a:gridCol w="9411335"/>
                <a:gridCol w="5071745"/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模块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状态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VFS 抽象层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✅ 完成</a:t>
                      </a:r>
                      <a:endParaRPr lang="en-US" sz="1600" dirty="0">
                        <a:solidFill>
                          <a:srgbClr val="4A7C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ext2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（完整实现 + 15/15 测试通过）</a:t>
                      </a:r>
                      <a:endParaRPr lang="en-US"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✅ 完成</a:t>
                      </a:r>
                      <a:endParaRPr lang="en-US" sz="1600" dirty="0">
                        <a:solidFill>
                          <a:srgbClr val="4A7C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FAT32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（框架 + 所有 vnode_ops）</a:t>
                      </a:r>
                      <a:endParaRPr lang="en-US"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490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✅ 基础完成</a:t>
                      </a:r>
                      <a:endParaRPr lang="en-US" sz="1600" dirty="0">
                        <a:solidFill>
                          <a:srgbClr val="C490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 — RISC-V 多磁盘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✅ 完成</a:t>
                      </a:r>
                      <a:endParaRPr lang="en-US" sz="1600" dirty="0">
                        <a:solidFill>
                          <a:srgbClr val="4A7C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 — LoongArch 单磁盘</a:t>
                      </a:r>
                      <a:endParaRPr lang="en-US" sz="1600" b="1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A7C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✅ 完成</a:t>
                      </a:r>
                      <a:endParaRPr lang="en-US" sz="1600" dirty="0">
                        <a:solidFill>
                          <a:srgbClr val="4A7C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6477000"/>
            <a:ext cx="14732000" cy="952500"/>
          </a:xfrm>
          <a:prstGeom prst="rect">
            <a:avLst/>
          </a:prstGeom>
          <a:solidFill>
            <a:srgbClr val="EDECE8"/>
          </a:solidFill>
        </p:spPr>
      </p:sp>
      <p:sp>
        <p:nvSpPr>
          <p:cNvPr id="9" name="Text 6"/>
          <p:cNvSpPr/>
          <p:nvPr/>
        </p:nvSpPr>
        <p:spPr>
          <a:xfrm>
            <a:off x="1016000" y="6477000"/>
            <a:ext cx="14224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文件系统核心功能（VFS + ext2 + FAT32 框架）已完整实现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当前瓶颈：</a:t>
            </a:r>
            <a:r>
              <a:rPr lang="en-US" sz="1800" b="1" dirty="0">
                <a:solidFill>
                  <a:srgbClr val="B854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LoongArch 多磁盘 virtio 支持</a:t>
            </a:r>
            <a:r>
              <a:rPr lang="en-US" sz="1800" dirty="0">
                <a:solidFill>
                  <a:srgbClr val="2D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en-US" sz="1800" b="1" dirty="0">
                <a:solidFill>
                  <a:srgbClr val="B854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统一磁盘驱动层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全国大学生计算机系统能力大赛 · 操作系统功能挑战赛道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后续计划与分工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04900"/>
            <a:ext cx="1016000" cy="25400"/>
          </a:xfrm>
          <a:prstGeom prst="rect">
            <a:avLst/>
          </a:prstGeom>
          <a:solidFill>
            <a:srgbClr val="B85450"/>
          </a:solidFill>
        </p:spPr>
      </p:sp>
      <p:graphicFrame>
        <p:nvGraphicFramePr>
          <p:cNvPr id="11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397000"/>
          <a:ext cx="14778990" cy="4017645"/>
        </p:xfrm>
        <a:graphic>
          <a:graphicData uri="http://schemas.openxmlformats.org/drawingml/2006/table">
            <a:tbl>
              <a:tblPr/>
              <a:tblGrid>
                <a:gridCol w="7578725"/>
                <a:gridCol w="3410585"/>
                <a:gridCol w="3789680"/>
              </a:tblGrid>
              <a:tr h="6108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任务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优先级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状态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3A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FAT32 </a:t>
                      </a:r>
                      <a:r>
                        <a:rPr lang="zh-CN" alt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完善与</a:t>
                      </a:r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lang="en-US"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4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高</a:t>
                      </a:r>
                      <a:endParaRPr lang="en-US" sz="1600" b="1" dirty="0">
                        <a:solidFill>
                          <a:srgbClr val="B854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490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待启动</a:t>
                      </a:r>
                      <a:endParaRPr lang="en-US" sz="1600" dirty="0">
                        <a:solidFill>
                          <a:srgbClr val="C490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统一磁盘驱动抽象层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4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高</a:t>
                      </a:r>
                      <a:endParaRPr lang="en-US" sz="1600" b="1" dirty="0">
                        <a:solidFill>
                          <a:srgbClr val="B854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490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待启动</a:t>
                      </a:r>
                      <a:endParaRPr lang="en-US" sz="1600" dirty="0">
                        <a:solidFill>
                          <a:srgbClr val="C490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ext2 改为独立磁盘（去 FSSIZE）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4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高</a:t>
                      </a:r>
                      <a:endParaRPr lang="en-US" sz="1600" b="1" dirty="0">
                        <a:solidFill>
                          <a:srgbClr val="B854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490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待启动</a:t>
                      </a:r>
                      <a:endParaRPr lang="en-US" sz="1600" dirty="0">
                        <a:solidFill>
                          <a:srgbClr val="C490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LoongArch 多磁盘 virtio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4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高</a:t>
                      </a:r>
                      <a:endParaRPr lang="en-US" sz="1600" b="1" dirty="0">
                        <a:solidFill>
                          <a:srgbClr val="B854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490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待启动</a:t>
                      </a:r>
                      <a:endParaRPr lang="en-US" sz="1600" dirty="0">
                        <a:solidFill>
                          <a:srgbClr val="C490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C1E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LoongArch 端到端 FS 测试</a:t>
                      </a:r>
                      <a:endParaRPr lang="en-US" sz="1600" dirty="0">
                        <a:solidFill>
                          <a:srgbClr val="1C1E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A8B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 Sans" pitchFamily="34" charset="-120"/>
                        </a:rPr>
                        <a:t>中</a:t>
                      </a:r>
                      <a:endParaRPr lang="en-US" sz="1600" dirty="0">
                        <a:solidFill>
                          <a:srgbClr val="7A8B8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 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A8B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依赖 HAL</a:t>
                      </a:r>
                      <a:endParaRPr lang="en-US" sz="1600" dirty="0">
                        <a:solidFill>
                          <a:srgbClr val="7A8B8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667500"/>
            <a:ext cx="14732000" cy="25400"/>
          </a:xfrm>
          <a:prstGeom prst="rect">
            <a:avLst/>
          </a:prstGeom>
          <a:solidFill>
            <a:srgbClr val="D4D0CA"/>
          </a:solidFill>
        </p:spPr>
      </p:sp>
      <p:sp>
        <p:nvSpPr>
          <p:cNvPr id="6" name="Shape 3"/>
          <p:cNvSpPr/>
          <p:nvPr/>
        </p:nvSpPr>
        <p:spPr>
          <a:xfrm>
            <a:off x="7810500" y="6604000"/>
            <a:ext cx="152400" cy="152400"/>
          </a:xfrm>
          <a:prstGeom prst="ellipse">
            <a:avLst/>
          </a:prstGeom>
          <a:solidFill>
            <a:srgbClr val="B85450"/>
          </a:solidFill>
        </p:spPr>
      </p:sp>
      <p:sp>
        <p:nvSpPr>
          <p:cNvPr id="7" name="Shape 4"/>
          <p:cNvSpPr/>
          <p:nvPr/>
        </p:nvSpPr>
        <p:spPr>
          <a:xfrm>
            <a:off x="3810000" y="6667500"/>
            <a:ext cx="3937000" cy="0"/>
          </a:xfrm>
          <a:prstGeom prst="straightConnector1">
            <a:avLst/>
          </a:prstGeom>
          <a:noFill/>
          <a:ln w="25400">
            <a:solidFill>
              <a:srgbClr val="7A8B8B"/>
            </a:solidFill>
            <a:prstDash val="solid"/>
            <a:headEnd type="arrow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8026400" y="6667500"/>
            <a:ext cx="3937000" cy="0"/>
          </a:xfrm>
          <a:prstGeom prst="straightConnector1">
            <a:avLst/>
          </a:prstGeom>
          <a:noFill/>
          <a:ln w="25400">
            <a:solidFill>
              <a:srgbClr val="B85450"/>
            </a:solidFill>
            <a:prstDash val="solid"/>
            <a:headEnd type="none"/>
            <a:tailEnd type="arrow"/>
          </a:ln>
        </p:spPr>
      </p:sp>
      <p:sp>
        <p:nvSpPr>
          <p:cNvPr id="9" name="Text 6"/>
          <p:cNvSpPr/>
          <p:nvPr/>
        </p:nvSpPr>
        <p:spPr>
          <a:xfrm>
            <a:off x="2540000" y="69215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当前状态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76000" y="69215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final-submission</a:t>
            </a:r>
            <a:endParaRPr lang="en-US" sz="1400" dirty="0"/>
          </a:p>
        </p:txBody>
      </p:sp>
      <p:sp>
        <p:nvSpPr>
          <p:cNvPr id="4" name="Text 8"/>
          <p:cNvSpPr/>
          <p:nvPr/>
        </p:nvSpPr>
        <p:spPr>
          <a:xfrm>
            <a:off x="5588000" y="69215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</a:t>
            </a:r>
            <a:r>
              <a:rPr lang="en-US" sz="1400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final-submission</a:t>
            </a:r>
            <a:r>
              <a:rPr lang="en-US" sz="1400" dirty="0">
                <a:solidFill>
                  <a:srgbClr val="2D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分支最终交付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970000" y="87376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TABLE_ENDDRAG_ORIGIN_RECT" val="1167*438"/>
  <p:tag name="TABLE_ENDDRAG_RECT" val="54*116*1167*438"/>
</p:tagLst>
</file>

<file path=ppt/tags/tag2.xml><?xml version="1.0" encoding="utf-8"?>
<p:tagLst xmlns:p="http://schemas.openxmlformats.org/presentationml/2006/main">
  <p:tag name="TABLE_ENDDRAG_ORIGIN_RECT" val="1140*350"/>
  <p:tag name="TABLE_ENDDRAG_RECT" val="60*125*1140*350"/>
</p:tagLst>
</file>

<file path=ppt/tags/tag3.xml><?xml version="1.0" encoding="utf-8"?>
<p:tagLst xmlns:p="http://schemas.openxmlformats.org/presentationml/2006/main">
  <p:tag name="TABLE_ENDDRAG_ORIGIN_RECT" val="1163*316"/>
  <p:tag name="TABLE_ENDDRAG_RECT" val="60*110*1163*31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3932</Words>
  <Application>WPS 演示</Application>
  <PresentationFormat>On-screen Show (16:9)</PresentationFormat>
  <Paragraphs>400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Quattrocento Sans</vt:lpstr>
      <vt:lpstr>Segoe Print</vt:lpstr>
      <vt:lpstr>Quattrocento Sans</vt:lpstr>
      <vt:lpstr>Quattrocento Sans</vt:lpstr>
      <vt:lpstr>MiSans</vt:lpstr>
      <vt:lpstr>MiSans</vt:lpstr>
      <vt:lpstr>Liter</vt:lpstr>
      <vt:lpstr>Liter</vt:lpstr>
      <vt:lpstr>Liter</vt:lpstr>
      <vt:lpstr>MingLiU-ExtB</vt:lpstr>
      <vt:lpstr>Calibri</vt:lpstr>
      <vt:lpstr>Arial Unicode MS</vt:lpstr>
      <vt:lpstr>等线</vt:lpstr>
      <vt:lpstr>Quattrocento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xv6 多文件系统支持 —— VFS + HAL 架构</dc:title>
  <dc:creator>Kimi</dc:creator>
  <dc:subject>xv6 多文件系统支持 —— VFS + HAL 架构</dc:subject>
  <cp:lastModifiedBy>杨子游</cp:lastModifiedBy>
  <cp:revision>5</cp:revision>
  <dcterms:created xsi:type="dcterms:W3CDTF">2026-06-26T18:31:00Z</dcterms:created>
  <dcterms:modified xsi:type="dcterms:W3CDTF">2026-06-29T12:50:26Z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{"Label":"xv6 多文件系统支持 —— VFS + HAL 架构","ContentProducer":"001191110108MACG2KBH8F10000","ProduceID":"19f05331-73d2-8255-8000-0000e5aa1bf2","ReservedCode1":"","ContentPropagator":"001191110108MACG2KBH8F20000","PropagateID":"19f05272-9372-8f02-8000-09730828c452","ReservedCode2":""}</vt:lpwstr>
  </property>
  <property fmtid="{D5CDD505-2E9C-101B-9397-08002B2CF9AE}" pid="3" name="KSOProductBuildVer">
    <vt:lpwstr>2052-12.1.0.20305</vt:lpwstr>
  </property>
  <property fmtid="{D5CDD505-2E9C-101B-9397-08002B2CF9AE}" pid="4" name="ICV">
    <vt:lpwstr>5CEC2F96BC33436CA853A6BBAB65BBA6_12</vt:lpwstr>
  </property>
</Properties>
</file>